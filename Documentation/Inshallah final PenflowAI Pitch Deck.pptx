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JetBrains Mono"/>
      <p:bold r:id="rId17"/>
    </p:embeddedFont>
    <p:embeddedFont>
      <p:font typeface="Calibri" panose="020F0502020204030204" pitchFamily="34" charset="0"/>
      <p:regular r:id="rId18"/>
      <p:bold r:id="rId19"/>
      <p:italic r:id="rId20"/>
      <p:boldItalic r:id="rId21"/>
    </p:embeddedFont>
    <p:embeddedFont>
      <p:font typeface="Inter"/>
      <p:bold r:id="rId22"/>
      <p: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0" d="100"/>
          <a:sy n="110" d="100"/>
        </p:scale>
        <p:origin x="59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3390900" y="1695450"/>
            <a:ext cx="5410200" cy="285750"/>
          </a:xfrm>
          <a:prstGeom prst="roundRect">
            <a:avLst>
              <a:gd name="adj" fmla="val 50000"/>
            </a:avLst>
          </a:prstGeom>
          <a:solidFill>
            <a:srgbClr val="1A2D58"/>
          </a:solidFill>
          <a:ln w="9525">
            <a:solidFill>
              <a:srgbClr val="254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190750" y="3324225"/>
            <a:ext cx="7810500" cy="914400"/>
          </a:xfrm>
          <a:prstGeom prst="roundRect">
            <a:avLst>
              <a:gd name="adj" fmla="val 12500"/>
            </a:avLst>
          </a:prstGeom>
          <a:solidFill>
            <a:srgbClr val="232B3D"/>
          </a:solidFill>
          <a:ln w="9525">
            <a:solidFill>
              <a:srgbClr val="2E36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381250" y="4543425"/>
            <a:ext cx="7429500" cy="619125"/>
          </a:xfrm>
          <a:prstGeom prst="roundRect">
            <a:avLst>
              <a:gd name="adj" fmla="val 12307"/>
            </a:avLst>
          </a:prstGeom>
          <a:solidFill>
            <a:srgbClr val="121B2E"/>
          </a:solidFill>
          <a:ln w="9525">
            <a:solidFill>
              <a:srgbClr val="2E36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867025" y="1752600"/>
            <a:ext cx="6457950" cy="171450"/>
          </a:xfrm>
          <a:prstGeom prst="rect">
            <a:avLst/>
          </a:prstGeom>
          <a:noFill/>
        </p:spPr>
        <p:txBody>
          <a:bodyPr wrap="square" lIns="0" tIns="0" rIns="0" bIns="0" anchor="t">
            <a:spAutoFit/>
          </a:bodyPr>
          <a:lstStyle/>
          <a:p>
            <a:pPr algn="ctr"/>
            <a:r>
              <a:rPr sz="975" b="1" i="0" u="none" dirty="0">
                <a:solidFill>
                  <a:srgbClr val="60A5FA"/>
                </a:solidFill>
                <a:latin typeface="Inter"/>
              </a:rPr>
              <a:t>ENTREPRENEURIAL FYP · RIPHAH SCHOOL OF COMPUTING &amp; INNOVATION</a:t>
            </a:r>
          </a:p>
        </p:txBody>
      </p:sp>
      <p:sp>
        <p:nvSpPr>
          <p:cNvPr id="7" name="TextBox 6"/>
          <p:cNvSpPr txBox="1"/>
          <p:nvPr/>
        </p:nvSpPr>
        <p:spPr>
          <a:xfrm>
            <a:off x="4605188" y="2171700"/>
            <a:ext cx="2981622" cy="561975"/>
          </a:xfrm>
          <a:prstGeom prst="rect">
            <a:avLst/>
          </a:prstGeom>
          <a:noFill/>
        </p:spPr>
        <p:txBody>
          <a:bodyPr wrap="none" lIns="0" tIns="0" rIns="0" bIns="0" anchor="t">
            <a:spAutoFit/>
          </a:bodyPr>
          <a:lstStyle/>
          <a:p>
            <a:pPr algn="ctr"/>
            <a:r>
              <a:rPr sz="3600" b="1" i="0" u="none">
                <a:solidFill>
                  <a:srgbClr val="FFFFFF"/>
                </a:solidFill>
                <a:latin typeface="Inter"/>
              </a:rPr>
              <a:t>PenflowAI</a:t>
            </a:r>
          </a:p>
        </p:txBody>
      </p:sp>
      <p:sp>
        <p:nvSpPr>
          <p:cNvPr id="8" name="TextBox 7"/>
          <p:cNvSpPr txBox="1"/>
          <p:nvPr/>
        </p:nvSpPr>
        <p:spPr>
          <a:xfrm>
            <a:off x="2645568" y="2847975"/>
            <a:ext cx="6900862" cy="247650"/>
          </a:xfrm>
          <a:prstGeom prst="rect">
            <a:avLst/>
          </a:prstGeom>
          <a:noFill/>
        </p:spPr>
        <p:txBody>
          <a:bodyPr wrap="none" lIns="0" tIns="0" rIns="0" bIns="0" anchor="t">
            <a:spAutoFit/>
          </a:bodyPr>
          <a:lstStyle/>
          <a:p>
            <a:pPr algn="ctr"/>
            <a:r>
              <a:rPr sz="1650" b="0" i="0" u="none" dirty="0">
                <a:solidFill>
                  <a:srgbClr val="93C5FD"/>
                </a:solidFill>
                <a:latin typeface="Inter"/>
              </a:rPr>
              <a:t>AI web </a:t>
            </a:r>
            <a:r>
              <a:rPr sz="1650" b="0" i="0" u="none" dirty="0" err="1">
                <a:solidFill>
                  <a:srgbClr val="93C5FD"/>
                </a:solidFill>
                <a:latin typeface="Inter"/>
              </a:rPr>
              <a:t>pentesting</a:t>
            </a:r>
            <a:r>
              <a:rPr sz="1650" b="0" i="0" u="none" dirty="0">
                <a:solidFill>
                  <a:srgbClr val="93C5FD"/>
                </a:solidFill>
                <a:latin typeface="Inter"/>
              </a:rPr>
              <a:t> you can authorize, audit and trust</a:t>
            </a:r>
          </a:p>
        </p:txBody>
      </p:sp>
      <p:sp>
        <p:nvSpPr>
          <p:cNvPr id="9" name="TextBox 8"/>
          <p:cNvSpPr txBox="1"/>
          <p:nvPr/>
        </p:nvSpPr>
        <p:spPr>
          <a:xfrm>
            <a:off x="1559718" y="3486150"/>
            <a:ext cx="9072562" cy="190500"/>
          </a:xfrm>
          <a:prstGeom prst="rect">
            <a:avLst/>
          </a:prstGeom>
          <a:noFill/>
        </p:spPr>
        <p:txBody>
          <a:bodyPr wrap="none" lIns="0" tIns="0" rIns="0" bIns="0" anchor="t">
            <a:spAutoFit/>
          </a:bodyPr>
          <a:lstStyle/>
          <a:p>
            <a:pPr algn="ctr"/>
            <a:r>
              <a:rPr sz="1200" b="0" i="1" u="none">
                <a:solidFill>
                  <a:srgbClr val="CBD5E1"/>
                </a:solidFill>
                <a:latin typeface="Inter"/>
              </a:rPr>
              <a:t>"Fast like an AI. Accountable like an auditor."</a:t>
            </a:r>
          </a:p>
        </p:txBody>
      </p:sp>
      <p:sp>
        <p:nvSpPr>
          <p:cNvPr id="10" name="TextBox 9"/>
          <p:cNvSpPr txBox="1"/>
          <p:nvPr/>
        </p:nvSpPr>
        <p:spPr>
          <a:xfrm>
            <a:off x="2381250" y="3752850"/>
            <a:ext cx="7477125" cy="323165"/>
          </a:xfrm>
          <a:prstGeom prst="rect">
            <a:avLst/>
          </a:prstGeom>
          <a:noFill/>
        </p:spPr>
        <p:txBody>
          <a:bodyPr wrap="square" lIns="0" tIns="0" rIns="0" bIns="0" anchor="t">
            <a:spAutoFit/>
          </a:bodyPr>
          <a:lstStyle/>
          <a:p>
            <a:pPr algn="ctr"/>
            <a:r>
              <a:rPr sz="1050" b="0" i="0" u="none" dirty="0" smtClean="0">
                <a:solidFill>
                  <a:srgbClr val="E2E8F0"/>
                </a:solidFill>
                <a:latin typeface="Inter"/>
              </a:rPr>
              <a:t>PenFlow</a:t>
            </a:r>
            <a:r>
              <a:rPr lang="en-US" sz="1050" b="0" i="0" u="none" dirty="0" smtClean="0">
                <a:solidFill>
                  <a:srgbClr val="E2E8F0"/>
                </a:solidFill>
                <a:latin typeface="Inter"/>
              </a:rPr>
              <a:t> AI</a:t>
            </a:r>
            <a:r>
              <a:rPr sz="1050" b="0" i="0" u="none" dirty="0" smtClean="0">
                <a:solidFill>
                  <a:srgbClr val="E2E8F0"/>
                </a:solidFill>
                <a:latin typeface="Inter"/>
              </a:rPr>
              <a:t> </a:t>
            </a:r>
            <a:r>
              <a:rPr sz="1050" b="0" i="0" u="none" dirty="0">
                <a:solidFill>
                  <a:srgbClr val="E2E8F0"/>
                </a:solidFill>
                <a:latin typeface="Inter"/>
              </a:rPr>
              <a:t>checks the permission paper, keeps the AI inside approved targets, ranks bugs by what hackers use right now, and logs every step.</a:t>
            </a:r>
          </a:p>
        </p:txBody>
      </p:sp>
      <p:sp>
        <p:nvSpPr>
          <p:cNvPr id="11" name="TextBox 10"/>
          <p:cNvSpPr txBox="1"/>
          <p:nvPr/>
        </p:nvSpPr>
        <p:spPr>
          <a:xfrm>
            <a:off x="2619375" y="4705350"/>
            <a:ext cx="3452812" cy="133350"/>
          </a:xfrm>
          <a:prstGeom prst="rect">
            <a:avLst/>
          </a:prstGeom>
          <a:noFill/>
        </p:spPr>
        <p:txBody>
          <a:bodyPr wrap="none" lIns="0" tIns="0" rIns="0" bIns="0" anchor="t">
            <a:spAutoFit/>
          </a:bodyPr>
          <a:lstStyle/>
          <a:p>
            <a:pPr algn="l"/>
            <a:r>
              <a:rPr sz="825" b="0" i="0" u="none">
                <a:solidFill>
                  <a:srgbClr val="94A3B8"/>
                </a:solidFill>
                <a:latin typeface="Inter"/>
              </a:rPr>
              <a:t>FOUNDERS</a:t>
            </a:r>
          </a:p>
        </p:txBody>
      </p:sp>
      <p:sp>
        <p:nvSpPr>
          <p:cNvPr id="12" name="TextBox 11"/>
          <p:cNvSpPr txBox="1"/>
          <p:nvPr/>
        </p:nvSpPr>
        <p:spPr>
          <a:xfrm>
            <a:off x="2619375" y="4838700"/>
            <a:ext cx="3452812" cy="161925"/>
          </a:xfrm>
          <a:prstGeom prst="rect">
            <a:avLst/>
          </a:prstGeom>
          <a:noFill/>
        </p:spPr>
        <p:txBody>
          <a:bodyPr wrap="none" lIns="0" tIns="0" rIns="0" bIns="0" anchor="t">
            <a:spAutoFit/>
          </a:bodyPr>
          <a:lstStyle/>
          <a:p>
            <a:pPr algn="l"/>
            <a:r>
              <a:rPr sz="1050" b="1" i="0" u="none">
                <a:solidFill>
                  <a:srgbClr val="FFFFFF"/>
                </a:solidFill>
                <a:latin typeface="Inter"/>
              </a:rPr>
              <a:t>Muhammad Sunnan &amp; Hamza Ahmad Baig</a:t>
            </a:r>
          </a:p>
        </p:txBody>
      </p:sp>
      <p:sp>
        <p:nvSpPr>
          <p:cNvPr id="13" name="TextBox 12"/>
          <p:cNvSpPr txBox="1"/>
          <p:nvPr/>
        </p:nvSpPr>
        <p:spPr>
          <a:xfrm>
            <a:off x="5762625" y="4705350"/>
            <a:ext cx="1352550" cy="133350"/>
          </a:xfrm>
          <a:prstGeom prst="rect">
            <a:avLst/>
          </a:prstGeom>
          <a:noFill/>
        </p:spPr>
        <p:txBody>
          <a:bodyPr wrap="none" lIns="0" tIns="0" rIns="0" bIns="0" anchor="t">
            <a:spAutoFit/>
          </a:bodyPr>
          <a:lstStyle/>
          <a:p>
            <a:pPr algn="l"/>
            <a:r>
              <a:rPr sz="825" b="0" i="0" u="none">
                <a:solidFill>
                  <a:srgbClr val="94A3B8"/>
                </a:solidFill>
                <a:latin typeface="Inter"/>
              </a:rPr>
              <a:t>SUPERVISOR</a:t>
            </a:r>
          </a:p>
        </p:txBody>
      </p:sp>
      <p:sp>
        <p:nvSpPr>
          <p:cNvPr id="14" name="TextBox 13"/>
          <p:cNvSpPr txBox="1"/>
          <p:nvPr/>
        </p:nvSpPr>
        <p:spPr>
          <a:xfrm>
            <a:off x="5762625" y="4838700"/>
            <a:ext cx="1352550" cy="161925"/>
          </a:xfrm>
          <a:prstGeom prst="rect">
            <a:avLst/>
          </a:prstGeom>
          <a:noFill/>
        </p:spPr>
        <p:txBody>
          <a:bodyPr wrap="none" lIns="0" tIns="0" rIns="0" bIns="0" anchor="t">
            <a:spAutoFit/>
          </a:bodyPr>
          <a:lstStyle/>
          <a:p>
            <a:pPr algn="l"/>
            <a:r>
              <a:rPr sz="1050" b="1" i="0" u="none">
                <a:solidFill>
                  <a:srgbClr val="FFFFFF"/>
                </a:solidFill>
                <a:latin typeface="Inter"/>
              </a:rPr>
              <a:t>Ms. Kanza Zafar</a:t>
            </a:r>
          </a:p>
        </p:txBody>
      </p:sp>
      <p:sp>
        <p:nvSpPr>
          <p:cNvPr id="15" name="TextBox 14"/>
          <p:cNvSpPr txBox="1"/>
          <p:nvPr/>
        </p:nvSpPr>
        <p:spPr>
          <a:xfrm>
            <a:off x="7210425" y="4705350"/>
            <a:ext cx="1488281" cy="133350"/>
          </a:xfrm>
          <a:prstGeom prst="rect">
            <a:avLst/>
          </a:prstGeom>
          <a:noFill/>
        </p:spPr>
        <p:txBody>
          <a:bodyPr wrap="none" lIns="0" tIns="0" rIns="0" bIns="0" anchor="t">
            <a:spAutoFit/>
          </a:bodyPr>
          <a:lstStyle/>
          <a:p>
            <a:pPr algn="l"/>
            <a:r>
              <a:rPr sz="825" b="0" i="0" u="none">
                <a:solidFill>
                  <a:srgbClr val="94A3B8"/>
                </a:solidFill>
                <a:latin typeface="Inter"/>
              </a:rPr>
              <a:t>CO-SUPERVISOR</a:t>
            </a:r>
          </a:p>
        </p:txBody>
      </p:sp>
      <p:sp>
        <p:nvSpPr>
          <p:cNvPr id="16" name="TextBox 15"/>
          <p:cNvSpPr txBox="1"/>
          <p:nvPr/>
        </p:nvSpPr>
        <p:spPr>
          <a:xfrm>
            <a:off x="7210425" y="4838700"/>
            <a:ext cx="1488281" cy="161925"/>
          </a:xfrm>
          <a:prstGeom prst="rect">
            <a:avLst/>
          </a:prstGeom>
          <a:noFill/>
        </p:spPr>
        <p:txBody>
          <a:bodyPr wrap="none" lIns="0" tIns="0" rIns="0" bIns="0" anchor="t">
            <a:spAutoFit/>
          </a:bodyPr>
          <a:lstStyle/>
          <a:p>
            <a:pPr algn="l"/>
            <a:r>
              <a:rPr sz="1050" b="1" i="0" u="none">
                <a:solidFill>
                  <a:srgbClr val="FFFFFF"/>
                </a:solidFill>
                <a:latin typeface="Inter"/>
              </a:rPr>
              <a:t>Mr. Sameer Sohail</a:t>
            </a:r>
          </a:p>
        </p:txBody>
      </p:sp>
      <p:sp>
        <p:nvSpPr>
          <p:cNvPr id="17" name="TextBox 16"/>
          <p:cNvSpPr txBox="1"/>
          <p:nvPr/>
        </p:nvSpPr>
        <p:spPr>
          <a:xfrm>
            <a:off x="8782050" y="4705350"/>
            <a:ext cx="1076325" cy="133350"/>
          </a:xfrm>
          <a:prstGeom prst="rect">
            <a:avLst/>
          </a:prstGeom>
          <a:noFill/>
        </p:spPr>
        <p:txBody>
          <a:bodyPr wrap="none" lIns="0" tIns="0" rIns="0" bIns="0" anchor="t">
            <a:spAutoFit/>
          </a:bodyPr>
          <a:lstStyle/>
          <a:p>
            <a:pPr algn="l"/>
            <a:r>
              <a:rPr sz="825" b="0" i="0" u="none">
                <a:solidFill>
                  <a:srgbClr val="94A3B8"/>
                </a:solidFill>
                <a:latin typeface="Inter"/>
              </a:rPr>
              <a:t>DATE</a:t>
            </a:r>
          </a:p>
        </p:txBody>
      </p:sp>
      <p:sp>
        <p:nvSpPr>
          <p:cNvPr id="18" name="TextBox 17"/>
          <p:cNvSpPr txBox="1"/>
          <p:nvPr/>
        </p:nvSpPr>
        <p:spPr>
          <a:xfrm>
            <a:off x="8782050" y="4838700"/>
            <a:ext cx="1076325" cy="161925"/>
          </a:xfrm>
          <a:prstGeom prst="rect">
            <a:avLst/>
          </a:prstGeom>
          <a:noFill/>
        </p:spPr>
        <p:txBody>
          <a:bodyPr wrap="none" lIns="0" tIns="0" rIns="0" bIns="0" anchor="t">
            <a:spAutoFit/>
          </a:bodyPr>
          <a:lstStyle/>
          <a:p>
            <a:pPr algn="l"/>
            <a:r>
              <a:rPr sz="1050" b="1" i="0" u="none">
                <a:solidFill>
                  <a:srgbClr val="FFFFFF"/>
                </a:solidFill>
                <a:latin typeface="Inter"/>
              </a:rPr>
              <a:t>18 Oct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182885"/>
            <a:ext cx="11277600" cy="946546"/>
          </a:xfrm>
          <a:prstGeom prst="roundRect">
            <a:avLst>
              <a:gd name="adj" fmla="val 10062"/>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3329582"/>
            <a:ext cx="11277600" cy="514350"/>
          </a:xfrm>
          <a:prstGeom prst="roundRect">
            <a:avLst>
              <a:gd name="adj" fmla="val 18518"/>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4034432"/>
            <a:ext cx="11277600" cy="2144464"/>
          </a:xfrm>
          <a:prstGeom prst="roundRect">
            <a:avLst>
              <a:gd name="adj" fmla="val 444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2262782"/>
            <a:ext cx="5581650" cy="933450"/>
          </a:xfrm>
          <a:prstGeom prst="roundRect">
            <a:avLst>
              <a:gd name="adj" fmla="val 1020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53150" y="2262782"/>
            <a:ext cx="5581650" cy="933450"/>
          </a:xfrm>
          <a:prstGeom prst="roundRect">
            <a:avLst>
              <a:gd name="adj" fmla="val 1020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6169372"/>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4034432"/>
            <a:ext cx="1127760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4034432"/>
            <a:ext cx="9525" cy="21444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1725275" y="4034432"/>
            <a:ext cx="9525" cy="21444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3186707"/>
            <a:ext cx="55816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262782"/>
            <a:ext cx="55816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262782"/>
            <a:ext cx="38100" cy="93345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029325" y="2262782"/>
            <a:ext cx="9525" cy="933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53150" y="3186707"/>
            <a:ext cx="55816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53150" y="2262782"/>
            <a:ext cx="55816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53150" y="2262782"/>
            <a:ext cx="38100" cy="9334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725275" y="2262782"/>
            <a:ext cx="9525" cy="933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76275" y="4548782"/>
            <a:ext cx="247650" cy="238125"/>
          </a:xfrm>
          <a:prstGeom prst="roundRect">
            <a:avLst>
              <a:gd name="adj" fmla="val 2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76275" y="4967882"/>
            <a:ext cx="276225" cy="238125"/>
          </a:xfrm>
          <a:prstGeom prst="roundRect">
            <a:avLst>
              <a:gd name="adj" fmla="val 2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76275" y="5386982"/>
            <a:ext cx="276225" cy="238125"/>
          </a:xfrm>
          <a:prstGeom prst="roundRect">
            <a:avLst>
              <a:gd name="adj" fmla="val 2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mage.png"/>
          <p:cNvPicPr>
            <a:picLocks noChangeAspect="1"/>
          </p:cNvPicPr>
          <p:nvPr/>
        </p:nvPicPr>
        <p:blipFill>
          <a:blip r:embed="rId2"/>
          <a:stretch>
            <a:fillRect/>
          </a:stretch>
        </p:blipFill>
        <p:spPr>
          <a:xfrm>
            <a:off x="676275" y="3529607"/>
            <a:ext cx="123825" cy="123825"/>
          </a:xfrm>
          <a:prstGeom prst="rect">
            <a:avLst/>
          </a:prstGeom>
        </p:spPr>
      </p:pic>
      <p:sp>
        <p:nvSpPr>
          <p:cNvPr id="26" name="TextBox 25"/>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dirty="0">
                <a:solidFill>
                  <a:srgbClr val="64748B"/>
                </a:solidFill>
                <a:latin typeface="Inter"/>
              </a:rPr>
              <a:t>Sources:</a:t>
            </a:r>
            <a:r>
              <a:rPr sz="825" b="0" i="0" u="none" dirty="0">
                <a:solidFill>
                  <a:srgbClr val="64748B"/>
                </a:solidFill>
                <a:latin typeface="Inter"/>
              </a:rPr>
              <a:t> [1] </a:t>
            </a:r>
            <a:r>
              <a:rPr sz="825" b="0" i="0" u="none" dirty="0" err="1">
                <a:solidFill>
                  <a:srgbClr val="64748B"/>
                </a:solidFill>
                <a:latin typeface="Inter"/>
              </a:rPr>
              <a:t>DeepStrike</a:t>
            </a:r>
            <a:r>
              <a:rPr sz="825" b="0" i="0" u="none" dirty="0">
                <a:solidFill>
                  <a:srgbClr val="64748B"/>
                </a:solidFill>
                <a:latin typeface="Inter"/>
              </a:rPr>
              <a:t>, citing IBM 2025: deepstrike.io/blog/penetration-testing-statistics · [2] </a:t>
            </a:r>
            <a:r>
              <a:rPr sz="825" b="0" i="0" u="none" dirty="0" err="1">
                <a:solidFill>
                  <a:srgbClr val="64748B"/>
                </a:solidFill>
                <a:latin typeface="Inter"/>
              </a:rPr>
              <a:t>CodeAnt</a:t>
            </a:r>
            <a:r>
              <a:rPr sz="825" b="0" i="0" u="none" dirty="0">
                <a:solidFill>
                  <a:srgbClr val="64748B"/>
                </a:solidFill>
                <a:latin typeface="Inter"/>
              </a:rPr>
              <a:t>, XBOW pricing: codeant.ai/blogs/</a:t>
            </a:r>
            <a:r>
              <a:rPr sz="825" b="0" i="0" u="none" dirty="0" err="1">
                <a:solidFill>
                  <a:srgbClr val="64748B"/>
                </a:solidFill>
                <a:latin typeface="Inter"/>
              </a:rPr>
              <a:t>xbow</a:t>
            </a:r>
            <a:r>
              <a:rPr sz="825" b="0" i="0" u="none" dirty="0">
                <a:solidFill>
                  <a:srgbClr val="64748B"/>
                </a:solidFill>
                <a:latin typeface="Inter"/>
              </a:rPr>
              <a:t>-pricing · [3] Express Tribune, 22 Jul 2026 · FX: </a:t>
            </a:r>
            <a:r>
              <a:rPr sz="825" b="0" i="0" u="none" dirty="0" err="1">
                <a:solidFill>
                  <a:srgbClr val="64748B"/>
                </a:solidFill>
                <a:latin typeface="Inter"/>
              </a:rPr>
              <a:t>Mettis</a:t>
            </a:r>
            <a:r>
              <a:rPr sz="825" b="0" i="0" u="none" dirty="0">
                <a:solidFill>
                  <a:srgbClr val="64748B"/>
                </a:solidFill>
                <a:latin typeface="Inter"/>
              </a:rPr>
              <a:t> (</a:t>
            </a:r>
            <a:r>
              <a:rPr sz="825" b="0" i="0" u="none" dirty="0" err="1">
                <a:solidFill>
                  <a:srgbClr val="64748B"/>
                </a:solidFill>
                <a:latin typeface="Inter"/>
              </a:rPr>
              <a:t>Rs</a:t>
            </a:r>
            <a:r>
              <a:rPr sz="825" b="0" i="0" u="none" dirty="0">
                <a:solidFill>
                  <a:srgbClr val="64748B"/>
                </a:solidFill>
                <a:latin typeface="Inter"/>
              </a:rPr>
              <a:t> 277/USD, 9 Oct 2026)</a:t>
            </a:r>
          </a:p>
        </p:txBody>
      </p:sp>
      <p:sp>
        <p:nvSpPr>
          <p:cNvPr id="27" name="TextBox 26"/>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28" name="TextBox 27"/>
          <p:cNvSpPr txBox="1"/>
          <p:nvPr/>
        </p:nvSpPr>
        <p:spPr>
          <a:xfrm>
            <a:off x="457200" y="381000"/>
            <a:ext cx="5512593" cy="152400"/>
          </a:xfrm>
          <a:prstGeom prst="rect">
            <a:avLst/>
          </a:prstGeom>
          <a:noFill/>
        </p:spPr>
        <p:txBody>
          <a:bodyPr wrap="none" lIns="0" tIns="0" rIns="0" bIns="0" anchor="t">
            <a:spAutoFit/>
          </a:bodyPr>
          <a:lstStyle/>
          <a:p>
            <a:pPr algn="l"/>
            <a:r>
              <a:rPr sz="975" b="1" i="0" u="none">
                <a:solidFill>
                  <a:srgbClr val="2563EB"/>
                </a:solidFill>
                <a:latin typeface="Inter"/>
              </a:rPr>
              <a:t>MARKET GAP</a:t>
            </a:r>
          </a:p>
        </p:txBody>
      </p:sp>
      <p:sp>
        <p:nvSpPr>
          <p:cNvPr id="29" name="TextBox 28"/>
          <p:cNvSpPr txBox="1"/>
          <p:nvPr/>
        </p:nvSpPr>
        <p:spPr>
          <a:xfrm>
            <a:off x="457200" y="571500"/>
            <a:ext cx="5788223"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Problem Statement &amp; Cyber Realities</a:t>
            </a:r>
          </a:p>
        </p:txBody>
      </p:sp>
      <p:sp>
        <p:nvSpPr>
          <p:cNvPr id="30" name="TextBox 29"/>
          <p:cNvSpPr txBox="1"/>
          <p:nvPr/>
        </p:nvSpPr>
        <p:spPr>
          <a:xfrm>
            <a:off x="338137" y="1363860"/>
            <a:ext cx="11515725" cy="180975"/>
          </a:xfrm>
          <a:prstGeom prst="rect">
            <a:avLst/>
          </a:prstGeom>
          <a:noFill/>
        </p:spPr>
        <p:txBody>
          <a:bodyPr wrap="none" lIns="323850" tIns="0" rIns="0" bIns="0" anchor="t">
            <a:spAutoFit/>
          </a:bodyPr>
          <a:lstStyle/>
          <a:p>
            <a:pPr algn="l"/>
            <a:r>
              <a:rPr sz="1125" b="1" i="0" u="none" dirty="0">
                <a:solidFill>
                  <a:srgbClr val="1E3A8A"/>
                </a:solidFill>
                <a:latin typeface="Inter"/>
              </a:rPr>
              <a:t>The Core Problem</a:t>
            </a:r>
          </a:p>
        </p:txBody>
      </p:sp>
      <p:sp>
        <p:nvSpPr>
          <p:cNvPr id="31" name="TextBox 30"/>
          <p:cNvSpPr txBox="1"/>
          <p:nvPr/>
        </p:nvSpPr>
        <p:spPr>
          <a:xfrm>
            <a:off x="676275" y="1601985"/>
            <a:ext cx="10934700" cy="346471"/>
          </a:xfrm>
          <a:prstGeom prst="rect">
            <a:avLst/>
          </a:prstGeom>
          <a:noFill/>
        </p:spPr>
        <p:txBody>
          <a:bodyPr wrap="square" lIns="0" tIns="0" rIns="0" bIns="0" anchor="t">
            <a:spAutoFit/>
          </a:bodyPr>
          <a:lstStyle/>
          <a:p>
            <a:pPr algn="l">
              <a:lnSpc>
                <a:spcPts val="1364"/>
              </a:lnSpc>
            </a:pPr>
            <a:r>
              <a:rPr sz="975" b="0" i="0" u="none" dirty="0">
                <a:solidFill>
                  <a:srgbClr val="1E293B"/>
                </a:solidFill>
                <a:latin typeface="Inter"/>
              </a:rPr>
              <a:t>Small software teams and freelancers in Pakistan need a cheap way to security-test web apps before release. Manual tests cost too much, and today's AI testers cannot prove they stayed inside the allowed scope.</a:t>
            </a:r>
          </a:p>
        </p:txBody>
      </p:sp>
      <p:sp>
        <p:nvSpPr>
          <p:cNvPr id="32" name="TextBox 31"/>
          <p:cNvSpPr txBox="1"/>
          <p:nvPr/>
        </p:nvSpPr>
        <p:spPr>
          <a:xfrm>
            <a:off x="676275" y="3510557"/>
            <a:ext cx="11515725" cy="152400"/>
          </a:xfrm>
          <a:prstGeom prst="rect">
            <a:avLst/>
          </a:prstGeom>
          <a:noFill/>
        </p:spPr>
        <p:txBody>
          <a:bodyPr wrap="none" lIns="180975" tIns="0" rIns="0" bIns="0" anchor="t">
            <a:spAutoFit/>
          </a:bodyPr>
          <a:lstStyle/>
          <a:p>
            <a:pPr algn="l"/>
            <a:r>
              <a:rPr sz="975" b="1" i="0" u="none">
                <a:solidFill>
                  <a:srgbClr val="991B1B"/>
                </a:solidFill>
                <a:latin typeface="Inter"/>
              </a:rPr>
              <a:t>Pakistan recorded 253 cyberattacks in 2026 so far, and organisations got 6 months to set up security operations centres. [3]</a:t>
            </a:r>
          </a:p>
        </p:txBody>
      </p:sp>
      <p:sp>
        <p:nvSpPr>
          <p:cNvPr id="33" name="TextBox 32"/>
          <p:cNvSpPr txBox="1"/>
          <p:nvPr/>
        </p:nvSpPr>
        <p:spPr>
          <a:xfrm>
            <a:off x="676275" y="4243982"/>
            <a:ext cx="11515725" cy="190500"/>
          </a:xfrm>
          <a:prstGeom prst="rect">
            <a:avLst/>
          </a:prstGeom>
          <a:noFill/>
        </p:spPr>
        <p:txBody>
          <a:bodyPr wrap="none" lIns="0" tIns="0" rIns="0" bIns="0" anchor="t">
            <a:spAutoFit/>
          </a:bodyPr>
          <a:lstStyle/>
          <a:p>
            <a:pPr algn="l"/>
            <a:r>
              <a:rPr sz="1200" b="1" i="0" u="none">
                <a:solidFill>
                  <a:srgbClr val="0F172A"/>
                </a:solidFill>
                <a:latin typeface="Inter"/>
              </a:rPr>
              <a:t>Three Gaps in Existing Tools Reviewed:</a:t>
            </a:r>
          </a:p>
        </p:txBody>
      </p:sp>
      <p:sp>
        <p:nvSpPr>
          <p:cNvPr id="34" name="TextBox 33"/>
          <p:cNvSpPr txBox="1"/>
          <p:nvPr/>
        </p:nvSpPr>
        <p:spPr>
          <a:xfrm>
            <a:off x="704850" y="2443757"/>
            <a:ext cx="6393656" cy="247650"/>
          </a:xfrm>
          <a:prstGeom prst="rect">
            <a:avLst/>
          </a:prstGeom>
          <a:noFill/>
        </p:spPr>
        <p:txBody>
          <a:bodyPr wrap="none" lIns="0" tIns="0" rIns="0" bIns="0" anchor="t">
            <a:spAutoFit/>
          </a:bodyPr>
          <a:lstStyle/>
          <a:p>
            <a:pPr algn="l"/>
            <a:r>
              <a:rPr sz="1650" b="1" i="0" u="none">
                <a:solidFill>
                  <a:srgbClr val="DC2626"/>
                </a:solidFill>
                <a:latin typeface="Inter"/>
              </a:rPr>
              <a:t>$4.44M</a:t>
            </a:r>
          </a:p>
        </p:txBody>
      </p:sp>
      <p:sp>
        <p:nvSpPr>
          <p:cNvPr id="35" name="TextBox 34"/>
          <p:cNvSpPr txBox="1"/>
          <p:nvPr/>
        </p:nvSpPr>
        <p:spPr>
          <a:xfrm>
            <a:off x="704850" y="2691407"/>
            <a:ext cx="6393656" cy="142875"/>
          </a:xfrm>
          <a:prstGeom prst="rect">
            <a:avLst/>
          </a:prstGeom>
          <a:noFill/>
        </p:spPr>
        <p:txBody>
          <a:bodyPr wrap="none" lIns="0" tIns="0" rIns="0" bIns="0" anchor="t">
            <a:spAutoFit/>
          </a:bodyPr>
          <a:lstStyle/>
          <a:p>
            <a:pPr algn="l"/>
            <a:r>
              <a:rPr sz="900" b="0" i="0" u="none" dirty="0">
                <a:solidFill>
                  <a:srgbClr val="64748B"/>
                </a:solidFill>
                <a:latin typeface="Inter"/>
              </a:rPr>
              <a:t>(≈ PKR 1.23 Billion)</a:t>
            </a:r>
          </a:p>
        </p:txBody>
      </p:sp>
      <p:sp>
        <p:nvSpPr>
          <p:cNvPr id="36" name="TextBox 35"/>
          <p:cNvSpPr txBox="1"/>
          <p:nvPr/>
        </p:nvSpPr>
        <p:spPr>
          <a:xfrm>
            <a:off x="704850" y="2872382"/>
            <a:ext cx="6393656" cy="142875"/>
          </a:xfrm>
          <a:prstGeom prst="rect">
            <a:avLst/>
          </a:prstGeom>
          <a:noFill/>
        </p:spPr>
        <p:txBody>
          <a:bodyPr wrap="none" lIns="0" tIns="0" rIns="0" bIns="0" anchor="t">
            <a:spAutoFit/>
          </a:bodyPr>
          <a:lstStyle/>
          <a:p>
            <a:pPr algn="l"/>
            <a:r>
              <a:rPr sz="900" b="1" i="0" u="none">
                <a:solidFill>
                  <a:srgbClr val="1E293B"/>
                </a:solidFill>
                <a:latin typeface="Inter"/>
              </a:rPr>
              <a:t>Average data breach cost worldwide [1]</a:t>
            </a:r>
          </a:p>
        </p:txBody>
      </p:sp>
      <p:sp>
        <p:nvSpPr>
          <p:cNvPr id="37" name="TextBox 36"/>
          <p:cNvSpPr txBox="1"/>
          <p:nvPr/>
        </p:nvSpPr>
        <p:spPr>
          <a:xfrm>
            <a:off x="6400800" y="2443757"/>
            <a:ext cx="5791200" cy="228600"/>
          </a:xfrm>
          <a:prstGeom prst="rect">
            <a:avLst/>
          </a:prstGeom>
          <a:noFill/>
        </p:spPr>
        <p:txBody>
          <a:bodyPr wrap="none" lIns="0" tIns="0" rIns="0" bIns="0" anchor="t">
            <a:spAutoFit/>
          </a:bodyPr>
          <a:lstStyle/>
          <a:p>
            <a:pPr algn="l"/>
            <a:r>
              <a:rPr sz="1500" b="1" i="0" u="none">
                <a:solidFill>
                  <a:srgbClr val="D97706"/>
                </a:solidFill>
                <a:latin typeface="Inter"/>
              </a:rPr>
              <a:t>$10k – $35k+</a:t>
            </a:r>
          </a:p>
        </p:txBody>
      </p:sp>
      <p:sp>
        <p:nvSpPr>
          <p:cNvPr id="38" name="TextBox 37"/>
          <p:cNvSpPr txBox="1"/>
          <p:nvPr/>
        </p:nvSpPr>
        <p:spPr>
          <a:xfrm>
            <a:off x="6400800" y="2672357"/>
            <a:ext cx="5791200" cy="142875"/>
          </a:xfrm>
          <a:prstGeom prst="rect">
            <a:avLst/>
          </a:prstGeom>
          <a:noFill/>
        </p:spPr>
        <p:txBody>
          <a:bodyPr wrap="none" lIns="0" tIns="0" rIns="0" bIns="0" anchor="t">
            <a:spAutoFit/>
          </a:bodyPr>
          <a:lstStyle/>
          <a:p>
            <a:pPr algn="l"/>
            <a:r>
              <a:rPr sz="900" b="0" i="0" u="none" dirty="0">
                <a:solidFill>
                  <a:srgbClr val="64748B"/>
                </a:solidFill>
                <a:latin typeface="Inter"/>
              </a:rPr>
              <a:t>(≈ PKR 2.77M – 9.70M)</a:t>
            </a:r>
          </a:p>
        </p:txBody>
      </p:sp>
      <p:sp>
        <p:nvSpPr>
          <p:cNvPr id="39" name="TextBox 38"/>
          <p:cNvSpPr txBox="1"/>
          <p:nvPr/>
        </p:nvSpPr>
        <p:spPr>
          <a:xfrm>
            <a:off x="6400800" y="2853332"/>
            <a:ext cx="5791200" cy="142875"/>
          </a:xfrm>
          <a:prstGeom prst="rect">
            <a:avLst/>
          </a:prstGeom>
          <a:noFill/>
        </p:spPr>
        <p:txBody>
          <a:bodyPr wrap="none" lIns="0" tIns="0" rIns="0" bIns="0" anchor="t">
            <a:spAutoFit/>
          </a:bodyPr>
          <a:lstStyle/>
          <a:p>
            <a:pPr algn="l"/>
            <a:r>
              <a:rPr sz="900" b="1" i="0" u="none" dirty="0">
                <a:solidFill>
                  <a:srgbClr val="1E293B"/>
                </a:solidFill>
                <a:latin typeface="Inter"/>
              </a:rPr>
              <a:t>Normal manual </a:t>
            </a:r>
            <a:r>
              <a:rPr sz="900" b="1" i="0" u="none" dirty="0" err="1">
                <a:solidFill>
                  <a:srgbClr val="1E293B"/>
                </a:solidFill>
                <a:latin typeface="Inter"/>
              </a:rPr>
              <a:t>pentest</a:t>
            </a:r>
            <a:r>
              <a:rPr sz="900" b="1" i="0" u="none" dirty="0">
                <a:solidFill>
                  <a:srgbClr val="1E293B"/>
                </a:solidFill>
                <a:latin typeface="Inter"/>
              </a:rPr>
              <a:t> cost [2]</a:t>
            </a:r>
          </a:p>
        </p:txBody>
      </p:sp>
      <p:sp>
        <p:nvSpPr>
          <p:cNvPr id="40" name="TextBox 39"/>
          <p:cNvSpPr txBox="1"/>
          <p:nvPr/>
        </p:nvSpPr>
        <p:spPr>
          <a:xfrm>
            <a:off x="771525" y="4586882"/>
            <a:ext cx="152400" cy="161925"/>
          </a:xfrm>
          <a:prstGeom prst="rect">
            <a:avLst/>
          </a:prstGeom>
          <a:noFill/>
        </p:spPr>
        <p:txBody>
          <a:bodyPr wrap="square" lIns="0" tIns="0" rIns="0" bIns="0" anchor="t">
            <a:spAutoFit/>
          </a:bodyPr>
          <a:lstStyle/>
          <a:p>
            <a:pPr algn="l"/>
            <a:r>
              <a:rPr sz="1050" b="1" i="0" u="none">
                <a:solidFill>
                  <a:srgbClr val="2563EB"/>
                </a:solidFill>
                <a:latin typeface="Inter"/>
              </a:rPr>
              <a:t>1</a:t>
            </a:r>
          </a:p>
        </p:txBody>
      </p:sp>
      <p:sp>
        <p:nvSpPr>
          <p:cNvPr id="41" name="TextBox 40"/>
          <p:cNvSpPr txBox="1"/>
          <p:nvPr/>
        </p:nvSpPr>
        <p:spPr>
          <a:xfrm>
            <a:off x="771525" y="5005982"/>
            <a:ext cx="180975" cy="161925"/>
          </a:xfrm>
          <a:prstGeom prst="rect">
            <a:avLst/>
          </a:prstGeom>
          <a:noFill/>
        </p:spPr>
        <p:txBody>
          <a:bodyPr wrap="square" lIns="0" tIns="0" rIns="0" bIns="0" anchor="t">
            <a:spAutoFit/>
          </a:bodyPr>
          <a:lstStyle/>
          <a:p>
            <a:pPr algn="l"/>
            <a:r>
              <a:rPr sz="1050" b="1" i="0" u="none">
                <a:solidFill>
                  <a:srgbClr val="2563EB"/>
                </a:solidFill>
                <a:latin typeface="Inter"/>
              </a:rPr>
              <a:t>2</a:t>
            </a:r>
          </a:p>
        </p:txBody>
      </p:sp>
      <p:sp>
        <p:nvSpPr>
          <p:cNvPr id="42" name="TextBox 41"/>
          <p:cNvSpPr txBox="1"/>
          <p:nvPr/>
        </p:nvSpPr>
        <p:spPr>
          <a:xfrm>
            <a:off x="771525" y="5425082"/>
            <a:ext cx="180975" cy="161925"/>
          </a:xfrm>
          <a:prstGeom prst="rect">
            <a:avLst/>
          </a:prstGeom>
          <a:noFill/>
        </p:spPr>
        <p:txBody>
          <a:bodyPr wrap="square" lIns="0" tIns="0" rIns="0" bIns="0" anchor="t">
            <a:spAutoFit/>
          </a:bodyPr>
          <a:lstStyle/>
          <a:p>
            <a:pPr algn="l"/>
            <a:r>
              <a:rPr sz="1050" b="1" i="0" u="none">
                <a:solidFill>
                  <a:srgbClr val="2563EB"/>
                </a:solidFill>
                <a:latin typeface="Inter"/>
              </a:rPr>
              <a:t>3</a:t>
            </a:r>
          </a:p>
        </p:txBody>
      </p:sp>
      <p:sp>
        <p:nvSpPr>
          <p:cNvPr id="43" name="TextBox 42"/>
          <p:cNvSpPr txBox="1"/>
          <p:nvPr/>
        </p:nvSpPr>
        <p:spPr>
          <a:xfrm>
            <a:off x="1038225" y="4548782"/>
            <a:ext cx="5226843" cy="161925"/>
          </a:xfrm>
          <a:prstGeom prst="rect">
            <a:avLst/>
          </a:prstGeom>
          <a:noFill/>
        </p:spPr>
        <p:txBody>
          <a:bodyPr wrap="none" lIns="0" tIns="0" rIns="0" bIns="0" anchor="t">
            <a:spAutoFit/>
          </a:bodyPr>
          <a:lstStyle/>
          <a:p>
            <a:pPr algn="l"/>
            <a:r>
              <a:rPr sz="1050" b="1" i="0" u="none">
                <a:solidFill>
                  <a:srgbClr val="0F172A"/>
                </a:solidFill>
                <a:latin typeface="Inter"/>
              </a:rPr>
              <a:t>No Permission Check</a:t>
            </a:r>
          </a:p>
        </p:txBody>
      </p:sp>
      <p:sp>
        <p:nvSpPr>
          <p:cNvPr id="44" name="TextBox 43"/>
          <p:cNvSpPr txBox="1"/>
          <p:nvPr/>
        </p:nvSpPr>
        <p:spPr>
          <a:xfrm>
            <a:off x="1038225" y="4710707"/>
            <a:ext cx="5226843" cy="142875"/>
          </a:xfrm>
          <a:prstGeom prst="rect">
            <a:avLst/>
          </a:prstGeom>
          <a:noFill/>
        </p:spPr>
        <p:txBody>
          <a:bodyPr wrap="none" lIns="0" tIns="0" rIns="0" bIns="0" anchor="t">
            <a:spAutoFit/>
          </a:bodyPr>
          <a:lstStyle/>
          <a:p>
            <a:pPr algn="l"/>
            <a:r>
              <a:rPr sz="900" b="0" i="0" u="none">
                <a:solidFill>
                  <a:srgbClr val="475569"/>
                </a:solidFill>
                <a:latin typeface="Inter"/>
              </a:rPr>
              <a:t>Nobody checks that the permission paper (Rules of Engagement / ROE) is real.</a:t>
            </a:r>
          </a:p>
        </p:txBody>
      </p:sp>
      <p:sp>
        <p:nvSpPr>
          <p:cNvPr id="45" name="TextBox 44"/>
          <p:cNvSpPr txBox="1"/>
          <p:nvPr/>
        </p:nvSpPr>
        <p:spPr>
          <a:xfrm>
            <a:off x="1066800" y="4967882"/>
            <a:ext cx="4964906" cy="161925"/>
          </a:xfrm>
          <a:prstGeom prst="rect">
            <a:avLst/>
          </a:prstGeom>
          <a:noFill/>
        </p:spPr>
        <p:txBody>
          <a:bodyPr wrap="none" lIns="0" tIns="0" rIns="0" bIns="0" anchor="t">
            <a:spAutoFit/>
          </a:bodyPr>
          <a:lstStyle/>
          <a:p>
            <a:pPr algn="l"/>
            <a:r>
              <a:rPr sz="1050" b="1" i="0" u="none">
                <a:solidFill>
                  <a:srgbClr val="0F172A"/>
                </a:solidFill>
                <a:latin typeface="Inter"/>
              </a:rPr>
              <a:t>Outdated Prioritization</a:t>
            </a:r>
          </a:p>
        </p:txBody>
      </p:sp>
      <p:sp>
        <p:nvSpPr>
          <p:cNvPr id="46" name="TextBox 45"/>
          <p:cNvSpPr txBox="1"/>
          <p:nvPr/>
        </p:nvSpPr>
        <p:spPr>
          <a:xfrm>
            <a:off x="1066800" y="5129807"/>
            <a:ext cx="4964906" cy="142875"/>
          </a:xfrm>
          <a:prstGeom prst="rect">
            <a:avLst/>
          </a:prstGeom>
          <a:noFill/>
        </p:spPr>
        <p:txBody>
          <a:bodyPr wrap="none" lIns="0" tIns="0" rIns="0" bIns="0" anchor="t">
            <a:spAutoFit/>
          </a:bodyPr>
          <a:lstStyle/>
          <a:p>
            <a:pPr algn="l"/>
            <a:r>
              <a:rPr sz="900" b="0" i="0" u="none">
                <a:solidFill>
                  <a:srgbClr val="475569"/>
                </a:solidFill>
                <a:latin typeface="Inter"/>
              </a:rPr>
              <a:t>Bug scores ignore what active hackers are using right now in real attacks.</a:t>
            </a:r>
          </a:p>
        </p:txBody>
      </p:sp>
      <p:sp>
        <p:nvSpPr>
          <p:cNvPr id="47" name="TextBox 46"/>
          <p:cNvSpPr txBox="1"/>
          <p:nvPr/>
        </p:nvSpPr>
        <p:spPr>
          <a:xfrm>
            <a:off x="1066800" y="5386982"/>
            <a:ext cx="4953000" cy="161925"/>
          </a:xfrm>
          <a:prstGeom prst="rect">
            <a:avLst/>
          </a:prstGeom>
          <a:noFill/>
        </p:spPr>
        <p:txBody>
          <a:bodyPr wrap="none" lIns="0" tIns="0" rIns="0" bIns="0" anchor="t">
            <a:spAutoFit/>
          </a:bodyPr>
          <a:lstStyle/>
          <a:p>
            <a:pPr algn="l"/>
            <a:r>
              <a:rPr sz="1050" b="1" i="0" u="none">
                <a:solidFill>
                  <a:srgbClr val="0F172A"/>
                </a:solidFill>
                <a:latin typeface="Inter"/>
              </a:rPr>
              <a:t>Zero Accountability</a:t>
            </a:r>
          </a:p>
        </p:txBody>
      </p:sp>
      <p:sp>
        <p:nvSpPr>
          <p:cNvPr id="48" name="TextBox 47"/>
          <p:cNvSpPr txBox="1"/>
          <p:nvPr/>
        </p:nvSpPr>
        <p:spPr>
          <a:xfrm>
            <a:off x="1066800" y="5548907"/>
            <a:ext cx="4953000" cy="142875"/>
          </a:xfrm>
          <a:prstGeom prst="rect">
            <a:avLst/>
          </a:prstGeom>
          <a:noFill/>
        </p:spPr>
        <p:txBody>
          <a:bodyPr wrap="none" lIns="0" tIns="0" rIns="0" bIns="0" anchor="t">
            <a:spAutoFit/>
          </a:bodyPr>
          <a:lstStyle/>
          <a:p>
            <a:pPr algn="l"/>
            <a:r>
              <a:rPr sz="900" b="0" i="0" u="none">
                <a:solidFill>
                  <a:srgbClr val="475569"/>
                </a:solidFill>
                <a:latin typeface="Inter"/>
              </a:rPr>
              <a:t>There is no tamper-proof or exact proof of what actions the AI performed.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182885"/>
            <a:ext cx="11277600" cy="1104900"/>
          </a:xfrm>
          <a:prstGeom prst="roundRect">
            <a:avLst>
              <a:gd name="adj" fmla="val 862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3516510"/>
            <a:ext cx="11277600" cy="902791"/>
          </a:xfrm>
          <a:prstGeom prst="roundRect">
            <a:avLst>
              <a:gd name="adj" fmla="val 10550"/>
            </a:avLst>
          </a:prstGeom>
          <a:solidFill>
            <a:srgbClr val="0F172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2440185"/>
            <a:ext cx="3670250" cy="923925"/>
          </a:xfrm>
          <a:prstGeom prst="roundRect">
            <a:avLst>
              <a:gd name="adj" fmla="val 103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260800" y="2440185"/>
            <a:ext cx="3670250" cy="923925"/>
          </a:xfrm>
          <a:prstGeom prst="roundRect">
            <a:avLst>
              <a:gd name="adj" fmla="val 103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64400" y="2440185"/>
            <a:ext cx="3670399" cy="923925"/>
          </a:xfrm>
          <a:prstGeom prst="roundRect">
            <a:avLst>
              <a:gd name="adj" fmla="val 103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7225" y="1554360"/>
            <a:ext cx="1749325" cy="590550"/>
          </a:xfrm>
          <a:prstGeom prst="roundRect">
            <a:avLst>
              <a:gd name="adj" fmla="val 9677"/>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482750" y="1554360"/>
            <a:ext cx="1749474" cy="590550"/>
          </a:xfrm>
          <a:prstGeom prst="roundRect">
            <a:avLst>
              <a:gd name="adj" fmla="val 9677"/>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08425" y="1554360"/>
            <a:ext cx="1749474" cy="590550"/>
          </a:xfrm>
          <a:prstGeom prst="roundRect">
            <a:avLst>
              <a:gd name="adj" fmla="val 9677"/>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134100" y="1554360"/>
            <a:ext cx="1749325" cy="590550"/>
          </a:xfrm>
          <a:prstGeom prst="roundRect">
            <a:avLst>
              <a:gd name="adj" fmla="val 9677"/>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959625" y="1554360"/>
            <a:ext cx="1749474" cy="590550"/>
          </a:xfrm>
          <a:prstGeom prst="roundRect">
            <a:avLst>
              <a:gd name="adj" fmla="val 9677"/>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785300" y="1554360"/>
            <a:ext cx="1749474" cy="590550"/>
          </a:xfrm>
          <a:prstGeom prst="roundRect">
            <a:avLst>
              <a:gd name="adj" fmla="val 9677"/>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354585"/>
            <a:ext cx="3670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440185"/>
            <a:ext cx="3670250" cy="2857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2440185"/>
            <a:ext cx="9525" cy="9239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17925" y="2440185"/>
            <a:ext cx="9525" cy="9239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60800" y="3354585"/>
            <a:ext cx="3670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260800" y="2440185"/>
            <a:ext cx="36702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60800" y="2440185"/>
            <a:ext cx="9525" cy="9239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21525" y="2440185"/>
            <a:ext cx="9525" cy="9239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64400" y="3354585"/>
            <a:ext cx="3670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64400" y="2440185"/>
            <a:ext cx="3670399" cy="2857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64400" y="2440185"/>
            <a:ext cx="9525" cy="9239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1725275" y="2440185"/>
            <a:ext cx="9525" cy="9239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image.png"/>
          <p:cNvPicPr>
            <a:picLocks noChangeAspect="1"/>
          </p:cNvPicPr>
          <p:nvPr/>
        </p:nvPicPr>
        <p:blipFill>
          <a:blip r:embed="rId2"/>
          <a:stretch>
            <a:fillRect/>
          </a:stretch>
        </p:blipFill>
        <p:spPr>
          <a:xfrm>
            <a:off x="676275" y="2659260"/>
            <a:ext cx="161925" cy="142875"/>
          </a:xfrm>
          <a:prstGeom prst="rect">
            <a:avLst/>
          </a:prstGeom>
        </p:spPr>
      </p:pic>
      <p:pic>
        <p:nvPicPr>
          <p:cNvPr id="28" name="Picture 27" descr="image.png"/>
          <p:cNvPicPr>
            <a:picLocks noChangeAspect="1"/>
          </p:cNvPicPr>
          <p:nvPr/>
        </p:nvPicPr>
        <p:blipFill>
          <a:blip r:embed="rId3"/>
          <a:stretch>
            <a:fillRect/>
          </a:stretch>
        </p:blipFill>
        <p:spPr>
          <a:xfrm>
            <a:off x="4479875" y="2659260"/>
            <a:ext cx="161925" cy="142875"/>
          </a:xfrm>
          <a:prstGeom prst="rect">
            <a:avLst/>
          </a:prstGeom>
        </p:spPr>
      </p:pic>
      <p:pic>
        <p:nvPicPr>
          <p:cNvPr id="29" name="Picture 28" descr="image.png"/>
          <p:cNvPicPr>
            <a:picLocks noChangeAspect="1"/>
          </p:cNvPicPr>
          <p:nvPr/>
        </p:nvPicPr>
        <p:blipFill>
          <a:blip r:embed="rId4"/>
          <a:stretch>
            <a:fillRect/>
          </a:stretch>
        </p:blipFill>
        <p:spPr>
          <a:xfrm>
            <a:off x="8283475" y="2659260"/>
            <a:ext cx="142875" cy="142875"/>
          </a:xfrm>
          <a:prstGeom prst="rect">
            <a:avLst/>
          </a:prstGeom>
        </p:spPr>
      </p:pic>
      <p:sp>
        <p:nvSpPr>
          <p:cNvPr id="30" name="TextBox 29"/>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PenflowAI Project Proposal (Sections 4 and 6). Competitor price citations detailed on Slide 7.</a:t>
            </a:r>
          </a:p>
        </p:txBody>
      </p:sp>
      <p:sp>
        <p:nvSpPr>
          <p:cNvPr id="31" name="TextBox 30"/>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32" name="TextBox 31"/>
          <p:cNvSpPr txBox="1"/>
          <p:nvPr/>
        </p:nvSpPr>
        <p:spPr>
          <a:xfrm>
            <a:off x="457200" y="381000"/>
            <a:ext cx="3917156" cy="152400"/>
          </a:xfrm>
          <a:prstGeom prst="rect">
            <a:avLst/>
          </a:prstGeom>
          <a:noFill/>
        </p:spPr>
        <p:txBody>
          <a:bodyPr wrap="none" lIns="0" tIns="0" rIns="0" bIns="0" anchor="t">
            <a:spAutoFit/>
          </a:bodyPr>
          <a:lstStyle/>
          <a:p>
            <a:pPr algn="l"/>
            <a:r>
              <a:rPr sz="975" b="1" i="0" u="none">
                <a:solidFill>
                  <a:srgbClr val="2563EB"/>
                </a:solidFill>
                <a:latin typeface="Inter"/>
              </a:rPr>
              <a:t>PRODUCT ARCHITECTURE</a:t>
            </a:r>
          </a:p>
        </p:txBody>
      </p:sp>
      <p:sp>
        <p:nvSpPr>
          <p:cNvPr id="33" name="TextBox 32"/>
          <p:cNvSpPr txBox="1"/>
          <p:nvPr/>
        </p:nvSpPr>
        <p:spPr>
          <a:xfrm>
            <a:off x="457200" y="571500"/>
            <a:ext cx="4113014"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Solution and Unique Value</a:t>
            </a:r>
          </a:p>
        </p:txBody>
      </p:sp>
      <p:sp>
        <p:nvSpPr>
          <p:cNvPr id="34" name="TextBox 33"/>
          <p:cNvSpPr txBox="1"/>
          <p:nvPr/>
        </p:nvSpPr>
        <p:spPr>
          <a:xfrm>
            <a:off x="657225" y="1325760"/>
            <a:ext cx="11534775" cy="152400"/>
          </a:xfrm>
          <a:prstGeom prst="rect">
            <a:avLst/>
          </a:prstGeom>
          <a:noFill/>
        </p:spPr>
        <p:txBody>
          <a:bodyPr wrap="none" lIns="0" tIns="0" rIns="0" bIns="0" anchor="t">
            <a:spAutoFit/>
          </a:bodyPr>
          <a:lstStyle/>
          <a:p>
            <a:pPr algn="l"/>
            <a:r>
              <a:rPr sz="975" b="1" i="0" u="none">
                <a:solidFill>
                  <a:srgbClr val="1E40AF"/>
                </a:solidFill>
                <a:latin typeface="Inter"/>
              </a:rPr>
              <a:t>6-STEP AUTONOMOUS SECURITY ARCHITECTURE</a:t>
            </a:r>
          </a:p>
        </p:txBody>
      </p:sp>
      <p:sp>
        <p:nvSpPr>
          <p:cNvPr id="35" name="TextBox 34"/>
          <p:cNvSpPr txBox="1"/>
          <p:nvPr/>
        </p:nvSpPr>
        <p:spPr>
          <a:xfrm>
            <a:off x="657225" y="3678435"/>
            <a:ext cx="11534775" cy="161925"/>
          </a:xfrm>
          <a:prstGeom prst="rect">
            <a:avLst/>
          </a:prstGeom>
          <a:noFill/>
        </p:spPr>
        <p:txBody>
          <a:bodyPr wrap="none" lIns="0" tIns="0" rIns="0" bIns="0" anchor="t">
            <a:spAutoFit/>
          </a:bodyPr>
          <a:lstStyle/>
          <a:p>
            <a:pPr algn="l"/>
            <a:r>
              <a:rPr sz="1050" b="1" i="0" u="none">
                <a:solidFill>
                  <a:srgbClr val="60A5FA"/>
                </a:solidFill>
                <a:latin typeface="Inter"/>
              </a:rPr>
              <a:t>VALUE STATEMENT</a:t>
            </a:r>
          </a:p>
        </p:txBody>
      </p:sp>
      <p:sp>
        <p:nvSpPr>
          <p:cNvPr id="36" name="TextBox 35"/>
          <p:cNvSpPr txBox="1"/>
          <p:nvPr/>
        </p:nvSpPr>
        <p:spPr>
          <a:xfrm>
            <a:off x="657225" y="3897510"/>
            <a:ext cx="10972800" cy="359866"/>
          </a:xfrm>
          <a:prstGeom prst="rect">
            <a:avLst/>
          </a:prstGeom>
          <a:noFill/>
        </p:spPr>
        <p:txBody>
          <a:bodyPr wrap="square" lIns="0" tIns="0" rIns="0" bIns="0" anchor="t">
            <a:spAutoFit/>
          </a:bodyPr>
          <a:lstStyle/>
          <a:p>
            <a:pPr algn="l">
              <a:lnSpc>
                <a:spcPts val="1417"/>
              </a:lnSpc>
            </a:pPr>
            <a:r>
              <a:rPr sz="1012" b="0" i="0" u="none">
                <a:solidFill>
                  <a:srgbClr val="F1F5F9"/>
                </a:solidFill>
                <a:latin typeface="Inter"/>
              </a:rPr>
              <a:t>We help small software teams and freelancers test web apps safely and cheaply. Our AI checks the permission paper, stays inside approved targets, ranks bugs with live hacker data and logs every action. Burp needs an expert, and XBOW or Intruder AI cost thousands per test.</a:t>
            </a:r>
          </a:p>
        </p:txBody>
      </p:sp>
      <p:sp>
        <p:nvSpPr>
          <p:cNvPr id="37" name="TextBox 36"/>
          <p:cNvSpPr txBox="1"/>
          <p:nvPr/>
        </p:nvSpPr>
        <p:spPr>
          <a:xfrm>
            <a:off x="676275" y="2640210"/>
            <a:ext cx="4242131" cy="180975"/>
          </a:xfrm>
          <a:prstGeom prst="rect">
            <a:avLst/>
          </a:prstGeom>
          <a:noFill/>
        </p:spPr>
        <p:txBody>
          <a:bodyPr wrap="none" lIns="219075" tIns="0" rIns="0" bIns="0" anchor="t">
            <a:spAutoFit/>
          </a:bodyPr>
          <a:lstStyle/>
          <a:p>
            <a:pPr algn="l"/>
            <a:r>
              <a:rPr sz="1125" b="1" i="0" u="none">
                <a:solidFill>
                  <a:srgbClr val="15803D"/>
                </a:solidFill>
                <a:latin typeface="Inter"/>
              </a:rPr>
              <a:t>Authorized</a:t>
            </a:r>
          </a:p>
        </p:txBody>
      </p:sp>
      <p:sp>
        <p:nvSpPr>
          <p:cNvPr id="38" name="TextBox 37"/>
          <p:cNvSpPr txBox="1"/>
          <p:nvPr/>
        </p:nvSpPr>
        <p:spPr>
          <a:xfrm>
            <a:off x="676275" y="2878335"/>
            <a:ext cx="3327350" cy="304800"/>
          </a:xfrm>
          <a:prstGeom prst="rect">
            <a:avLst/>
          </a:prstGeom>
          <a:noFill/>
        </p:spPr>
        <p:txBody>
          <a:bodyPr wrap="square" lIns="0" tIns="0" rIns="0" bIns="0" anchor="t">
            <a:spAutoFit/>
          </a:bodyPr>
          <a:lstStyle/>
          <a:p>
            <a:pPr algn="l"/>
            <a:r>
              <a:rPr sz="975" b="0" i="0" u="none">
                <a:solidFill>
                  <a:srgbClr val="334155"/>
                </a:solidFill>
                <a:latin typeface="Inter"/>
              </a:rPr>
              <a:t>The permission paper (ROE) is validated automatically before any security test begins.</a:t>
            </a:r>
          </a:p>
        </p:txBody>
      </p:sp>
      <p:sp>
        <p:nvSpPr>
          <p:cNvPr id="39" name="TextBox 38"/>
          <p:cNvSpPr txBox="1"/>
          <p:nvPr/>
        </p:nvSpPr>
        <p:spPr>
          <a:xfrm>
            <a:off x="4479875" y="2640210"/>
            <a:ext cx="4242131" cy="180975"/>
          </a:xfrm>
          <a:prstGeom prst="rect">
            <a:avLst/>
          </a:prstGeom>
          <a:noFill/>
        </p:spPr>
        <p:txBody>
          <a:bodyPr wrap="none" lIns="219075" tIns="0" rIns="0" bIns="0" anchor="t">
            <a:spAutoFit/>
          </a:bodyPr>
          <a:lstStyle/>
          <a:p>
            <a:pPr algn="l"/>
            <a:r>
              <a:rPr sz="1125" b="1" i="0" u="none">
                <a:solidFill>
                  <a:srgbClr val="1D4ED8"/>
                </a:solidFill>
                <a:latin typeface="Inter"/>
              </a:rPr>
              <a:t>Prioritized</a:t>
            </a:r>
          </a:p>
        </p:txBody>
      </p:sp>
      <p:sp>
        <p:nvSpPr>
          <p:cNvPr id="40" name="TextBox 39"/>
          <p:cNvSpPr txBox="1"/>
          <p:nvPr/>
        </p:nvSpPr>
        <p:spPr>
          <a:xfrm>
            <a:off x="4479875" y="2878335"/>
            <a:ext cx="3327350" cy="304800"/>
          </a:xfrm>
          <a:prstGeom prst="rect">
            <a:avLst/>
          </a:prstGeom>
          <a:noFill/>
        </p:spPr>
        <p:txBody>
          <a:bodyPr wrap="square" lIns="0" tIns="0" rIns="0" bIns="0" anchor="t">
            <a:spAutoFit/>
          </a:bodyPr>
          <a:lstStyle/>
          <a:p>
            <a:pPr algn="l"/>
            <a:r>
              <a:rPr sz="975" b="0" i="0" u="none">
                <a:solidFill>
                  <a:srgbClr val="334155"/>
                </a:solidFill>
                <a:latin typeface="Inter"/>
              </a:rPr>
              <a:t>Bugs are dynamically scored using live hacker-activity data (CISA KEV database).</a:t>
            </a:r>
          </a:p>
        </p:txBody>
      </p:sp>
      <p:sp>
        <p:nvSpPr>
          <p:cNvPr id="41" name="TextBox 40"/>
          <p:cNvSpPr txBox="1"/>
          <p:nvPr/>
        </p:nvSpPr>
        <p:spPr>
          <a:xfrm>
            <a:off x="8283475" y="2640210"/>
            <a:ext cx="3908524" cy="180975"/>
          </a:xfrm>
          <a:prstGeom prst="rect">
            <a:avLst/>
          </a:prstGeom>
          <a:noFill/>
        </p:spPr>
        <p:txBody>
          <a:bodyPr wrap="none" lIns="200025" tIns="0" rIns="0" bIns="0" anchor="t">
            <a:spAutoFit/>
          </a:bodyPr>
          <a:lstStyle/>
          <a:p>
            <a:pPr algn="l"/>
            <a:r>
              <a:rPr sz="1125" b="1" i="0" u="none">
                <a:solidFill>
                  <a:srgbClr val="B45309"/>
                </a:solidFill>
                <a:latin typeface="Inter"/>
              </a:rPr>
              <a:t>Auditable</a:t>
            </a:r>
          </a:p>
        </p:txBody>
      </p:sp>
      <p:sp>
        <p:nvSpPr>
          <p:cNvPr id="42" name="TextBox 41"/>
          <p:cNvSpPr txBox="1"/>
          <p:nvPr/>
        </p:nvSpPr>
        <p:spPr>
          <a:xfrm>
            <a:off x="8283475" y="2878335"/>
            <a:ext cx="3327499" cy="304800"/>
          </a:xfrm>
          <a:prstGeom prst="rect">
            <a:avLst/>
          </a:prstGeom>
          <a:noFill/>
        </p:spPr>
        <p:txBody>
          <a:bodyPr wrap="square" lIns="0" tIns="0" rIns="0" bIns="0" anchor="t">
            <a:spAutoFit/>
          </a:bodyPr>
          <a:lstStyle/>
          <a:p>
            <a:pPr algn="l"/>
            <a:r>
              <a:rPr sz="975" b="0" i="0" u="none">
                <a:solidFill>
                  <a:srgbClr val="334155"/>
                </a:solidFill>
                <a:latin typeface="Inter"/>
              </a:rPr>
              <a:t>Every AI agent action is saved with precise timestamps for complete transparency.</a:t>
            </a:r>
          </a:p>
        </p:txBody>
      </p:sp>
      <p:sp>
        <p:nvSpPr>
          <p:cNvPr id="43" name="TextBox 42"/>
          <p:cNvSpPr txBox="1"/>
          <p:nvPr/>
        </p:nvSpPr>
        <p:spPr>
          <a:xfrm>
            <a:off x="521903" y="1659135"/>
            <a:ext cx="2019969" cy="133350"/>
          </a:xfrm>
          <a:prstGeom prst="rect">
            <a:avLst/>
          </a:prstGeom>
          <a:noFill/>
        </p:spPr>
        <p:txBody>
          <a:bodyPr wrap="none" lIns="0" tIns="0" rIns="0" bIns="0" anchor="t">
            <a:spAutoFit/>
          </a:bodyPr>
          <a:lstStyle/>
          <a:p>
            <a:pPr algn="ctr"/>
            <a:r>
              <a:rPr sz="825" b="1" i="0" u="none">
                <a:solidFill>
                  <a:srgbClr val="2563EB"/>
                </a:solidFill>
                <a:latin typeface="JetBrains Mono"/>
              </a:rPr>
              <a:t>STEP 1</a:t>
            </a:r>
          </a:p>
        </p:txBody>
      </p:sp>
      <p:sp>
        <p:nvSpPr>
          <p:cNvPr id="44" name="TextBox 43"/>
          <p:cNvSpPr txBox="1"/>
          <p:nvPr/>
        </p:nvSpPr>
        <p:spPr>
          <a:xfrm>
            <a:off x="521903" y="1792485"/>
            <a:ext cx="2019969" cy="142875"/>
          </a:xfrm>
          <a:prstGeom prst="rect">
            <a:avLst/>
          </a:prstGeom>
          <a:noFill/>
        </p:spPr>
        <p:txBody>
          <a:bodyPr wrap="none" lIns="0" tIns="0" rIns="0" bIns="0" anchor="t">
            <a:spAutoFit/>
          </a:bodyPr>
          <a:lstStyle/>
          <a:p>
            <a:pPr algn="ctr"/>
            <a:r>
              <a:rPr sz="900" b="1" i="0" u="none">
                <a:solidFill>
                  <a:srgbClr val="0F172A"/>
                </a:solidFill>
                <a:latin typeface="Inter"/>
              </a:rPr>
              <a:t>ROE Checker</a:t>
            </a:r>
          </a:p>
        </p:txBody>
      </p:sp>
      <p:sp>
        <p:nvSpPr>
          <p:cNvPr id="45" name="TextBox 44"/>
          <p:cNvSpPr txBox="1"/>
          <p:nvPr/>
        </p:nvSpPr>
        <p:spPr>
          <a:xfrm>
            <a:off x="2347410" y="1659135"/>
            <a:ext cx="2020155" cy="133350"/>
          </a:xfrm>
          <a:prstGeom prst="rect">
            <a:avLst/>
          </a:prstGeom>
          <a:noFill/>
        </p:spPr>
        <p:txBody>
          <a:bodyPr wrap="none" lIns="0" tIns="0" rIns="0" bIns="0" anchor="t">
            <a:spAutoFit/>
          </a:bodyPr>
          <a:lstStyle/>
          <a:p>
            <a:pPr algn="ctr"/>
            <a:r>
              <a:rPr sz="825" b="1" i="0" u="none">
                <a:solidFill>
                  <a:srgbClr val="2563EB"/>
                </a:solidFill>
                <a:latin typeface="JetBrains Mono"/>
              </a:rPr>
              <a:t>STEP 2</a:t>
            </a:r>
          </a:p>
        </p:txBody>
      </p:sp>
      <p:sp>
        <p:nvSpPr>
          <p:cNvPr id="46" name="TextBox 45"/>
          <p:cNvSpPr txBox="1"/>
          <p:nvPr/>
        </p:nvSpPr>
        <p:spPr>
          <a:xfrm>
            <a:off x="2347410" y="1792485"/>
            <a:ext cx="2020155" cy="142875"/>
          </a:xfrm>
          <a:prstGeom prst="rect">
            <a:avLst/>
          </a:prstGeom>
          <a:noFill/>
        </p:spPr>
        <p:txBody>
          <a:bodyPr wrap="none" lIns="0" tIns="0" rIns="0" bIns="0" anchor="t">
            <a:spAutoFit/>
          </a:bodyPr>
          <a:lstStyle/>
          <a:p>
            <a:pPr algn="ctr"/>
            <a:r>
              <a:rPr sz="900" b="1" i="0" u="none">
                <a:solidFill>
                  <a:srgbClr val="0F172A"/>
                </a:solidFill>
                <a:latin typeface="Inter"/>
              </a:rPr>
              <a:t>Scope Guard</a:t>
            </a:r>
          </a:p>
        </p:txBody>
      </p:sp>
      <p:sp>
        <p:nvSpPr>
          <p:cNvPr id="47" name="TextBox 46"/>
          <p:cNvSpPr txBox="1"/>
          <p:nvPr/>
        </p:nvSpPr>
        <p:spPr>
          <a:xfrm>
            <a:off x="4161178" y="1649610"/>
            <a:ext cx="2043968" cy="133350"/>
          </a:xfrm>
          <a:prstGeom prst="rect">
            <a:avLst/>
          </a:prstGeom>
          <a:noFill/>
        </p:spPr>
        <p:txBody>
          <a:bodyPr wrap="none" lIns="0" tIns="0" rIns="0" bIns="0" anchor="t">
            <a:spAutoFit/>
          </a:bodyPr>
          <a:lstStyle/>
          <a:p>
            <a:pPr algn="ctr"/>
            <a:r>
              <a:rPr sz="825" b="1" i="0" u="none">
                <a:solidFill>
                  <a:srgbClr val="60A5FA"/>
                </a:solidFill>
                <a:latin typeface="JetBrains Mono"/>
              </a:rPr>
              <a:t>STEP 3</a:t>
            </a:r>
          </a:p>
        </p:txBody>
      </p:sp>
      <p:sp>
        <p:nvSpPr>
          <p:cNvPr id="48" name="TextBox 47"/>
          <p:cNvSpPr txBox="1"/>
          <p:nvPr/>
        </p:nvSpPr>
        <p:spPr>
          <a:xfrm>
            <a:off x="4161178" y="1782960"/>
            <a:ext cx="2043968" cy="142875"/>
          </a:xfrm>
          <a:prstGeom prst="rect">
            <a:avLst/>
          </a:prstGeom>
          <a:noFill/>
        </p:spPr>
        <p:txBody>
          <a:bodyPr wrap="none" lIns="0" tIns="0" rIns="0" bIns="0" anchor="t">
            <a:spAutoFit/>
          </a:bodyPr>
          <a:lstStyle/>
          <a:p>
            <a:pPr algn="ctr"/>
            <a:r>
              <a:rPr sz="900" b="1" i="0" u="none">
                <a:solidFill>
                  <a:srgbClr val="FFFFFF"/>
                </a:solidFill>
                <a:latin typeface="Inter"/>
              </a:rPr>
              <a:t>Testing Agent</a:t>
            </a:r>
          </a:p>
        </p:txBody>
      </p:sp>
      <p:sp>
        <p:nvSpPr>
          <p:cNvPr id="49" name="TextBox 48"/>
          <p:cNvSpPr txBox="1"/>
          <p:nvPr/>
        </p:nvSpPr>
        <p:spPr>
          <a:xfrm>
            <a:off x="4161178" y="1925835"/>
            <a:ext cx="2043968" cy="104775"/>
          </a:xfrm>
          <a:prstGeom prst="rect">
            <a:avLst/>
          </a:prstGeom>
          <a:noFill/>
        </p:spPr>
        <p:txBody>
          <a:bodyPr wrap="none" lIns="0" tIns="0" rIns="0" bIns="0" anchor="t">
            <a:spAutoFit/>
          </a:bodyPr>
          <a:lstStyle/>
          <a:p>
            <a:pPr algn="ctr"/>
            <a:r>
              <a:rPr sz="675" b="0" i="0" u="none">
                <a:solidFill>
                  <a:srgbClr val="94A3B8"/>
                </a:solidFill>
                <a:latin typeface="Inter"/>
              </a:rPr>
              <a:t>Llama 3.3 70B</a:t>
            </a:r>
          </a:p>
        </p:txBody>
      </p:sp>
      <p:sp>
        <p:nvSpPr>
          <p:cNvPr id="50" name="TextBox 49"/>
          <p:cNvSpPr txBox="1"/>
          <p:nvPr/>
        </p:nvSpPr>
        <p:spPr>
          <a:xfrm>
            <a:off x="5998778" y="1659135"/>
            <a:ext cx="2019969" cy="133350"/>
          </a:xfrm>
          <a:prstGeom prst="rect">
            <a:avLst/>
          </a:prstGeom>
          <a:noFill/>
        </p:spPr>
        <p:txBody>
          <a:bodyPr wrap="none" lIns="0" tIns="0" rIns="0" bIns="0" anchor="t">
            <a:spAutoFit/>
          </a:bodyPr>
          <a:lstStyle/>
          <a:p>
            <a:pPr algn="ctr"/>
            <a:r>
              <a:rPr sz="825" b="1" i="0" u="none">
                <a:solidFill>
                  <a:srgbClr val="2563EB"/>
                </a:solidFill>
                <a:latin typeface="JetBrains Mono"/>
              </a:rPr>
              <a:t>STEP 4</a:t>
            </a:r>
          </a:p>
        </p:txBody>
      </p:sp>
      <p:sp>
        <p:nvSpPr>
          <p:cNvPr id="51" name="TextBox 50"/>
          <p:cNvSpPr txBox="1"/>
          <p:nvPr/>
        </p:nvSpPr>
        <p:spPr>
          <a:xfrm>
            <a:off x="5998778" y="1792485"/>
            <a:ext cx="2019969" cy="142875"/>
          </a:xfrm>
          <a:prstGeom prst="rect">
            <a:avLst/>
          </a:prstGeom>
          <a:noFill/>
        </p:spPr>
        <p:txBody>
          <a:bodyPr wrap="none" lIns="0" tIns="0" rIns="0" bIns="0" anchor="t">
            <a:spAutoFit/>
          </a:bodyPr>
          <a:lstStyle/>
          <a:p>
            <a:pPr algn="ctr"/>
            <a:r>
              <a:rPr sz="900" b="1" i="0" u="none">
                <a:solidFill>
                  <a:srgbClr val="0F172A"/>
                </a:solidFill>
                <a:latin typeface="Inter"/>
              </a:rPr>
              <a:t>Risk Scorer</a:t>
            </a:r>
          </a:p>
        </p:txBody>
      </p:sp>
      <p:sp>
        <p:nvSpPr>
          <p:cNvPr id="52" name="TextBox 51"/>
          <p:cNvSpPr txBox="1"/>
          <p:nvPr/>
        </p:nvSpPr>
        <p:spPr>
          <a:xfrm>
            <a:off x="5998778" y="1935360"/>
            <a:ext cx="2019969" cy="104775"/>
          </a:xfrm>
          <a:prstGeom prst="rect">
            <a:avLst/>
          </a:prstGeom>
          <a:noFill/>
        </p:spPr>
        <p:txBody>
          <a:bodyPr wrap="none" lIns="0" tIns="0" rIns="0" bIns="0" anchor="t">
            <a:spAutoFit/>
          </a:bodyPr>
          <a:lstStyle/>
          <a:p>
            <a:pPr algn="ctr"/>
            <a:r>
              <a:rPr sz="675" b="0" i="0" u="none">
                <a:solidFill>
                  <a:srgbClr val="64748B"/>
                </a:solidFill>
                <a:latin typeface="Inter"/>
              </a:rPr>
              <a:t>RandomForest+KEV</a:t>
            </a:r>
          </a:p>
        </p:txBody>
      </p:sp>
      <p:sp>
        <p:nvSpPr>
          <p:cNvPr id="53" name="TextBox 52"/>
          <p:cNvSpPr txBox="1"/>
          <p:nvPr/>
        </p:nvSpPr>
        <p:spPr>
          <a:xfrm>
            <a:off x="7824285" y="1659135"/>
            <a:ext cx="2020155" cy="133350"/>
          </a:xfrm>
          <a:prstGeom prst="rect">
            <a:avLst/>
          </a:prstGeom>
          <a:noFill/>
        </p:spPr>
        <p:txBody>
          <a:bodyPr wrap="none" lIns="0" tIns="0" rIns="0" bIns="0" anchor="t">
            <a:spAutoFit/>
          </a:bodyPr>
          <a:lstStyle/>
          <a:p>
            <a:pPr algn="ctr"/>
            <a:r>
              <a:rPr sz="825" b="1" i="0" u="none">
                <a:solidFill>
                  <a:srgbClr val="2563EB"/>
                </a:solidFill>
                <a:latin typeface="JetBrains Mono"/>
              </a:rPr>
              <a:t>STEP 5</a:t>
            </a:r>
          </a:p>
        </p:txBody>
      </p:sp>
      <p:sp>
        <p:nvSpPr>
          <p:cNvPr id="54" name="TextBox 53"/>
          <p:cNvSpPr txBox="1"/>
          <p:nvPr/>
        </p:nvSpPr>
        <p:spPr>
          <a:xfrm>
            <a:off x="7824285" y="1792485"/>
            <a:ext cx="2020155" cy="142875"/>
          </a:xfrm>
          <a:prstGeom prst="rect">
            <a:avLst/>
          </a:prstGeom>
          <a:noFill/>
        </p:spPr>
        <p:txBody>
          <a:bodyPr wrap="none" lIns="0" tIns="0" rIns="0" bIns="0" anchor="t">
            <a:spAutoFit/>
          </a:bodyPr>
          <a:lstStyle/>
          <a:p>
            <a:pPr algn="ctr"/>
            <a:r>
              <a:rPr sz="900" b="1" i="0" u="none">
                <a:solidFill>
                  <a:srgbClr val="0F172A"/>
                </a:solidFill>
                <a:latin typeface="Inter"/>
              </a:rPr>
              <a:t>Logger</a:t>
            </a:r>
          </a:p>
        </p:txBody>
      </p:sp>
      <p:sp>
        <p:nvSpPr>
          <p:cNvPr id="55" name="TextBox 54"/>
          <p:cNvSpPr txBox="1"/>
          <p:nvPr/>
        </p:nvSpPr>
        <p:spPr>
          <a:xfrm>
            <a:off x="9649959" y="1659135"/>
            <a:ext cx="2020155" cy="133350"/>
          </a:xfrm>
          <a:prstGeom prst="rect">
            <a:avLst/>
          </a:prstGeom>
          <a:noFill/>
        </p:spPr>
        <p:txBody>
          <a:bodyPr wrap="none" lIns="0" tIns="0" rIns="0" bIns="0" anchor="t">
            <a:spAutoFit/>
          </a:bodyPr>
          <a:lstStyle/>
          <a:p>
            <a:pPr algn="ctr"/>
            <a:r>
              <a:rPr sz="825" b="1" i="0" u="none">
                <a:solidFill>
                  <a:srgbClr val="2563EB"/>
                </a:solidFill>
                <a:latin typeface="JetBrains Mono"/>
              </a:rPr>
              <a:t>STEP 6</a:t>
            </a:r>
          </a:p>
        </p:txBody>
      </p:sp>
      <p:sp>
        <p:nvSpPr>
          <p:cNvPr id="56" name="TextBox 55"/>
          <p:cNvSpPr txBox="1"/>
          <p:nvPr/>
        </p:nvSpPr>
        <p:spPr>
          <a:xfrm>
            <a:off x="9649959" y="1792485"/>
            <a:ext cx="2020155" cy="142875"/>
          </a:xfrm>
          <a:prstGeom prst="rect">
            <a:avLst/>
          </a:prstGeom>
          <a:noFill/>
        </p:spPr>
        <p:txBody>
          <a:bodyPr wrap="none" lIns="0" tIns="0" rIns="0" bIns="0" anchor="t">
            <a:spAutoFit/>
          </a:bodyPr>
          <a:lstStyle/>
          <a:p>
            <a:pPr algn="ctr"/>
            <a:r>
              <a:rPr sz="900" b="1" i="0" u="none">
                <a:solidFill>
                  <a:srgbClr val="0F172A"/>
                </a:solidFill>
                <a:latin typeface="Inter"/>
              </a:rPr>
              <a:t>Report Writer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182885"/>
            <a:ext cx="11277600" cy="2028825"/>
          </a:xfrm>
          <a:prstGeom prst="roundRect">
            <a:avLst>
              <a:gd name="adj" fmla="val 46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4256633"/>
            <a:ext cx="11277600" cy="1922264"/>
          </a:xfrm>
          <a:prstGeom prst="roundRect">
            <a:avLst>
              <a:gd name="adj" fmla="val 4955"/>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76275" y="4789140"/>
            <a:ext cx="10839450" cy="9525"/>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676275" y="4912965"/>
            <a:ext cx="190500" cy="152400"/>
          </a:xfrm>
          <a:prstGeom prst="rect">
            <a:avLst/>
          </a:prstGeom>
        </p:spPr>
      </p:pic>
      <p:pic>
        <p:nvPicPr>
          <p:cNvPr id="8" name="Picture 7" descr="image.png"/>
          <p:cNvPicPr>
            <a:picLocks noChangeAspect="1"/>
          </p:cNvPicPr>
          <p:nvPr/>
        </p:nvPicPr>
        <p:blipFill>
          <a:blip r:embed="rId3"/>
          <a:stretch>
            <a:fillRect/>
          </a:stretch>
        </p:blipFill>
        <p:spPr>
          <a:xfrm>
            <a:off x="676275" y="5179665"/>
            <a:ext cx="190500" cy="152400"/>
          </a:xfrm>
          <a:prstGeom prst="rect">
            <a:avLst/>
          </a:prstGeom>
        </p:spPr>
      </p:pic>
      <p:pic>
        <p:nvPicPr>
          <p:cNvPr id="9" name="Picture 8" descr="image.png"/>
          <p:cNvPicPr>
            <a:picLocks noChangeAspect="1"/>
          </p:cNvPicPr>
          <p:nvPr/>
        </p:nvPicPr>
        <p:blipFill>
          <a:blip r:embed="rId4"/>
          <a:stretch>
            <a:fillRect/>
          </a:stretch>
        </p:blipFill>
        <p:spPr>
          <a:xfrm>
            <a:off x="676275" y="5446365"/>
            <a:ext cx="190500" cy="152400"/>
          </a:xfrm>
          <a:prstGeom prst="rect">
            <a:avLst/>
          </a:prstGeom>
        </p:spPr>
      </p:pic>
      <p:pic>
        <p:nvPicPr>
          <p:cNvPr id="10" name="Picture 9" descr="image.png"/>
          <p:cNvPicPr>
            <a:picLocks noChangeAspect="1"/>
          </p:cNvPicPr>
          <p:nvPr/>
        </p:nvPicPr>
        <p:blipFill>
          <a:blip r:embed="rId5"/>
          <a:stretch>
            <a:fillRect/>
          </a:stretch>
        </p:blipFill>
        <p:spPr>
          <a:xfrm>
            <a:off x="676275" y="5713065"/>
            <a:ext cx="190500" cy="152400"/>
          </a:xfrm>
          <a:prstGeom prst="rect">
            <a:avLst/>
          </a:prstGeom>
        </p:spPr>
      </p:pic>
      <p:sp>
        <p:nvSpPr>
          <p:cNvPr id="11" name="TextBox 10"/>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Note:</a:t>
            </a:r>
            <a:r>
              <a:rPr sz="825" b="0" i="0" u="none">
                <a:solidFill>
                  <a:srgbClr val="64748B"/>
                </a:solidFill>
                <a:latin typeface="Inter"/>
              </a:rPr>
              <a:t> Numbers displayed in the live execution environment are measured empirically during testing.</a:t>
            </a:r>
          </a:p>
        </p:txBody>
      </p:sp>
      <p:sp>
        <p:nvSpPr>
          <p:cNvPr id="12" name="TextBox 11"/>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13" name="TextBox 12"/>
          <p:cNvSpPr txBox="1"/>
          <p:nvPr/>
        </p:nvSpPr>
        <p:spPr>
          <a:xfrm>
            <a:off x="457200" y="381000"/>
            <a:ext cx="4512468" cy="152400"/>
          </a:xfrm>
          <a:prstGeom prst="rect">
            <a:avLst/>
          </a:prstGeom>
          <a:noFill/>
        </p:spPr>
        <p:txBody>
          <a:bodyPr wrap="none" lIns="0" tIns="0" rIns="0" bIns="0" anchor="t">
            <a:spAutoFit/>
          </a:bodyPr>
          <a:lstStyle/>
          <a:p>
            <a:pPr algn="l"/>
            <a:r>
              <a:rPr sz="975" b="1" i="0" u="none">
                <a:solidFill>
                  <a:srgbClr val="2563EB"/>
                </a:solidFill>
                <a:latin typeface="Inter"/>
              </a:rPr>
              <a:t>PRODUCT VERIFICATION</a:t>
            </a:r>
          </a:p>
        </p:txBody>
      </p:sp>
      <p:sp>
        <p:nvSpPr>
          <p:cNvPr id="14" name="TextBox 13"/>
          <p:cNvSpPr txBox="1"/>
          <p:nvPr/>
        </p:nvSpPr>
        <p:spPr>
          <a:xfrm>
            <a:off x="457200" y="571500"/>
            <a:ext cx="4738092"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Demo Overview (90 Seconds)</a:t>
            </a:r>
          </a:p>
        </p:txBody>
      </p:sp>
      <p:sp>
        <p:nvSpPr>
          <p:cNvPr id="15" name="TextBox 14"/>
          <p:cNvSpPr txBox="1"/>
          <p:nvPr/>
        </p:nvSpPr>
        <p:spPr>
          <a:xfrm>
            <a:off x="676275" y="1363860"/>
            <a:ext cx="11515725" cy="161925"/>
          </a:xfrm>
          <a:prstGeom prst="rect">
            <a:avLst/>
          </a:prstGeom>
          <a:noFill/>
        </p:spPr>
        <p:txBody>
          <a:bodyPr wrap="none" lIns="0" tIns="0" rIns="0" bIns="0" anchor="t">
            <a:spAutoFit/>
          </a:bodyPr>
          <a:lstStyle/>
          <a:p>
            <a:pPr algn="l"/>
            <a:r>
              <a:rPr sz="1050" b="1" i="0" u="none">
                <a:solidFill>
                  <a:srgbClr val="0F172A"/>
                </a:solidFill>
                <a:latin typeface="Inter"/>
              </a:rPr>
              <a:t>Execution Sequence:</a:t>
            </a:r>
          </a:p>
        </p:txBody>
      </p:sp>
      <p:sp>
        <p:nvSpPr>
          <p:cNvPr id="16" name="TextBox 15"/>
          <p:cNvSpPr txBox="1"/>
          <p:nvPr/>
        </p:nvSpPr>
        <p:spPr>
          <a:xfrm>
            <a:off x="676275" y="4570065"/>
            <a:ext cx="11481435" cy="171450"/>
          </a:xfrm>
          <a:prstGeom prst="rect">
            <a:avLst/>
          </a:prstGeom>
          <a:noFill/>
        </p:spPr>
        <p:txBody>
          <a:bodyPr wrap="square" lIns="0" tIns="0" rIns="0" bIns="0" anchor="t">
            <a:spAutoFit/>
          </a:bodyPr>
          <a:lstStyle/>
          <a:p>
            <a:pPr algn="l"/>
            <a:r>
              <a:rPr sz="1050" b="1" i="0" u="none">
                <a:solidFill>
                  <a:srgbClr val="1E40AF"/>
                </a:solidFill>
                <a:latin typeface="Inter"/>
              </a:rPr>
              <a:t>Metrics Measured Live:</a:t>
            </a:r>
          </a:p>
        </p:txBody>
      </p:sp>
      <p:sp>
        <p:nvSpPr>
          <p:cNvPr id="17" name="TextBox 16"/>
          <p:cNvSpPr txBox="1"/>
          <p:nvPr/>
        </p:nvSpPr>
        <p:spPr>
          <a:xfrm>
            <a:off x="847725" y="1601985"/>
            <a:ext cx="11344275" cy="161925"/>
          </a:xfrm>
          <a:prstGeom prst="rect">
            <a:avLst/>
          </a:prstGeom>
          <a:noFill/>
        </p:spPr>
        <p:txBody>
          <a:bodyPr wrap="none" lIns="0" tIns="0" rIns="0" bIns="0" anchor="t">
            <a:spAutoFit/>
          </a:bodyPr>
          <a:lstStyle/>
          <a:p>
            <a:pPr algn="l"/>
            <a:r>
              <a:rPr sz="1050" b="1" i="0" u="none">
                <a:solidFill>
                  <a:srgbClr val="334155"/>
                </a:solidFill>
                <a:latin typeface="Inter"/>
              </a:rPr>
              <a:t>ROE Validation:</a:t>
            </a:r>
            <a:r>
              <a:rPr sz="1050" b="0" i="0" u="none">
                <a:solidFill>
                  <a:srgbClr val="334155"/>
                </a:solidFill>
                <a:latin typeface="Inter"/>
              </a:rPr>
              <a:t> Upload a real ROE → it passes successfully.</a:t>
            </a:r>
          </a:p>
        </p:txBody>
      </p:sp>
      <p:sp>
        <p:nvSpPr>
          <p:cNvPr id="18" name="TextBox 17"/>
          <p:cNvSpPr txBox="1"/>
          <p:nvPr/>
        </p:nvSpPr>
        <p:spPr>
          <a:xfrm>
            <a:off x="847725" y="1840110"/>
            <a:ext cx="11344275" cy="161925"/>
          </a:xfrm>
          <a:prstGeom prst="rect">
            <a:avLst/>
          </a:prstGeom>
          <a:noFill/>
        </p:spPr>
        <p:txBody>
          <a:bodyPr wrap="none" lIns="0" tIns="0" rIns="0" bIns="0" anchor="t">
            <a:spAutoFit/>
          </a:bodyPr>
          <a:lstStyle/>
          <a:p>
            <a:pPr algn="l"/>
            <a:r>
              <a:rPr sz="1050" b="1" i="0" u="none">
                <a:solidFill>
                  <a:srgbClr val="334155"/>
                </a:solidFill>
                <a:latin typeface="Inter"/>
              </a:rPr>
              <a:t>Fraud Prevention:</a:t>
            </a:r>
            <a:r>
              <a:rPr sz="1050" b="0" i="0" u="none">
                <a:solidFill>
                  <a:srgbClr val="334155"/>
                </a:solidFill>
                <a:latin typeface="Inter"/>
              </a:rPr>
              <a:t> Upload a tampered ROE → it is instantly blocked.</a:t>
            </a:r>
          </a:p>
        </p:txBody>
      </p:sp>
      <p:sp>
        <p:nvSpPr>
          <p:cNvPr id="19" name="TextBox 18"/>
          <p:cNvSpPr txBox="1"/>
          <p:nvPr/>
        </p:nvSpPr>
        <p:spPr>
          <a:xfrm>
            <a:off x="847725" y="2078235"/>
            <a:ext cx="11344275" cy="161925"/>
          </a:xfrm>
          <a:prstGeom prst="rect">
            <a:avLst/>
          </a:prstGeom>
          <a:noFill/>
        </p:spPr>
        <p:txBody>
          <a:bodyPr wrap="none" lIns="0" tIns="0" rIns="0" bIns="0" anchor="t">
            <a:spAutoFit/>
          </a:bodyPr>
          <a:lstStyle/>
          <a:p>
            <a:pPr algn="l"/>
            <a:r>
              <a:rPr sz="1050" b="1" i="0" u="none">
                <a:solidFill>
                  <a:srgbClr val="334155"/>
                </a:solidFill>
                <a:latin typeface="Inter"/>
              </a:rPr>
              <a:t>Target Scan:</a:t>
            </a:r>
            <a:r>
              <a:rPr sz="1050" b="0" i="0" u="none">
                <a:solidFill>
                  <a:srgbClr val="334155"/>
                </a:solidFill>
                <a:latin typeface="Inter"/>
              </a:rPr>
              <a:t> The agent scans OWASP Juice Shop or DVWA benchmark apps.</a:t>
            </a:r>
          </a:p>
        </p:txBody>
      </p:sp>
      <p:sp>
        <p:nvSpPr>
          <p:cNvPr id="20" name="TextBox 19"/>
          <p:cNvSpPr txBox="1"/>
          <p:nvPr/>
        </p:nvSpPr>
        <p:spPr>
          <a:xfrm>
            <a:off x="847725" y="2316360"/>
            <a:ext cx="11344275" cy="161925"/>
          </a:xfrm>
          <a:prstGeom prst="rect">
            <a:avLst/>
          </a:prstGeom>
          <a:noFill/>
        </p:spPr>
        <p:txBody>
          <a:bodyPr wrap="none" lIns="0" tIns="0" rIns="0" bIns="0" anchor="t">
            <a:spAutoFit/>
          </a:bodyPr>
          <a:lstStyle/>
          <a:p>
            <a:pPr algn="l"/>
            <a:r>
              <a:rPr sz="1050" b="1" i="0" u="none">
                <a:solidFill>
                  <a:srgbClr val="334155"/>
                </a:solidFill>
                <a:latin typeface="Inter"/>
              </a:rPr>
              <a:t>Boundary Enforcement:</a:t>
            </a:r>
            <a:r>
              <a:rPr sz="1050" b="0" i="0" u="none">
                <a:solidFill>
                  <a:srgbClr val="334155"/>
                </a:solidFill>
                <a:latin typeface="Inter"/>
              </a:rPr>
              <a:t> Agent attempts out-of-scope target → Scope Guard stops it &amp; logs the event.</a:t>
            </a:r>
          </a:p>
        </p:txBody>
      </p:sp>
      <p:sp>
        <p:nvSpPr>
          <p:cNvPr id="21" name="TextBox 20"/>
          <p:cNvSpPr txBox="1"/>
          <p:nvPr/>
        </p:nvSpPr>
        <p:spPr>
          <a:xfrm>
            <a:off x="847725" y="2554485"/>
            <a:ext cx="11344275" cy="161925"/>
          </a:xfrm>
          <a:prstGeom prst="rect">
            <a:avLst/>
          </a:prstGeom>
          <a:noFill/>
        </p:spPr>
        <p:txBody>
          <a:bodyPr wrap="none" lIns="0" tIns="0" rIns="0" bIns="0" anchor="t">
            <a:spAutoFit/>
          </a:bodyPr>
          <a:lstStyle/>
          <a:p>
            <a:pPr algn="l"/>
            <a:r>
              <a:rPr sz="1050" b="1" i="0" u="none">
                <a:solidFill>
                  <a:srgbClr val="334155"/>
                </a:solidFill>
                <a:latin typeface="Inter"/>
              </a:rPr>
              <a:t>Risk Rating:</a:t>
            </a:r>
            <a:r>
              <a:rPr sz="1050" b="0" i="0" u="none">
                <a:solidFill>
                  <a:srgbClr val="334155"/>
                </a:solidFill>
                <a:latin typeface="Inter"/>
              </a:rPr>
              <a:t> Bugs return scored with live CISA KEV active exploitation markers.</a:t>
            </a:r>
          </a:p>
        </p:txBody>
      </p:sp>
      <p:sp>
        <p:nvSpPr>
          <p:cNvPr id="22" name="TextBox 21"/>
          <p:cNvSpPr txBox="1"/>
          <p:nvPr/>
        </p:nvSpPr>
        <p:spPr>
          <a:xfrm>
            <a:off x="847725" y="2792610"/>
            <a:ext cx="11344275" cy="161925"/>
          </a:xfrm>
          <a:prstGeom prst="rect">
            <a:avLst/>
          </a:prstGeom>
          <a:noFill/>
        </p:spPr>
        <p:txBody>
          <a:bodyPr wrap="none" lIns="0" tIns="0" rIns="0" bIns="0" anchor="t">
            <a:spAutoFit/>
          </a:bodyPr>
          <a:lstStyle/>
          <a:p>
            <a:pPr algn="l"/>
            <a:r>
              <a:rPr sz="1050" b="1" i="0" u="none">
                <a:solidFill>
                  <a:srgbClr val="334155"/>
                </a:solidFill>
                <a:latin typeface="Inter"/>
              </a:rPr>
              <a:t>Automated Output:</a:t>
            </a:r>
            <a:r>
              <a:rPr sz="1050" b="0" i="0" u="none">
                <a:solidFill>
                  <a:srgbClr val="334155"/>
                </a:solidFill>
                <a:latin typeface="Inter"/>
              </a:rPr>
              <a:t> A plain-language, audit-ready report is created.</a:t>
            </a:r>
          </a:p>
        </p:txBody>
      </p:sp>
      <p:sp>
        <p:nvSpPr>
          <p:cNvPr id="23" name="TextBox 22"/>
          <p:cNvSpPr txBox="1"/>
          <p:nvPr/>
        </p:nvSpPr>
        <p:spPr>
          <a:xfrm>
            <a:off x="962025" y="4912965"/>
            <a:ext cx="4083843" cy="152400"/>
          </a:xfrm>
          <a:prstGeom prst="rect">
            <a:avLst/>
          </a:prstGeom>
          <a:noFill/>
        </p:spPr>
        <p:txBody>
          <a:bodyPr wrap="none" lIns="0" tIns="0" rIns="0" bIns="0" anchor="t">
            <a:spAutoFit/>
          </a:bodyPr>
          <a:lstStyle/>
          <a:p>
            <a:pPr algn="l"/>
            <a:r>
              <a:rPr sz="975" b="0" i="0" u="none">
                <a:solidFill>
                  <a:srgbClr val="1E293B"/>
                </a:solidFill>
                <a:latin typeface="Inter"/>
              </a:rPr>
              <a:t>Bugs found vs known Juice Shop/DVWA vulnerabilities</a:t>
            </a:r>
          </a:p>
        </p:txBody>
      </p:sp>
      <p:sp>
        <p:nvSpPr>
          <p:cNvPr id="24" name="TextBox 23"/>
          <p:cNvSpPr txBox="1"/>
          <p:nvPr/>
        </p:nvSpPr>
        <p:spPr>
          <a:xfrm>
            <a:off x="962025" y="5179665"/>
            <a:ext cx="2690812" cy="152400"/>
          </a:xfrm>
          <a:prstGeom prst="rect">
            <a:avLst/>
          </a:prstGeom>
          <a:noFill/>
        </p:spPr>
        <p:txBody>
          <a:bodyPr wrap="none" lIns="0" tIns="0" rIns="0" bIns="0" anchor="t">
            <a:spAutoFit/>
          </a:bodyPr>
          <a:lstStyle/>
          <a:p>
            <a:pPr algn="l"/>
            <a:r>
              <a:rPr sz="975" b="0" i="0" u="none">
                <a:solidFill>
                  <a:srgbClr val="1E293B"/>
                </a:solidFill>
                <a:latin typeface="Inter"/>
              </a:rPr>
              <a:t>Total automated scan execution time</a:t>
            </a:r>
          </a:p>
        </p:txBody>
      </p:sp>
      <p:sp>
        <p:nvSpPr>
          <p:cNvPr id="25" name="TextBox 24"/>
          <p:cNvSpPr txBox="1"/>
          <p:nvPr/>
        </p:nvSpPr>
        <p:spPr>
          <a:xfrm>
            <a:off x="962025" y="5446365"/>
            <a:ext cx="3107531" cy="152400"/>
          </a:xfrm>
          <a:prstGeom prst="rect">
            <a:avLst/>
          </a:prstGeom>
          <a:noFill/>
        </p:spPr>
        <p:txBody>
          <a:bodyPr wrap="none" lIns="0" tIns="0" rIns="0" bIns="0" anchor="t">
            <a:spAutoFit/>
          </a:bodyPr>
          <a:lstStyle/>
          <a:p>
            <a:pPr algn="l"/>
            <a:r>
              <a:rPr sz="975" b="0" i="0" u="none">
                <a:solidFill>
                  <a:srgbClr val="1E293B"/>
                </a:solidFill>
                <a:latin typeface="Inter"/>
              </a:rPr>
              <a:t>ROE-fraud detection accuracy percentage</a:t>
            </a:r>
          </a:p>
        </p:txBody>
      </p:sp>
      <p:sp>
        <p:nvSpPr>
          <p:cNvPr id="26" name="TextBox 25"/>
          <p:cNvSpPr txBox="1"/>
          <p:nvPr/>
        </p:nvSpPr>
        <p:spPr>
          <a:xfrm>
            <a:off x="962025" y="5713065"/>
            <a:ext cx="3952875" cy="152400"/>
          </a:xfrm>
          <a:prstGeom prst="rect">
            <a:avLst/>
          </a:prstGeom>
          <a:noFill/>
        </p:spPr>
        <p:txBody>
          <a:bodyPr wrap="none" lIns="0" tIns="0" rIns="0" bIns="0" anchor="t">
            <a:spAutoFit/>
          </a:bodyPr>
          <a:lstStyle/>
          <a:p>
            <a:pPr algn="l"/>
            <a:r>
              <a:rPr sz="975" b="0" i="0" u="none">
                <a:solidFill>
                  <a:srgbClr val="1E293B"/>
                </a:solidFill>
                <a:latin typeface="Inter"/>
              </a:rPr>
              <a:t>Tokens consumed &amp; exact cost per scan from Logger</a:t>
            </a:r>
          </a:p>
        </p:txBody>
      </p:sp>
      <p:sp>
        <p:nvSpPr>
          <p:cNvPr id="27" name="TextBox 26"/>
          <p:cNvSpPr txBox="1"/>
          <p:nvPr/>
        </p:nvSpPr>
        <p:spPr>
          <a:xfrm>
            <a:off x="676275" y="1582935"/>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28" name="TextBox 27"/>
          <p:cNvSpPr txBox="1"/>
          <p:nvPr/>
        </p:nvSpPr>
        <p:spPr>
          <a:xfrm>
            <a:off x="676275" y="1821060"/>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29" name="TextBox 28"/>
          <p:cNvSpPr txBox="1"/>
          <p:nvPr/>
        </p:nvSpPr>
        <p:spPr>
          <a:xfrm>
            <a:off x="676275" y="2059185"/>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30" name="TextBox 29"/>
          <p:cNvSpPr txBox="1"/>
          <p:nvPr/>
        </p:nvSpPr>
        <p:spPr>
          <a:xfrm>
            <a:off x="676275" y="2297310"/>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31" name="TextBox 30"/>
          <p:cNvSpPr txBox="1"/>
          <p:nvPr/>
        </p:nvSpPr>
        <p:spPr>
          <a:xfrm>
            <a:off x="676275" y="2535435"/>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32" name="TextBox 31"/>
          <p:cNvSpPr txBox="1"/>
          <p:nvPr/>
        </p:nvSpPr>
        <p:spPr>
          <a:xfrm>
            <a:off x="676275" y="2773560"/>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3911947"/>
            <a:ext cx="11277600" cy="704850"/>
          </a:xfrm>
          <a:prstGeom prst="roundRect">
            <a:avLst>
              <a:gd name="adj" fmla="val 1351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4712047"/>
            <a:ext cx="11277600" cy="695325"/>
          </a:xfrm>
          <a:prstGeom prst="roundRect">
            <a:avLst>
              <a:gd name="adj" fmla="val 13698"/>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5502622"/>
            <a:ext cx="11277600" cy="676275"/>
          </a:xfrm>
          <a:prstGeom prst="roundRect">
            <a:avLst>
              <a:gd name="adj" fmla="val 1408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744860"/>
            <a:ext cx="3405038"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862238" y="1744860"/>
            <a:ext cx="2397025"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59264" y="1744860"/>
            <a:ext cx="1852314"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111579" y="1744860"/>
            <a:ext cx="3623220"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4607272"/>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3911947"/>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3911947"/>
            <a:ext cx="38100" cy="7048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725275" y="3911947"/>
            <a:ext cx="9525" cy="7048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102048"/>
            <a:ext cx="340503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862238" y="2102048"/>
            <a:ext cx="239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59264" y="2102048"/>
            <a:ext cx="18523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11579" y="2102048"/>
            <a:ext cx="36232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2416373"/>
            <a:ext cx="340503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862238" y="2416373"/>
            <a:ext cx="239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59264" y="2416373"/>
            <a:ext cx="18523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11579" y="2416373"/>
            <a:ext cx="36232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2730698"/>
            <a:ext cx="340503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862238" y="2730698"/>
            <a:ext cx="239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59264" y="2730698"/>
            <a:ext cx="18523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11579" y="2730698"/>
            <a:ext cx="36232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3073598"/>
            <a:ext cx="340503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862238" y="3073598"/>
            <a:ext cx="239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59264" y="3073598"/>
            <a:ext cx="18523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111579" y="3073598"/>
            <a:ext cx="36232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976538" y="1849635"/>
            <a:ext cx="533400" cy="180975"/>
          </a:xfrm>
          <a:prstGeom prst="roundRect">
            <a:avLst>
              <a:gd name="adj" fmla="val 21052"/>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3976538" y="2821185"/>
            <a:ext cx="523875" cy="180975"/>
          </a:xfrm>
          <a:prstGeom prst="roundRect">
            <a:avLst>
              <a:gd name="adj" fmla="val 21052"/>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3" name="Table 32"/>
          <p:cNvGraphicFramePr>
            <a:graphicFrameLocks noGrp="1"/>
          </p:cNvGraphicFramePr>
          <p:nvPr/>
        </p:nvGraphicFramePr>
        <p:xfrm>
          <a:off x="457200" y="1411485"/>
          <a:ext cx="11277597" cy="1676400"/>
        </p:xfrm>
        <a:graphic>
          <a:graphicData uri="http://schemas.openxmlformats.org/drawingml/2006/table">
            <a:tbl>
              <a:tblPr/>
              <a:tblGrid>
                <a:gridCol w="3405038"/>
                <a:gridCol w="2397025"/>
                <a:gridCol w="1852314"/>
                <a:gridCol w="3623220"/>
              </a:tblGrid>
              <a:tr h="335280">
                <a:tc>
                  <a:txBody>
                    <a:bodyPr/>
                    <a:lstStyle/>
                    <a:p>
                      <a:pPr algn="l"/>
                      <a:r>
                        <a:rPr sz="975" b="1" i="0" u="none" dirty="0">
                          <a:solidFill>
                            <a:srgbClr val="334155"/>
                          </a:solidFill>
                          <a:latin typeface="Inter"/>
                        </a:rPr>
                        <a:t>Answer Option</a:t>
                      </a:r>
                    </a:p>
                  </a:txBody>
                  <a:tcPr marL="63500" marR="63500" marT="25400" marB="25400" anchor="ctr">
                    <a:lnL>
                      <a:noFill/>
                    </a:lnL>
                    <a:lnR>
                      <a:noFill/>
                    </a:lnR>
                    <a:lnT>
                      <a:noFill/>
                    </a:lnT>
                    <a:lnB>
                      <a:noFill/>
                    </a:lnB>
                    <a:solidFill>
                      <a:srgbClr val="F1F5F9"/>
                    </a:solidFill>
                  </a:tcPr>
                </a:tc>
                <a:tc>
                  <a:txBody>
                    <a:bodyPr/>
                    <a:lstStyle/>
                    <a:p>
                      <a:pPr algn="l"/>
                      <a:r>
                        <a:rPr sz="975" b="1" i="0" u="none" dirty="0">
                          <a:solidFill>
                            <a:srgbClr val="334155"/>
                          </a:solidFill>
                          <a:latin typeface="Inter"/>
                        </a:rPr>
                        <a:t>Share (%)</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People</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In PKR per month</a:t>
                      </a:r>
                    </a:p>
                  </a:txBody>
                  <a:tcPr marL="63500" marR="63500" marT="25400" marB="25400" anchor="ctr">
                    <a:lnL>
                      <a:noFill/>
                    </a:lnL>
                    <a:lnR>
                      <a:noFill/>
                    </a:lnR>
                    <a:lnT>
                      <a:noFill/>
                    </a:lnT>
                    <a:lnB>
                      <a:noFill/>
                    </a:lnB>
                    <a:solidFill>
                      <a:srgbClr val="F1F5F9"/>
                    </a:solidFill>
                  </a:tcPr>
                </a:tc>
              </a:tr>
              <a:tr h="335280">
                <a:tc>
                  <a:txBody>
                    <a:bodyPr/>
                    <a:lstStyle/>
                    <a:p>
                      <a:pPr algn="l"/>
                      <a:r>
                        <a:rPr sz="975" b="1" i="0" u="none">
                          <a:solidFill>
                            <a:srgbClr val="334155"/>
                          </a:solidFill>
                          <a:latin typeface="Inter"/>
                        </a:rPr>
                        <a:t>$20–$50</a:t>
                      </a:r>
                    </a:p>
                  </a:txBody>
                  <a:tcPr marL="63500" marR="63500" marT="25400" marB="25400" anchor="ctr">
                    <a:lnL>
                      <a:noFill/>
                    </a:lnL>
                    <a:lnR>
                      <a:noFill/>
                    </a:lnR>
                    <a:lnT>
                      <a:noFill/>
                    </a:lnT>
                    <a:lnB>
                      <a:noFill/>
                    </a:lnB>
                    <a:solidFill>
                      <a:srgbClr val="FFFFFF"/>
                    </a:solidFill>
                  </a:tcPr>
                </a:tc>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10</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5,540–13,850</a:t>
                      </a:r>
                    </a:p>
                  </a:txBody>
                  <a:tcPr marL="63500" marR="63500" marT="25400" marB="25400" anchor="ctr">
                    <a:lnL>
                      <a:noFill/>
                    </a:lnL>
                    <a:lnR>
                      <a:noFill/>
                    </a:lnR>
                    <a:lnT>
                      <a:noFill/>
                    </a:lnT>
                    <a:lnB>
                      <a:noFill/>
                    </a:lnB>
                    <a:solidFill>
                      <a:srgbClr val="FFFFFF"/>
                    </a:solidFill>
                  </a:tcPr>
                </a:tc>
              </a:tr>
              <a:tr h="335280">
                <a:tc>
                  <a:txBody>
                    <a:bodyPr/>
                    <a:lstStyle/>
                    <a:p>
                      <a:pPr algn="l"/>
                      <a:r>
                        <a:rPr sz="975" b="1" i="0" u="none" dirty="0">
                          <a:solidFill>
                            <a:srgbClr val="334155"/>
                          </a:solidFill>
                          <a:latin typeface="Inter"/>
                        </a:rPr>
                        <a:t>$50–$100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15.2%</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5</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13,850–27,700</a:t>
                      </a:r>
                    </a:p>
                  </a:txBody>
                  <a:tcPr marL="63500" marR="63500" marT="25400" marB="25400" anchor="ctr">
                    <a:lnL>
                      <a:noFill/>
                    </a:lnL>
                    <a:lnR>
                      <a:noFill/>
                    </a:lnR>
                    <a:lnT>
                      <a:noFill/>
                    </a:lnT>
                    <a:lnB>
                      <a:noFill/>
                    </a:lnB>
                    <a:solidFill>
                      <a:srgbClr val="F8FAFC"/>
                    </a:solidFill>
                  </a:tcPr>
                </a:tc>
              </a:tr>
              <a:tr h="335280">
                <a:tc>
                  <a:txBody>
                    <a:bodyPr/>
                    <a:lstStyle/>
                    <a:p>
                      <a:pPr algn="l"/>
                      <a:r>
                        <a:rPr sz="975" b="1" i="0" u="none">
                          <a:solidFill>
                            <a:srgbClr val="334155"/>
                          </a:solidFill>
                          <a:latin typeface="Inter"/>
                        </a:rPr>
                        <a:t>More than $100</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6.1%</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2</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Above 27,700</a:t>
                      </a:r>
                    </a:p>
                  </a:txBody>
                  <a:tcPr marL="63500" marR="63500" marT="25400" marB="25400" anchor="ctr">
                    <a:lnL>
                      <a:noFill/>
                    </a:lnL>
                    <a:lnR>
                      <a:noFill/>
                    </a:lnR>
                    <a:lnT>
                      <a:noFill/>
                    </a:lnT>
                    <a:lnB>
                      <a:noFill/>
                    </a:lnB>
                    <a:solidFill>
                      <a:srgbClr val="FFFFFF"/>
                    </a:solidFill>
                  </a:tcPr>
                </a:tc>
              </a:tr>
              <a:tr h="335280">
                <a:tc>
                  <a:txBody>
                    <a:bodyPr/>
                    <a:lstStyle/>
                    <a:p>
                      <a:pPr algn="l"/>
                      <a:r>
                        <a:rPr sz="975" b="1" i="0" u="none">
                          <a:solidFill>
                            <a:srgbClr val="334155"/>
                          </a:solidFill>
                          <a:latin typeface="Inter"/>
                        </a:rPr>
                        <a:t>Not sure</a:t>
                      </a:r>
                    </a:p>
                  </a:txBody>
                  <a:tcPr marL="63500" marR="63500" marT="25400" marB="25400" anchor="ctr">
                    <a:lnL>
                      <a:noFill/>
                    </a:lnL>
                    <a:lnR>
                      <a:noFill/>
                    </a:lnR>
                    <a:lnT>
                      <a:noFill/>
                    </a:lnT>
                    <a:lnB>
                      <a:noFill/>
                    </a:lnB>
                    <a:solidFill>
                      <a:srgbClr val="F8FAFC"/>
                    </a:solidFill>
                  </a:tcPr>
                </a:tc>
                <a:tc>
                  <a:txBody>
                    <a:bodyPr/>
                    <a:lstStyle/>
                    <a:p>
                      <a:pPr algn="l"/>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16</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n/a</a:t>
                      </a:r>
                    </a:p>
                  </a:txBody>
                  <a:tcPr marL="63500" marR="63500" marT="25400" marB="25400" anchor="ctr">
                    <a:lnL>
                      <a:noFill/>
                    </a:lnL>
                    <a:lnR>
                      <a:noFill/>
                    </a:lnR>
                    <a:lnT>
                      <a:noFill/>
                    </a:lnT>
                    <a:lnB>
                      <a:noFill/>
                    </a:lnB>
                    <a:solidFill>
                      <a:srgbClr val="F8FAFC"/>
                    </a:solidFill>
                  </a:tcPr>
                </a:tc>
              </a:tr>
            </a:tbl>
          </a:graphicData>
        </a:graphic>
      </p:graphicFrame>
      <p:sp>
        <p:nvSpPr>
          <p:cNvPr id="34" name="TextBox 33"/>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PenflowAI survey, Q9 response data (33 total responses) · FX: Mettis (Rs 277/USD)</a:t>
            </a:r>
          </a:p>
        </p:txBody>
      </p:sp>
      <p:sp>
        <p:nvSpPr>
          <p:cNvPr id="35" name="TextBox 34"/>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36" name="TextBox 35"/>
          <p:cNvSpPr txBox="1"/>
          <p:nvPr/>
        </p:nvSpPr>
        <p:spPr>
          <a:xfrm>
            <a:off x="457200" y="381000"/>
            <a:ext cx="5560218" cy="152400"/>
          </a:xfrm>
          <a:prstGeom prst="rect">
            <a:avLst/>
          </a:prstGeom>
          <a:noFill/>
        </p:spPr>
        <p:txBody>
          <a:bodyPr wrap="none" lIns="0" tIns="0" rIns="0" bIns="0" anchor="t">
            <a:spAutoFit/>
          </a:bodyPr>
          <a:lstStyle/>
          <a:p>
            <a:pPr algn="l"/>
            <a:r>
              <a:rPr sz="975" b="1" i="0" u="none">
                <a:solidFill>
                  <a:srgbClr val="2563EB"/>
                </a:solidFill>
                <a:latin typeface="Inter"/>
              </a:rPr>
              <a:t>PRIMARY RESEARCH</a:t>
            </a:r>
          </a:p>
        </p:txBody>
      </p:sp>
      <p:sp>
        <p:nvSpPr>
          <p:cNvPr id="37" name="TextBox 36"/>
          <p:cNvSpPr txBox="1"/>
          <p:nvPr/>
        </p:nvSpPr>
        <p:spPr>
          <a:xfrm>
            <a:off x="457200" y="571500"/>
            <a:ext cx="5838229"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Customer Discovery Survey Insights</a:t>
            </a:r>
          </a:p>
        </p:txBody>
      </p:sp>
      <p:sp>
        <p:nvSpPr>
          <p:cNvPr id="38" name="TextBox 37"/>
          <p:cNvSpPr txBox="1"/>
          <p:nvPr/>
        </p:nvSpPr>
        <p:spPr>
          <a:xfrm>
            <a:off x="457200" y="1182885"/>
            <a:ext cx="5533566" cy="150041"/>
          </a:xfrm>
          <a:prstGeom prst="rect">
            <a:avLst/>
          </a:prstGeom>
          <a:noFill/>
        </p:spPr>
        <p:txBody>
          <a:bodyPr wrap="none" lIns="0" tIns="0" rIns="0" bIns="0" anchor="t">
            <a:spAutoFit/>
          </a:bodyPr>
          <a:lstStyle/>
          <a:p>
            <a:pPr algn="l"/>
            <a:r>
              <a:rPr sz="975" b="1" i="0" u="none" dirty="0">
                <a:solidFill>
                  <a:srgbClr val="475569"/>
                </a:solidFill>
                <a:latin typeface="Inter"/>
              </a:rPr>
              <a:t>Question 9: "Would you pay for an AI tool that checks your website for security problems</a:t>
            </a:r>
            <a:r>
              <a:rPr sz="975" b="1" i="0" u="none" dirty="0" smtClean="0">
                <a:solidFill>
                  <a:srgbClr val="475569"/>
                </a:solidFill>
                <a:latin typeface="Inter"/>
              </a:rPr>
              <a:t>?"</a:t>
            </a:r>
            <a:endParaRPr sz="975" b="1" i="0" u="none" dirty="0">
              <a:solidFill>
                <a:srgbClr val="475569"/>
              </a:solidFill>
              <a:latin typeface="Inter"/>
            </a:endParaRPr>
          </a:p>
        </p:txBody>
      </p:sp>
      <p:sp>
        <p:nvSpPr>
          <p:cNvPr id="39" name="TextBox 38"/>
          <p:cNvSpPr txBox="1"/>
          <p:nvPr/>
        </p:nvSpPr>
        <p:spPr>
          <a:xfrm>
            <a:off x="457200" y="3164085"/>
            <a:ext cx="11734800" cy="142875"/>
          </a:xfrm>
          <a:prstGeom prst="rect">
            <a:avLst/>
          </a:prstGeom>
          <a:noFill/>
        </p:spPr>
        <p:txBody>
          <a:bodyPr wrap="none" lIns="0" tIns="0" rIns="0" bIns="0" anchor="t">
            <a:spAutoFit/>
          </a:bodyPr>
          <a:lstStyle/>
          <a:p>
            <a:pPr algn="l"/>
            <a:r>
              <a:rPr sz="900" b="1" i="0" u="none">
                <a:solidFill>
                  <a:srgbClr val="475569"/>
                </a:solidFill>
                <a:latin typeface="Inter"/>
              </a:rPr>
              <a:t>Key Finding:</a:t>
            </a:r>
            <a:r>
              <a:rPr sz="900" b="0" i="0" u="none">
                <a:solidFill>
                  <a:srgbClr val="475569"/>
                </a:solidFill>
                <a:latin typeface="Inter"/>
              </a:rPr>
              <a:t> 51.5% (17 of 33) specified a price. Only 21.3% (7 of 33) indicated $50 or more.</a:t>
            </a:r>
          </a:p>
        </p:txBody>
      </p:sp>
      <p:sp>
        <p:nvSpPr>
          <p:cNvPr id="40" name="TextBox 39"/>
          <p:cNvSpPr txBox="1"/>
          <p:nvPr/>
        </p:nvSpPr>
        <p:spPr>
          <a:xfrm>
            <a:off x="704850" y="4092922"/>
            <a:ext cx="11487150" cy="161925"/>
          </a:xfrm>
          <a:prstGeom prst="rect">
            <a:avLst/>
          </a:prstGeom>
          <a:noFill/>
        </p:spPr>
        <p:txBody>
          <a:bodyPr wrap="none" lIns="0" tIns="0" rIns="0" bIns="0" anchor="t">
            <a:spAutoFit/>
          </a:bodyPr>
          <a:lstStyle/>
          <a:p>
            <a:pPr algn="l"/>
            <a:r>
              <a:rPr sz="1050" b="1" i="0" u="none">
                <a:solidFill>
                  <a:srgbClr val="0F172A"/>
                </a:solidFill>
                <a:latin typeface="Inter"/>
              </a:rPr>
              <a:t>Strategic Pivot</a:t>
            </a:r>
          </a:p>
        </p:txBody>
      </p:sp>
      <p:sp>
        <p:nvSpPr>
          <p:cNvPr id="41" name="TextBox 40"/>
          <p:cNvSpPr txBox="1"/>
          <p:nvPr/>
        </p:nvSpPr>
        <p:spPr>
          <a:xfrm>
            <a:off x="704850" y="4292947"/>
            <a:ext cx="11487150" cy="142875"/>
          </a:xfrm>
          <a:prstGeom prst="rect">
            <a:avLst/>
          </a:prstGeom>
          <a:noFill/>
        </p:spPr>
        <p:txBody>
          <a:bodyPr wrap="none" lIns="0" tIns="0" rIns="0" bIns="0" anchor="t">
            <a:spAutoFit/>
          </a:bodyPr>
          <a:lstStyle/>
          <a:p>
            <a:pPr algn="l"/>
            <a:r>
              <a:rPr sz="937" b="0" i="0" u="none">
                <a:solidFill>
                  <a:srgbClr val="334155"/>
                </a:solidFill>
                <a:latin typeface="Inter"/>
              </a:rPr>
              <a:t>Lowered pricing to </a:t>
            </a:r>
            <a:r>
              <a:rPr sz="937" b="1" i="0" u="none">
                <a:solidFill>
                  <a:srgbClr val="334155"/>
                </a:solidFill>
                <a:latin typeface="Inter"/>
              </a:rPr>
              <a:t>$19 / $39 / $89</a:t>
            </a:r>
            <a:r>
              <a:rPr sz="937" b="0" i="0" u="none">
                <a:solidFill>
                  <a:srgbClr val="334155"/>
                </a:solidFill>
                <a:latin typeface="Inter"/>
              </a:rPr>
              <a:t> (Slide 9) and created a </a:t>
            </a:r>
            <a:r>
              <a:rPr sz="937" b="1" i="0" u="none">
                <a:solidFill>
                  <a:srgbClr val="334155"/>
                </a:solidFill>
                <a:latin typeface="Inter"/>
              </a:rPr>
              <a:t>Free plan</a:t>
            </a:r>
            <a:r>
              <a:rPr sz="937" b="0" i="0" u="none">
                <a:solidFill>
                  <a:srgbClr val="334155"/>
                </a:solidFill>
                <a:latin typeface="Inter"/>
              </a:rPr>
              <a:t> to capture and convert the 48.5% "not sure" respondents.</a:t>
            </a:r>
          </a:p>
        </p:txBody>
      </p:sp>
      <p:sp>
        <p:nvSpPr>
          <p:cNvPr id="42" name="TextBox 41"/>
          <p:cNvSpPr txBox="1"/>
          <p:nvPr/>
        </p:nvSpPr>
        <p:spPr>
          <a:xfrm>
            <a:off x="676275" y="4893022"/>
            <a:ext cx="11515725" cy="152400"/>
          </a:xfrm>
          <a:prstGeom prst="rect">
            <a:avLst/>
          </a:prstGeom>
          <a:noFill/>
        </p:spPr>
        <p:txBody>
          <a:bodyPr wrap="none" lIns="0" tIns="0" rIns="0" bIns="0" anchor="t">
            <a:spAutoFit/>
          </a:bodyPr>
          <a:lstStyle/>
          <a:p>
            <a:pPr algn="l"/>
            <a:r>
              <a:rPr sz="975" b="1" i="0" u="none">
                <a:solidFill>
                  <a:srgbClr val="991B1B"/>
                </a:solidFill>
                <a:latin typeface="Inter"/>
              </a:rPr>
              <a:t>Survey Limitations</a:t>
            </a:r>
          </a:p>
        </p:txBody>
      </p:sp>
      <p:sp>
        <p:nvSpPr>
          <p:cNvPr id="43" name="TextBox 42"/>
          <p:cNvSpPr txBox="1"/>
          <p:nvPr/>
        </p:nvSpPr>
        <p:spPr>
          <a:xfrm>
            <a:off x="676275" y="5083522"/>
            <a:ext cx="11515725" cy="142875"/>
          </a:xfrm>
          <a:prstGeom prst="rect">
            <a:avLst/>
          </a:prstGeom>
          <a:noFill/>
        </p:spPr>
        <p:txBody>
          <a:bodyPr wrap="none" lIns="0" tIns="0" rIns="0" bIns="0" anchor="t">
            <a:spAutoFit/>
          </a:bodyPr>
          <a:lstStyle/>
          <a:p>
            <a:pPr algn="l"/>
            <a:r>
              <a:rPr sz="900" b="0" i="0" u="none">
                <a:solidFill>
                  <a:srgbClr val="7F1D1D"/>
                </a:solidFill>
                <a:latin typeface="Inter"/>
              </a:rPr>
              <a:t>Small sample size (33 responses). Q9 lacked an explicit "I would not pay" option.</a:t>
            </a:r>
          </a:p>
        </p:txBody>
      </p:sp>
      <p:sp>
        <p:nvSpPr>
          <p:cNvPr id="44" name="TextBox 43"/>
          <p:cNvSpPr txBox="1"/>
          <p:nvPr/>
        </p:nvSpPr>
        <p:spPr>
          <a:xfrm>
            <a:off x="676275" y="5683597"/>
            <a:ext cx="11515725" cy="142875"/>
          </a:xfrm>
          <a:prstGeom prst="rect">
            <a:avLst/>
          </a:prstGeom>
          <a:noFill/>
        </p:spPr>
        <p:txBody>
          <a:bodyPr wrap="none" lIns="0" tIns="0" rIns="0" bIns="0" anchor="t">
            <a:spAutoFit/>
          </a:bodyPr>
          <a:lstStyle/>
          <a:p>
            <a:pPr algn="l"/>
            <a:r>
              <a:rPr sz="900" b="1" i="0" u="none">
                <a:solidFill>
                  <a:srgbClr val="1E40AF"/>
                </a:solidFill>
                <a:latin typeface="Inter"/>
              </a:rPr>
              <a:t>Decision: Persevere with lower price points.</a:t>
            </a:r>
          </a:p>
        </p:txBody>
      </p:sp>
      <p:sp>
        <p:nvSpPr>
          <p:cNvPr id="45" name="TextBox 44"/>
          <p:cNvSpPr txBox="1"/>
          <p:nvPr/>
        </p:nvSpPr>
        <p:spPr>
          <a:xfrm>
            <a:off x="676275" y="5864572"/>
            <a:ext cx="11515725" cy="133350"/>
          </a:xfrm>
          <a:prstGeom prst="rect">
            <a:avLst/>
          </a:prstGeom>
          <a:noFill/>
        </p:spPr>
        <p:txBody>
          <a:bodyPr wrap="none" lIns="0" tIns="0" rIns="0" bIns="0" anchor="t">
            <a:spAutoFit/>
          </a:bodyPr>
          <a:lstStyle/>
          <a:p>
            <a:pPr algn="l"/>
            <a:r>
              <a:rPr sz="825" b="0" i="1" u="none">
                <a:solidFill>
                  <a:srgbClr val="1E3A8A"/>
                </a:solidFill>
                <a:latin typeface="Inter"/>
              </a:rPr>
              <a:t>[Add real quote &amp; additional survey responses here]</a:t>
            </a:r>
          </a:p>
        </p:txBody>
      </p:sp>
      <p:sp>
        <p:nvSpPr>
          <p:cNvPr id="46" name="TextBox 45"/>
          <p:cNvSpPr txBox="1"/>
          <p:nvPr/>
        </p:nvSpPr>
        <p:spPr>
          <a:xfrm>
            <a:off x="4052738" y="1868685"/>
            <a:ext cx="476250" cy="142875"/>
          </a:xfrm>
          <a:prstGeom prst="rect">
            <a:avLst/>
          </a:prstGeom>
          <a:noFill/>
        </p:spPr>
        <p:txBody>
          <a:bodyPr wrap="square" lIns="0" tIns="0" rIns="0" bIns="0" anchor="t">
            <a:spAutoFit/>
          </a:bodyPr>
          <a:lstStyle/>
          <a:p>
            <a:pPr algn="l"/>
            <a:r>
              <a:rPr sz="900" b="1" i="0" u="none">
                <a:solidFill>
                  <a:srgbClr val="1E40AF"/>
                </a:solidFill>
                <a:latin typeface="Inter"/>
              </a:rPr>
              <a:t>30.3%</a:t>
            </a:r>
          </a:p>
        </p:txBody>
      </p:sp>
      <p:sp>
        <p:nvSpPr>
          <p:cNvPr id="47" name="TextBox 46"/>
          <p:cNvSpPr txBox="1"/>
          <p:nvPr/>
        </p:nvSpPr>
        <p:spPr>
          <a:xfrm>
            <a:off x="4052738" y="2840235"/>
            <a:ext cx="466725" cy="142875"/>
          </a:xfrm>
          <a:prstGeom prst="rect">
            <a:avLst/>
          </a:prstGeom>
          <a:noFill/>
        </p:spPr>
        <p:txBody>
          <a:bodyPr wrap="square" lIns="0" tIns="0" rIns="0" bIns="0" anchor="t">
            <a:spAutoFit/>
          </a:bodyPr>
          <a:lstStyle/>
          <a:p>
            <a:pPr algn="l"/>
            <a:r>
              <a:rPr sz="900" b="1" i="0" u="none">
                <a:solidFill>
                  <a:srgbClr val="92400E"/>
                </a:solidFill>
                <a:latin typeface="Inter"/>
              </a:rPr>
              <a:t>48.5%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583060"/>
            <a:ext cx="11277600" cy="1400175"/>
          </a:xfrm>
          <a:prstGeom prst="roundRect">
            <a:avLst>
              <a:gd name="adj" fmla="val 68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4135635"/>
            <a:ext cx="11277600" cy="581025"/>
          </a:xfrm>
          <a:prstGeom prst="roundRect">
            <a:avLst>
              <a:gd name="adj" fmla="val 16393"/>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4811910"/>
            <a:ext cx="11277600" cy="704850"/>
          </a:xfrm>
          <a:prstGeom prst="roundRect">
            <a:avLst>
              <a:gd name="adj" fmla="val 1351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516260"/>
            <a:ext cx="4926508"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83708" y="1516260"/>
            <a:ext cx="2007989"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91697" y="1516260"/>
            <a:ext cx="214803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539733" y="1516260"/>
            <a:ext cx="219506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844873"/>
            <a:ext cx="49265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383708" y="1844873"/>
            <a:ext cx="20079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91697" y="1844873"/>
            <a:ext cx="21480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539733" y="1844873"/>
            <a:ext cx="21950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159198"/>
            <a:ext cx="49265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383708" y="2159198"/>
            <a:ext cx="20079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91697" y="2159198"/>
            <a:ext cx="21480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539733" y="2159198"/>
            <a:ext cx="21950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2473523"/>
            <a:ext cx="49265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383708" y="2473523"/>
            <a:ext cx="20079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91697" y="2473523"/>
            <a:ext cx="21480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539733" y="2473523"/>
            <a:ext cx="21950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3" name="Table 22"/>
          <p:cNvGraphicFramePr>
            <a:graphicFrameLocks noGrp="1"/>
          </p:cNvGraphicFramePr>
          <p:nvPr/>
        </p:nvGraphicFramePr>
        <p:xfrm>
          <a:off x="457200" y="1182885"/>
          <a:ext cx="11277599" cy="1304925"/>
        </p:xfrm>
        <a:graphic>
          <a:graphicData uri="http://schemas.openxmlformats.org/drawingml/2006/table">
            <a:tbl>
              <a:tblPr/>
              <a:tblGrid>
                <a:gridCol w="4926508"/>
                <a:gridCol w="2007989"/>
                <a:gridCol w="2148036"/>
                <a:gridCol w="2195066"/>
              </a:tblGrid>
              <a:tr h="326231">
                <a:tc>
                  <a:txBody>
                    <a:bodyPr/>
                    <a:lstStyle/>
                    <a:p>
                      <a:pPr algn="l"/>
                      <a:r>
                        <a:rPr sz="975" b="1" i="0" u="none">
                          <a:solidFill>
                            <a:srgbClr val="334155"/>
                          </a:solidFill>
                          <a:latin typeface="Inter"/>
                        </a:rPr>
                        <a:t>Layer</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Accounts</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USD / year</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In PKR</a:t>
                      </a:r>
                    </a:p>
                  </a:txBody>
                  <a:tcPr marL="63500" marR="63500" marT="25400" marB="25400" anchor="ctr">
                    <a:lnL>
                      <a:noFill/>
                    </a:lnL>
                    <a:lnR>
                      <a:noFill/>
                    </a:lnR>
                    <a:lnT>
                      <a:noFill/>
                    </a:lnT>
                    <a:lnB>
                      <a:noFill/>
                    </a:lnB>
                    <a:solidFill>
                      <a:srgbClr val="F1F5F9"/>
                    </a:solidFill>
                  </a:tcPr>
                </a:tc>
              </a:tr>
              <a:tr h="326231">
                <a:tc>
                  <a:txBody>
                    <a:bodyPr/>
                    <a:lstStyle/>
                    <a:p>
                      <a:pPr algn="l"/>
                      <a:r>
                        <a:rPr sz="975" b="1" i="0" u="none">
                          <a:solidFill>
                            <a:srgbClr val="334155"/>
                          </a:solidFill>
                          <a:latin typeface="Inter"/>
                        </a:rPr>
                        <a:t>TAM</a:t>
                      </a:r>
                      <a:r>
                        <a:rPr sz="975" b="0" i="0" u="none">
                          <a:solidFill>
                            <a:srgbClr val="334155"/>
                          </a:solidFill>
                          <a:latin typeface="Inter"/>
                        </a:rPr>
                        <a:t> (Total Addressable)</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152,920</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$43.13M</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PKR 11.95B</a:t>
                      </a:r>
                    </a:p>
                  </a:txBody>
                  <a:tcPr marL="63500" marR="63500" marT="25400" marB="25400" anchor="ctr">
                    <a:lnL>
                      <a:noFill/>
                    </a:lnL>
                    <a:lnR>
                      <a:noFill/>
                    </a:lnR>
                    <a:lnT>
                      <a:noFill/>
                    </a:lnT>
                    <a:lnB>
                      <a:noFill/>
                    </a:lnB>
                    <a:solidFill>
                      <a:srgbClr val="FFFFFF"/>
                    </a:solidFill>
                  </a:tcPr>
                </a:tc>
              </a:tr>
              <a:tr h="326231">
                <a:tc>
                  <a:txBody>
                    <a:bodyPr/>
                    <a:lstStyle/>
                    <a:p>
                      <a:pPr algn="l"/>
                      <a:r>
                        <a:rPr sz="975" b="1" i="0" u="none">
                          <a:solidFill>
                            <a:srgbClr val="334155"/>
                          </a:solidFill>
                          <a:latin typeface="Inter"/>
                        </a:rPr>
                        <a:t>SAM</a:t>
                      </a:r>
                      <a:r>
                        <a:rPr sz="975" b="0" i="0" u="none">
                          <a:solidFill>
                            <a:srgbClr val="334155"/>
                          </a:solidFill>
                          <a:latin typeface="Inter"/>
                        </a:rPr>
                        <a:t> (Serviceable)</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78,754</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$22.21M</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PKR 6.15B</a:t>
                      </a:r>
                    </a:p>
                  </a:txBody>
                  <a:tcPr marL="63500" marR="63500" marT="25400" marB="25400" anchor="ctr">
                    <a:lnL>
                      <a:noFill/>
                    </a:lnL>
                    <a:lnR>
                      <a:noFill/>
                    </a:lnR>
                    <a:lnT>
                      <a:noFill/>
                    </a:lnT>
                    <a:lnB>
                      <a:noFill/>
                    </a:lnB>
                    <a:solidFill>
                      <a:srgbClr val="F8FAFC"/>
                    </a:solidFill>
                  </a:tcPr>
                </a:tc>
              </a:tr>
              <a:tr h="326232">
                <a:tc>
                  <a:txBody>
                    <a:bodyPr/>
                    <a:lstStyle/>
                    <a:p>
                      <a:pPr algn="l"/>
                      <a:r>
                        <a:rPr sz="975" b="1" i="0" u="none">
                          <a:solidFill>
                            <a:srgbClr val="334155"/>
                          </a:solidFill>
                          <a:latin typeface="Inter"/>
                        </a:rPr>
                        <a:t>SOM</a:t>
                      </a:r>
                      <a:r>
                        <a:rPr sz="975" b="0" i="0" u="none">
                          <a:solidFill>
                            <a:srgbClr val="334155"/>
                          </a:solidFill>
                          <a:latin typeface="Inter"/>
                        </a:rPr>
                        <a:t> (Serviceable Obtainable)</a:t>
                      </a:r>
                    </a:p>
                  </a:txBody>
                  <a:tcPr marL="63500" marR="63500" marT="25400" marB="25400" anchor="ctr">
                    <a:lnL>
                      <a:noFill/>
                    </a:lnL>
                    <a:lnR>
                      <a:noFill/>
                    </a:lnR>
                    <a:lnT>
                      <a:noFill/>
                    </a:lnT>
                    <a:lnB>
                      <a:noFill/>
                    </a:lnB>
                    <a:solidFill>
                      <a:srgbClr val="DBEAFE"/>
                    </a:solidFill>
                  </a:tcPr>
                </a:tc>
                <a:tc>
                  <a:txBody>
                    <a:bodyPr/>
                    <a:lstStyle/>
                    <a:p>
                      <a:pPr algn="l"/>
                      <a:r>
                        <a:rPr sz="975" b="1" i="0" u="none">
                          <a:solidFill>
                            <a:srgbClr val="334155"/>
                          </a:solidFill>
                          <a:latin typeface="Inter"/>
                        </a:rPr>
                        <a:t>394</a:t>
                      </a:r>
                    </a:p>
                  </a:txBody>
                  <a:tcPr marL="63500" marR="63500" marT="25400" marB="25400" anchor="ctr">
                    <a:lnL>
                      <a:noFill/>
                    </a:lnL>
                    <a:lnR>
                      <a:noFill/>
                    </a:lnR>
                    <a:lnT>
                      <a:noFill/>
                    </a:lnT>
                    <a:lnB>
                      <a:noFill/>
                    </a:lnB>
                    <a:solidFill>
                      <a:srgbClr val="DBEAFE"/>
                    </a:solidFill>
                  </a:tcPr>
                </a:tc>
                <a:tc>
                  <a:txBody>
                    <a:bodyPr/>
                    <a:lstStyle/>
                    <a:p>
                      <a:pPr algn="l"/>
                      <a:r>
                        <a:rPr sz="975" b="1" i="0" u="none">
                          <a:solidFill>
                            <a:srgbClr val="334155"/>
                          </a:solidFill>
                          <a:latin typeface="Inter"/>
                        </a:rPr>
                        <a:t>$111K</a:t>
                      </a:r>
                    </a:p>
                  </a:txBody>
                  <a:tcPr marL="63500" marR="63500" marT="25400" marB="25400" anchor="ctr">
                    <a:lnL>
                      <a:noFill/>
                    </a:lnL>
                    <a:lnR>
                      <a:noFill/>
                    </a:lnR>
                    <a:lnT>
                      <a:noFill/>
                    </a:lnT>
                    <a:lnB>
                      <a:noFill/>
                    </a:lnB>
                    <a:solidFill>
                      <a:srgbClr val="DBEAFE"/>
                    </a:solidFill>
                  </a:tcPr>
                </a:tc>
                <a:tc>
                  <a:txBody>
                    <a:bodyPr/>
                    <a:lstStyle/>
                    <a:p>
                      <a:pPr algn="l"/>
                      <a:r>
                        <a:rPr sz="975" b="1" i="0" u="none">
                          <a:solidFill>
                            <a:srgbClr val="334155"/>
                          </a:solidFill>
                          <a:latin typeface="Inter"/>
                        </a:rPr>
                        <a:t>PKR 30.8M</a:t>
                      </a:r>
                    </a:p>
                  </a:txBody>
                  <a:tcPr marL="63500" marR="63500" marT="25400" marB="25400" anchor="ctr">
                    <a:lnL>
                      <a:noFill/>
                    </a:lnL>
                    <a:lnR>
                      <a:noFill/>
                    </a:lnR>
                    <a:lnT>
                      <a:noFill/>
                    </a:lnT>
                    <a:lnB>
                      <a:noFill/>
                    </a:lnB>
                    <a:solidFill>
                      <a:srgbClr val="DBEAFE"/>
                    </a:solidFill>
                  </a:tcPr>
                </a:tc>
              </a:tr>
            </a:tbl>
          </a:graphicData>
        </a:graphic>
      </p:graphicFrame>
      <p:sp>
        <p:nvSpPr>
          <p:cNvPr id="24" name="TextBox 23"/>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[1] APP Economic Survey 2025-26 · [2] Express Tribune (2.37M freelancers) · [3] PenflowAI Survey Q9 · [4] Statista Market Insights 2026 · [5] DeepStrike · [6] MarketsandMarkets (10 Apr 2026) · FX: Mettis</a:t>
            </a:r>
          </a:p>
        </p:txBody>
      </p:sp>
      <p:sp>
        <p:nvSpPr>
          <p:cNvPr id="25" name="TextBox 24"/>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26" name="TextBox 25"/>
          <p:cNvSpPr txBox="1"/>
          <p:nvPr/>
        </p:nvSpPr>
        <p:spPr>
          <a:xfrm>
            <a:off x="457200" y="381000"/>
            <a:ext cx="6262687" cy="152400"/>
          </a:xfrm>
          <a:prstGeom prst="rect">
            <a:avLst/>
          </a:prstGeom>
          <a:noFill/>
        </p:spPr>
        <p:txBody>
          <a:bodyPr wrap="none" lIns="0" tIns="0" rIns="0" bIns="0" anchor="t">
            <a:spAutoFit/>
          </a:bodyPr>
          <a:lstStyle/>
          <a:p>
            <a:pPr algn="l"/>
            <a:r>
              <a:rPr sz="975" b="1" i="0" u="none">
                <a:solidFill>
                  <a:srgbClr val="2563EB"/>
                </a:solidFill>
                <a:latin typeface="Inter"/>
              </a:rPr>
              <a:t>FINANCIAL OPPORTUNITY</a:t>
            </a:r>
          </a:p>
        </p:txBody>
      </p:sp>
      <p:sp>
        <p:nvSpPr>
          <p:cNvPr id="27" name="TextBox 26"/>
          <p:cNvSpPr txBox="1"/>
          <p:nvPr/>
        </p:nvSpPr>
        <p:spPr>
          <a:xfrm>
            <a:off x="457200" y="571500"/>
            <a:ext cx="6575821"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Market Size in Pakistan (TAM, SAM, SOM)</a:t>
            </a:r>
          </a:p>
        </p:txBody>
      </p:sp>
      <p:sp>
        <p:nvSpPr>
          <p:cNvPr id="28" name="TextBox 27"/>
          <p:cNvSpPr txBox="1"/>
          <p:nvPr/>
        </p:nvSpPr>
        <p:spPr>
          <a:xfrm>
            <a:off x="581025" y="2706885"/>
            <a:ext cx="11610975" cy="142875"/>
          </a:xfrm>
          <a:prstGeom prst="rect">
            <a:avLst/>
          </a:prstGeom>
          <a:noFill/>
        </p:spPr>
        <p:txBody>
          <a:bodyPr wrap="none" lIns="0" tIns="0" rIns="0" bIns="0" anchor="t">
            <a:spAutoFit/>
          </a:bodyPr>
          <a:lstStyle/>
          <a:p>
            <a:pPr algn="l"/>
            <a:r>
              <a:rPr sz="900" b="1" i="0" u="none">
                <a:solidFill>
                  <a:srgbClr val="0F172A"/>
                </a:solidFill>
                <a:latin typeface="Inter"/>
              </a:rPr>
              <a:t>Derivation Methodology:</a:t>
            </a:r>
          </a:p>
        </p:txBody>
      </p:sp>
      <p:sp>
        <p:nvSpPr>
          <p:cNvPr id="29" name="TextBox 28"/>
          <p:cNvSpPr txBox="1"/>
          <p:nvPr/>
        </p:nvSpPr>
        <p:spPr>
          <a:xfrm>
            <a:off x="581025" y="4259460"/>
            <a:ext cx="11610975" cy="152400"/>
          </a:xfrm>
          <a:prstGeom prst="rect">
            <a:avLst/>
          </a:prstGeom>
          <a:noFill/>
        </p:spPr>
        <p:txBody>
          <a:bodyPr wrap="none" lIns="0" tIns="0" rIns="0" bIns="0" anchor="t">
            <a:spAutoFit/>
          </a:bodyPr>
          <a:lstStyle/>
          <a:p>
            <a:pPr algn="l"/>
            <a:r>
              <a:rPr sz="975" b="1" i="0" u="none">
                <a:solidFill>
                  <a:srgbClr val="1E40AF"/>
                </a:solidFill>
                <a:latin typeface="Inter"/>
              </a:rPr>
              <a:t>Context &amp; Reality Check</a:t>
            </a:r>
          </a:p>
        </p:txBody>
      </p:sp>
      <p:sp>
        <p:nvSpPr>
          <p:cNvPr id="30" name="TextBox 29"/>
          <p:cNvSpPr txBox="1"/>
          <p:nvPr/>
        </p:nvSpPr>
        <p:spPr>
          <a:xfrm>
            <a:off x="581025" y="4449960"/>
            <a:ext cx="11610975" cy="142875"/>
          </a:xfrm>
          <a:prstGeom prst="rect">
            <a:avLst/>
          </a:prstGeom>
          <a:noFill/>
        </p:spPr>
        <p:txBody>
          <a:bodyPr wrap="none" lIns="0" tIns="0" rIns="0" bIns="0" anchor="t">
            <a:spAutoFit/>
          </a:bodyPr>
          <a:lstStyle/>
          <a:p>
            <a:pPr algn="l"/>
            <a:r>
              <a:rPr sz="900" b="0" i="0" u="none">
                <a:solidFill>
                  <a:srgbClr val="1E293B"/>
                </a:solidFill>
                <a:latin typeface="Inter"/>
              </a:rPr>
              <a:t>All cyber solutions in Pakistan sell ~$112.2M in 2026. [4] TAM is a hypothetical maximum; our core pitch focuses on defending the realistic </a:t>
            </a:r>
            <a:r>
              <a:rPr sz="900" b="1" i="0" u="none">
                <a:solidFill>
                  <a:srgbClr val="1E293B"/>
                </a:solidFill>
                <a:latin typeface="Inter"/>
              </a:rPr>
              <a:t>SOM</a:t>
            </a:r>
            <a:r>
              <a:rPr sz="900" b="0" i="0" u="none">
                <a:solidFill>
                  <a:srgbClr val="1E293B"/>
                </a:solidFill>
                <a:latin typeface="Inter"/>
              </a:rPr>
              <a:t>.</a:t>
            </a:r>
          </a:p>
        </p:txBody>
      </p:sp>
      <p:sp>
        <p:nvSpPr>
          <p:cNvPr id="31" name="TextBox 30"/>
          <p:cNvSpPr txBox="1"/>
          <p:nvPr/>
        </p:nvSpPr>
        <p:spPr>
          <a:xfrm>
            <a:off x="581025" y="4935735"/>
            <a:ext cx="11610975" cy="152400"/>
          </a:xfrm>
          <a:prstGeom prst="rect">
            <a:avLst/>
          </a:prstGeom>
          <a:noFill/>
        </p:spPr>
        <p:txBody>
          <a:bodyPr wrap="none" lIns="0" tIns="0" rIns="0" bIns="0" anchor="t">
            <a:spAutoFit/>
          </a:bodyPr>
          <a:lstStyle/>
          <a:p>
            <a:pPr algn="l"/>
            <a:r>
              <a:rPr sz="975" b="1" i="0" u="none">
                <a:solidFill>
                  <a:srgbClr val="0F172A"/>
                </a:solidFill>
                <a:latin typeface="Inter"/>
              </a:rPr>
              <a:t>Global Market Outlook</a:t>
            </a:r>
          </a:p>
        </p:txBody>
      </p:sp>
      <p:sp>
        <p:nvSpPr>
          <p:cNvPr id="32" name="TextBox 31"/>
          <p:cNvSpPr txBox="1"/>
          <p:nvPr/>
        </p:nvSpPr>
        <p:spPr>
          <a:xfrm>
            <a:off x="581025" y="5126235"/>
            <a:ext cx="11125200" cy="266700"/>
          </a:xfrm>
          <a:prstGeom prst="rect">
            <a:avLst/>
          </a:prstGeom>
          <a:noFill/>
        </p:spPr>
        <p:txBody>
          <a:bodyPr wrap="square" lIns="0" tIns="0" rIns="0" bIns="0" anchor="t">
            <a:spAutoFit/>
          </a:bodyPr>
          <a:lstStyle/>
          <a:p>
            <a:pPr algn="l"/>
            <a:r>
              <a:rPr sz="862" b="0" i="0" u="none">
                <a:solidFill>
                  <a:srgbClr val="475569"/>
                </a:solidFill>
                <a:latin typeface="Inter"/>
              </a:rPr>
              <a:t>Pentesting global market: $3.1B in 2026 → $7.4B by 2034. [5]</a:t>
            </a:r>
            <a:r>
              <a:t>
</a:t>
            </a:r>
            <a:r>
              <a:rPr sz="862" b="0" i="0" u="none">
                <a:solidFill>
                  <a:srgbClr val="475569"/>
                </a:solidFill>
                <a:latin typeface="Inter"/>
              </a:rPr>
              <a:t> PaaS (Pentest-as-a-Service) segment: $0.72B → $1.98B by 2031 (22.6% CAGR). [6]</a:t>
            </a:r>
          </a:p>
        </p:txBody>
      </p:sp>
      <p:sp>
        <p:nvSpPr>
          <p:cNvPr id="33" name="TextBox 32"/>
          <p:cNvSpPr txBox="1"/>
          <p:nvPr/>
        </p:nvSpPr>
        <p:spPr>
          <a:xfrm>
            <a:off x="752475" y="2887860"/>
            <a:ext cx="11439525" cy="161925"/>
          </a:xfrm>
          <a:prstGeom prst="rect">
            <a:avLst/>
          </a:prstGeom>
          <a:noFill/>
        </p:spPr>
        <p:txBody>
          <a:bodyPr wrap="none" lIns="0" tIns="0" rIns="0" bIns="0" anchor="t">
            <a:spAutoFit/>
          </a:bodyPr>
          <a:lstStyle/>
          <a:p>
            <a:pPr algn="l"/>
            <a:r>
              <a:rPr sz="1050" b="0" i="0" u="none">
                <a:solidFill>
                  <a:srgbClr val="334155"/>
                </a:solidFill>
                <a:latin typeface="Inter"/>
              </a:rPr>
              <a:t>34,420 IT firms × $468 (Pro: $39×12) = $16.11M [1]</a:t>
            </a:r>
          </a:p>
        </p:txBody>
      </p:sp>
      <p:sp>
        <p:nvSpPr>
          <p:cNvPr id="34" name="TextBox 33"/>
          <p:cNvSpPr txBox="1"/>
          <p:nvPr/>
        </p:nvSpPr>
        <p:spPr>
          <a:xfrm>
            <a:off x="752475" y="3125985"/>
            <a:ext cx="11439525" cy="171450"/>
          </a:xfrm>
          <a:prstGeom prst="rect">
            <a:avLst/>
          </a:prstGeom>
          <a:noFill/>
        </p:spPr>
        <p:txBody>
          <a:bodyPr wrap="none" lIns="0" tIns="0" rIns="0" bIns="0" anchor="t">
            <a:spAutoFit/>
          </a:bodyPr>
          <a:lstStyle/>
          <a:p>
            <a:pPr algn="l"/>
            <a:r>
              <a:rPr sz="1050" b="0" i="0" u="none">
                <a:solidFill>
                  <a:srgbClr val="334155"/>
                </a:solidFill>
                <a:latin typeface="Inter"/>
              </a:rPr>
              <a:t>118,500 freelance web devs × $228 (Starter: $19×12) = $27.02M (5% of 2.37M total freelancers ⚠) [2]</a:t>
            </a:r>
          </a:p>
        </p:txBody>
      </p:sp>
      <p:sp>
        <p:nvSpPr>
          <p:cNvPr id="35" name="TextBox 34"/>
          <p:cNvSpPr txBox="1"/>
          <p:nvPr/>
        </p:nvSpPr>
        <p:spPr>
          <a:xfrm>
            <a:off x="752475" y="3373635"/>
            <a:ext cx="11439525" cy="161925"/>
          </a:xfrm>
          <a:prstGeom prst="rect">
            <a:avLst/>
          </a:prstGeom>
          <a:noFill/>
        </p:spPr>
        <p:txBody>
          <a:bodyPr wrap="none" lIns="0" tIns="0" rIns="0" bIns="0" anchor="t">
            <a:spAutoFit/>
          </a:bodyPr>
          <a:lstStyle/>
          <a:p>
            <a:pPr algn="l"/>
            <a:r>
              <a:rPr sz="1050" b="1" i="0" u="none">
                <a:solidFill>
                  <a:srgbClr val="334155"/>
                </a:solidFill>
                <a:latin typeface="Inter"/>
              </a:rPr>
              <a:t>SAM:</a:t>
            </a:r>
            <a:r>
              <a:rPr sz="1050" b="0" i="0" u="none">
                <a:solidFill>
                  <a:srgbClr val="334155"/>
                </a:solidFill>
                <a:latin typeface="Inter"/>
              </a:rPr>
              <a:t> TAM × 51.5% (Survey willingness to pay) [3]</a:t>
            </a:r>
          </a:p>
        </p:txBody>
      </p:sp>
      <p:sp>
        <p:nvSpPr>
          <p:cNvPr id="36" name="TextBox 35"/>
          <p:cNvSpPr txBox="1"/>
          <p:nvPr/>
        </p:nvSpPr>
        <p:spPr>
          <a:xfrm>
            <a:off x="752475" y="3611760"/>
            <a:ext cx="11439525" cy="171450"/>
          </a:xfrm>
          <a:prstGeom prst="rect">
            <a:avLst/>
          </a:prstGeom>
          <a:noFill/>
        </p:spPr>
        <p:txBody>
          <a:bodyPr wrap="none" lIns="0" tIns="0" rIns="0" bIns="0" anchor="t">
            <a:spAutoFit/>
          </a:bodyPr>
          <a:lstStyle/>
          <a:p>
            <a:pPr algn="l"/>
            <a:r>
              <a:rPr sz="1050" b="1" i="0" u="none">
                <a:solidFill>
                  <a:srgbClr val="334155"/>
                </a:solidFill>
                <a:latin typeface="Inter"/>
              </a:rPr>
              <a:t>SOM:</a:t>
            </a:r>
            <a:r>
              <a:rPr sz="1050" b="0" i="0" u="none">
                <a:solidFill>
                  <a:srgbClr val="334155"/>
                </a:solidFill>
                <a:latin typeface="Inter"/>
              </a:rPr>
              <a:t> 0.5% of SAM ≈ 89 companies + 305 freelancers (⚠) (~16 new paying accounts/mo for 24 mos)</a:t>
            </a:r>
          </a:p>
        </p:txBody>
      </p:sp>
      <p:sp>
        <p:nvSpPr>
          <p:cNvPr id="37" name="TextBox 36"/>
          <p:cNvSpPr txBox="1"/>
          <p:nvPr/>
        </p:nvSpPr>
        <p:spPr>
          <a:xfrm>
            <a:off x="581025" y="2868810"/>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38" name="TextBox 37"/>
          <p:cNvSpPr txBox="1"/>
          <p:nvPr/>
        </p:nvSpPr>
        <p:spPr>
          <a:xfrm>
            <a:off x="581025" y="3106935"/>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39" name="TextBox 38"/>
          <p:cNvSpPr txBox="1"/>
          <p:nvPr/>
        </p:nvSpPr>
        <p:spPr>
          <a:xfrm>
            <a:off x="581025" y="3354585"/>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40" name="TextBox 39"/>
          <p:cNvSpPr txBox="1"/>
          <p:nvPr/>
        </p:nvSpPr>
        <p:spPr>
          <a:xfrm>
            <a:off x="581025" y="3592710"/>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7200" y="6331297"/>
            <a:ext cx="4243149" cy="141064"/>
          </a:xfrm>
          <a:prstGeom prst="rect">
            <a:avLst/>
          </a:prstGeom>
          <a:noFill/>
        </p:spPr>
        <p:txBody>
          <a:bodyPr wrap="none" lIns="0" tIns="0" rIns="0" bIns="0" anchor="t">
            <a:spAutoFit/>
          </a:bodyPr>
          <a:lstStyle/>
          <a:p>
            <a:pPr algn="l">
              <a:lnSpc>
                <a:spcPts val="1072"/>
              </a:lnSpc>
            </a:pPr>
            <a:r>
              <a:rPr sz="825" b="1" i="0" u="none" dirty="0">
                <a:solidFill>
                  <a:srgbClr val="64748B"/>
                </a:solidFill>
                <a:latin typeface="Inter"/>
              </a:rPr>
              <a:t>Sources:</a:t>
            </a:r>
            <a:r>
              <a:rPr sz="825" b="0" i="0" u="none" dirty="0">
                <a:solidFill>
                  <a:srgbClr val="64748B"/>
                </a:solidFill>
                <a:latin typeface="Inter"/>
              </a:rPr>
              <a:t> [1] </a:t>
            </a:r>
            <a:r>
              <a:rPr sz="825" b="0" i="0" u="none" dirty="0" err="1">
                <a:solidFill>
                  <a:srgbClr val="64748B"/>
                </a:solidFill>
                <a:latin typeface="Inter"/>
              </a:rPr>
              <a:t>CodeAnt</a:t>
            </a:r>
            <a:r>
              <a:rPr sz="825" b="0" i="0" u="none" dirty="0">
                <a:solidFill>
                  <a:srgbClr val="64748B"/>
                </a:solidFill>
                <a:latin typeface="Inter"/>
              </a:rPr>
              <a:t> Burp Pricing · [2] </a:t>
            </a:r>
            <a:r>
              <a:rPr sz="825" b="0" i="0" u="none" dirty="0" err="1">
                <a:solidFill>
                  <a:srgbClr val="64748B"/>
                </a:solidFill>
                <a:latin typeface="Inter"/>
              </a:rPr>
              <a:t>CodeAnt</a:t>
            </a:r>
            <a:r>
              <a:rPr sz="825" b="0" i="0" u="none" dirty="0">
                <a:solidFill>
                  <a:srgbClr val="64748B"/>
                </a:solidFill>
                <a:latin typeface="Inter"/>
              </a:rPr>
              <a:t> XBOW Pricing (tiers retired July 2026) </a:t>
            </a:r>
          </a:p>
        </p:txBody>
      </p:sp>
      <p:sp>
        <p:nvSpPr>
          <p:cNvPr id="42" name="TextBox 41"/>
          <p:cNvSpPr txBox="1"/>
          <p:nvPr/>
        </p:nvSpPr>
        <p:spPr>
          <a:xfrm>
            <a:off x="10934700" y="438150"/>
            <a:ext cx="800100" cy="190500"/>
          </a:xfrm>
          <a:prstGeom prst="rect">
            <a:avLst/>
          </a:prstGeom>
          <a:noFill/>
        </p:spPr>
        <p:txBody>
          <a:bodyPr wrap="square" lIns="0" tIns="0" rIns="0" bIns="0" anchor="t">
            <a:spAutoFit/>
          </a:bodyPr>
          <a:lstStyle/>
          <a:p>
            <a:pPr algn="l"/>
            <a:r>
              <a:rPr sz="1050" b="1" i="0" u="none" dirty="0" err="1">
                <a:solidFill>
                  <a:srgbClr val="3B82F6"/>
                </a:solidFill>
                <a:latin typeface="JetBrains Mono"/>
              </a:rPr>
              <a:t>PenflowAI</a:t>
            </a:r>
            <a:endParaRPr sz="1050" b="1" i="0" u="none" dirty="0">
              <a:solidFill>
                <a:srgbClr val="3B82F6"/>
              </a:solidFill>
              <a:latin typeface="JetBrains Mono"/>
            </a:endParaRPr>
          </a:p>
        </p:txBody>
      </p:sp>
      <p:sp>
        <p:nvSpPr>
          <p:cNvPr id="43" name="TextBox 42"/>
          <p:cNvSpPr txBox="1"/>
          <p:nvPr/>
        </p:nvSpPr>
        <p:spPr>
          <a:xfrm>
            <a:off x="457200" y="381000"/>
            <a:ext cx="3226593" cy="152400"/>
          </a:xfrm>
          <a:prstGeom prst="rect">
            <a:avLst/>
          </a:prstGeom>
          <a:noFill/>
        </p:spPr>
        <p:txBody>
          <a:bodyPr wrap="none" lIns="0" tIns="0" rIns="0" bIns="0" anchor="t">
            <a:spAutoFit/>
          </a:bodyPr>
          <a:lstStyle/>
          <a:p>
            <a:pPr algn="l"/>
            <a:r>
              <a:rPr sz="975" b="1" i="0" u="none">
                <a:solidFill>
                  <a:srgbClr val="2563EB"/>
                </a:solidFill>
                <a:latin typeface="Inter"/>
              </a:rPr>
              <a:t>LANDSCAPE MATRIX</a:t>
            </a:r>
          </a:p>
        </p:txBody>
      </p:sp>
      <p:sp>
        <p:nvSpPr>
          <p:cNvPr id="44" name="TextBox 43"/>
          <p:cNvSpPr txBox="1"/>
          <p:nvPr/>
        </p:nvSpPr>
        <p:spPr>
          <a:xfrm>
            <a:off x="457200" y="571500"/>
            <a:ext cx="3387923"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Competitive Analysis</a:t>
            </a:r>
          </a:p>
        </p:txBody>
      </p:sp>
      <p:graphicFrame>
        <p:nvGraphicFramePr>
          <p:cNvPr id="48" name="Table 47"/>
          <p:cNvGraphicFramePr>
            <a:graphicFrameLocks noGrp="1"/>
          </p:cNvGraphicFramePr>
          <p:nvPr>
            <p:extLst>
              <p:ext uri="{D42A27DB-BD31-4B8C-83A1-F6EECF244321}">
                <p14:modId xmlns:p14="http://schemas.microsoft.com/office/powerpoint/2010/main" val="960775713"/>
              </p:ext>
            </p:extLst>
          </p:nvPr>
        </p:nvGraphicFramePr>
        <p:xfrm>
          <a:off x="457200" y="917367"/>
          <a:ext cx="11277600" cy="5282706"/>
        </p:xfrm>
        <a:graphic>
          <a:graphicData uri="http://schemas.openxmlformats.org/drawingml/2006/table">
            <a:tbl>
              <a:tblPr firstRow="1" firstCol="1" bandRow="1">
                <a:tableStyleId>{5C22544A-7EE6-4342-B048-85BDC9FD1C3A}</a:tableStyleId>
              </a:tblPr>
              <a:tblGrid>
                <a:gridCol w="1409700"/>
                <a:gridCol w="1409700"/>
                <a:gridCol w="1409700"/>
                <a:gridCol w="1409700"/>
                <a:gridCol w="1409700"/>
                <a:gridCol w="1409700"/>
                <a:gridCol w="1409700"/>
                <a:gridCol w="1409700"/>
              </a:tblGrid>
              <a:tr h="377092">
                <a:tc>
                  <a:txBody>
                    <a:bodyPr/>
                    <a:lstStyle/>
                    <a:p>
                      <a:pPr marL="0" marR="0" algn="ctr">
                        <a:lnSpc>
                          <a:spcPct val="107000"/>
                        </a:lnSpc>
                        <a:spcBef>
                          <a:spcPts val="0"/>
                        </a:spcBef>
                        <a:spcAft>
                          <a:spcPts val="2400"/>
                        </a:spcAft>
                      </a:pPr>
                      <a:r>
                        <a:rPr lang="en-US" sz="1200" dirty="0">
                          <a:effectLst/>
                        </a:rPr>
                        <a:t>Feature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Escape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XBOW</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Aikido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dirty="0" err="1">
                          <a:effectLst/>
                        </a:rPr>
                        <a:t>Invicti</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Burp Suite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Cobalt.io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dirty="0" err="1">
                          <a:effectLst/>
                        </a:rPr>
                        <a:t>PenflowAI</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r h="641821">
                <a:tc>
                  <a:txBody>
                    <a:bodyPr/>
                    <a:lstStyle/>
                    <a:p>
                      <a:pPr marL="0" marR="0">
                        <a:lnSpc>
                          <a:spcPct val="107000"/>
                        </a:lnSpc>
                        <a:spcBef>
                          <a:spcPts val="0"/>
                        </a:spcBef>
                        <a:spcAft>
                          <a:spcPts val="2400"/>
                        </a:spcAft>
                      </a:pPr>
                      <a:r>
                        <a:rPr lang="en-US" sz="1200">
                          <a:effectLst/>
                        </a:rPr>
                        <a:t>Finds common web vulnerabilities (SQLi, XSS, etc.)</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dirty="0">
                          <a:effectLst/>
                        </a:rPr>
                        <a:t>Yes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dirty="0">
                          <a:effectLst/>
                        </a:rPr>
                        <a:t>Yes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447718">
                <a:tc>
                  <a:txBody>
                    <a:bodyPr/>
                    <a:lstStyle/>
                    <a:p>
                      <a:pPr marL="0" marR="0">
                        <a:lnSpc>
                          <a:spcPct val="107000"/>
                        </a:lnSpc>
                        <a:spcBef>
                          <a:spcPts val="0"/>
                        </a:spcBef>
                        <a:spcAft>
                          <a:spcPts val="2400"/>
                        </a:spcAft>
                      </a:pPr>
                      <a:r>
                        <a:rPr lang="en-US" sz="1200">
                          <a:effectLst/>
                        </a:rPr>
                        <a:t>Business logic bugs (IDOR, BOLA)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Manual-only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Human-found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No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r>
              <a:tr h="253616">
                <a:tc>
                  <a:txBody>
                    <a:bodyPr/>
                    <a:lstStyle/>
                    <a:p>
                      <a:pPr marL="0" marR="0">
                        <a:lnSpc>
                          <a:spcPct val="107000"/>
                        </a:lnSpc>
                        <a:spcBef>
                          <a:spcPts val="0"/>
                        </a:spcBef>
                        <a:spcAft>
                          <a:spcPts val="2400"/>
                        </a:spcAft>
                      </a:pPr>
                      <a:r>
                        <a:rPr lang="en-US" sz="1200">
                          <a:effectLst/>
                        </a:rPr>
                        <a:t>Severity/risk scoring</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Human judgment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dirty="0">
                          <a:effectLst/>
                        </a:rPr>
                        <a:t>Yes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641821">
                <a:tc>
                  <a:txBody>
                    <a:bodyPr/>
                    <a:lstStyle/>
                    <a:p>
                      <a:pPr marL="0" marR="0">
                        <a:lnSpc>
                          <a:spcPct val="107000"/>
                        </a:lnSpc>
                        <a:spcBef>
                          <a:spcPts val="0"/>
                        </a:spcBef>
                        <a:spcAft>
                          <a:spcPts val="2400"/>
                        </a:spcAft>
                      </a:pPr>
                      <a:r>
                        <a:rPr lang="en-US" sz="1200">
                          <a:effectLst/>
                        </a:rPr>
                        <a:t>Real-world threat intelligence correlation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Yes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r>
              <a:tr h="641821">
                <a:tc>
                  <a:txBody>
                    <a:bodyPr/>
                    <a:lstStyle/>
                    <a:p>
                      <a:pPr marL="0" marR="0">
                        <a:lnSpc>
                          <a:spcPct val="107000"/>
                        </a:lnSpc>
                        <a:spcBef>
                          <a:spcPts val="0"/>
                        </a:spcBef>
                        <a:spcAft>
                          <a:spcPts val="2400"/>
                        </a:spcAft>
                      </a:pPr>
                      <a:r>
                        <a:rPr lang="en-US" sz="1200">
                          <a:effectLst/>
                        </a:rPr>
                        <a:t>Authorization/scope document fraud checking</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dirty="0">
                          <a:effectLst/>
                        </a:rPr>
                        <a:t>No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dirty="0">
                          <a:effectLst/>
                        </a:rPr>
                        <a:t>No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dirty="0">
                          <a:effectLst/>
                        </a:rPr>
                        <a:t>Yes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447718">
                <a:tc>
                  <a:txBody>
                    <a:bodyPr/>
                    <a:lstStyle/>
                    <a:p>
                      <a:pPr marL="0" marR="0">
                        <a:lnSpc>
                          <a:spcPct val="107000"/>
                        </a:lnSpc>
                        <a:spcBef>
                          <a:spcPts val="0"/>
                        </a:spcBef>
                        <a:spcAft>
                          <a:spcPts val="2400"/>
                        </a:spcAft>
                      </a:pPr>
                      <a:r>
                        <a:rPr lang="en-US" sz="1200">
                          <a:effectLst/>
                        </a:rPr>
                        <a:t>Technical scope enforcement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Partial (allow-lists)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Partial (allow-lists)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Yes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r>
              <a:tr h="447718">
                <a:tc>
                  <a:txBody>
                    <a:bodyPr/>
                    <a:lstStyle/>
                    <a:p>
                      <a:pPr marL="0" marR="0">
                        <a:lnSpc>
                          <a:spcPct val="107000"/>
                        </a:lnSpc>
                        <a:spcBef>
                          <a:spcPts val="0"/>
                        </a:spcBef>
                        <a:spcAft>
                          <a:spcPts val="2400"/>
                        </a:spcAft>
                      </a:pPr>
                      <a:r>
                        <a:rPr lang="en-US" sz="1200">
                          <a:effectLst/>
                        </a:rPr>
                        <a:t>Action logging / audit trail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dirty="0">
                          <a:effectLst/>
                        </a:rPr>
                        <a:t>Yes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447718">
                <a:tc>
                  <a:txBody>
                    <a:bodyPr/>
                    <a:lstStyle/>
                    <a:p>
                      <a:pPr marL="0" marR="0">
                        <a:lnSpc>
                          <a:spcPct val="107000"/>
                        </a:lnSpc>
                        <a:spcBef>
                          <a:spcPts val="0"/>
                        </a:spcBef>
                        <a:spcAft>
                          <a:spcPts val="2400"/>
                        </a:spcAft>
                      </a:pPr>
                      <a:r>
                        <a:rPr lang="en-US" sz="1200">
                          <a:effectLst/>
                        </a:rPr>
                        <a:t>Plain-language reporting</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Partial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Human-written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Yes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r>
              <a:tr h="447718">
                <a:tc>
                  <a:txBody>
                    <a:bodyPr/>
                    <a:lstStyle/>
                    <a:p>
                      <a:pPr marL="0" marR="0">
                        <a:lnSpc>
                          <a:spcPct val="107000"/>
                        </a:lnSpc>
                        <a:spcBef>
                          <a:spcPts val="0"/>
                        </a:spcBef>
                        <a:spcAft>
                          <a:spcPts val="2400"/>
                        </a:spcAft>
                      </a:pPr>
                      <a:r>
                        <a:rPr lang="en-US" sz="1200" dirty="0">
                          <a:effectLst/>
                        </a:rPr>
                        <a:t>Developer-ready fix suggestions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Yes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a:effectLst/>
                        </a:rPr>
                        <a:t>Human-written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07000"/>
                        </a:lnSpc>
                        <a:spcBef>
                          <a:spcPts val="0"/>
                        </a:spcBef>
                        <a:spcAft>
                          <a:spcPts val="2400"/>
                        </a:spcAft>
                      </a:pPr>
                      <a:r>
                        <a:rPr lang="en-US" sz="1200" dirty="0">
                          <a:effectLst/>
                        </a:rPr>
                        <a:t>Basic</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447718">
                <a:tc>
                  <a:txBody>
                    <a:bodyPr/>
                    <a:lstStyle/>
                    <a:p>
                      <a:pPr marL="0" marR="0">
                        <a:lnSpc>
                          <a:spcPct val="107000"/>
                        </a:lnSpc>
                        <a:spcBef>
                          <a:spcPts val="0"/>
                        </a:spcBef>
                        <a:spcAft>
                          <a:spcPts val="2400"/>
                        </a:spcAft>
                      </a:pPr>
                      <a:r>
                        <a:rPr lang="en-US" sz="1200" dirty="0">
                          <a:effectLst/>
                        </a:rPr>
                        <a:t>Pricing Plan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marL="0" marR="0" algn="ctr">
                        <a:lnSpc>
                          <a:spcPct val="107000"/>
                        </a:lnSpc>
                        <a:spcBef>
                          <a:spcPts val="0"/>
                        </a:spcBef>
                        <a:spcAft>
                          <a:spcPts val="2400"/>
                        </a:spcAft>
                      </a:pPr>
                      <a:r>
                        <a:rPr lang="en-US" sz="1200">
                          <a:effectLst/>
                        </a:rPr>
                        <a:t>Custom Enterprise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DNF</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Free tier / ~$119/</a:t>
                      </a:r>
                      <a:r>
                        <a:rPr lang="en-US" sz="1200" dirty="0" err="1">
                          <a:effectLst/>
                        </a:rPr>
                        <a:t>mo</a:t>
                      </a:r>
                      <a:r>
                        <a:rPr lang="en-US" sz="1200" dirty="0">
                          <a:effectLst/>
                        </a:rPr>
                        <a:t> Pro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Enterprise custom (~$15k+/</a:t>
                      </a:r>
                      <a:r>
                        <a:rPr lang="en-US" sz="1200" dirty="0" err="1">
                          <a:effectLst/>
                        </a:rPr>
                        <a:t>yr</a:t>
                      </a:r>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$499/year (Pro)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a:effectLst/>
                        </a:rPr>
                        <a:t>PtaaS credits (~$20k+/yr)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2400"/>
                        </a:spcAft>
                      </a:pPr>
                      <a:r>
                        <a:rPr lang="en-US" sz="1200" dirty="0">
                          <a:effectLst/>
                        </a:rPr>
                        <a:t>Free, $19, $39, $89/</a:t>
                      </a:r>
                      <a:r>
                        <a:rPr lang="en-US" sz="1200" dirty="0" err="1">
                          <a:effectLst/>
                        </a:rPr>
                        <a:t>mo</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1482" marR="51482" marT="34321" marB="34321" anchor="ctr">
                    <a:lnL w="3175" cap="flat" cmpd="sng" algn="ctr">
                      <a:solidFill>
                        <a:schemeClr val="tx1"/>
                      </a:solidFill>
                      <a:prstDash val="sysDashDotDot"/>
                      <a:round/>
                      <a:headEnd type="none" w="med" len="med"/>
                      <a:tailEnd type="none" w="med" len="med"/>
                    </a:lnL>
                    <a:lnR w="3175" cap="flat" cmpd="sng" algn="ctr">
                      <a:solidFill>
                        <a:schemeClr val="tx1"/>
                      </a:solidFill>
                      <a:prstDash val="sysDashDotDot"/>
                      <a:round/>
                      <a:headEnd type="none" w="med" len="med"/>
                      <a:tailEnd type="none" w="med" len="med"/>
                    </a:lnR>
                    <a:lnT w="3175" cap="flat" cmpd="sng" algn="ctr">
                      <a:solidFill>
                        <a:schemeClr val="tx1"/>
                      </a:solidFill>
                      <a:prstDash val="sysDashDotDot"/>
                      <a:round/>
                      <a:headEnd type="none" w="med" len="med"/>
                      <a:tailEnd type="none" w="med" len="med"/>
                    </a:lnT>
                    <a:lnB w="3175" cap="flat" cmpd="sng" algn="ctr">
                      <a:solidFill>
                        <a:schemeClr val="tx1"/>
                      </a:solidFill>
                      <a:prstDash val="sysDashDotDot"/>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182885"/>
            <a:ext cx="3682900" cy="2440781"/>
          </a:xfrm>
          <a:prstGeom prst="roundRect">
            <a:avLst>
              <a:gd name="adj" fmla="val 39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254400" y="1182885"/>
            <a:ext cx="3683049" cy="2440781"/>
          </a:xfrm>
          <a:prstGeom prst="roundRect">
            <a:avLst>
              <a:gd name="adj" fmla="val 3902"/>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51750" y="1182885"/>
            <a:ext cx="3682900" cy="2440781"/>
          </a:xfrm>
          <a:prstGeom prst="roundRect">
            <a:avLst>
              <a:gd name="adj" fmla="val 39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3737967"/>
            <a:ext cx="3682900" cy="2440930"/>
          </a:xfrm>
          <a:prstGeom prst="roundRect">
            <a:avLst>
              <a:gd name="adj" fmla="val 39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54400" y="3737967"/>
            <a:ext cx="3683049" cy="2440930"/>
          </a:xfrm>
          <a:prstGeom prst="roundRect">
            <a:avLst>
              <a:gd name="adj" fmla="val 39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51750" y="3737967"/>
            <a:ext cx="3682900" cy="2440930"/>
          </a:xfrm>
          <a:prstGeom prst="roundRect">
            <a:avLst>
              <a:gd name="adj" fmla="val 390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676275" y="1382910"/>
            <a:ext cx="152400" cy="123825"/>
          </a:xfrm>
          <a:prstGeom prst="rect">
            <a:avLst/>
          </a:prstGeom>
        </p:spPr>
      </p:pic>
      <p:pic>
        <p:nvPicPr>
          <p:cNvPr id="11" name="Picture 10" descr="image.png"/>
          <p:cNvPicPr>
            <a:picLocks noChangeAspect="1"/>
          </p:cNvPicPr>
          <p:nvPr/>
        </p:nvPicPr>
        <p:blipFill>
          <a:blip r:embed="rId3"/>
          <a:stretch>
            <a:fillRect/>
          </a:stretch>
        </p:blipFill>
        <p:spPr>
          <a:xfrm>
            <a:off x="4473475" y="1382910"/>
            <a:ext cx="95250" cy="123825"/>
          </a:xfrm>
          <a:prstGeom prst="rect">
            <a:avLst/>
          </a:prstGeom>
        </p:spPr>
      </p:pic>
      <p:pic>
        <p:nvPicPr>
          <p:cNvPr id="12" name="Picture 11" descr="image.png"/>
          <p:cNvPicPr>
            <a:picLocks noChangeAspect="1"/>
          </p:cNvPicPr>
          <p:nvPr/>
        </p:nvPicPr>
        <p:blipFill>
          <a:blip r:embed="rId4"/>
          <a:stretch>
            <a:fillRect/>
          </a:stretch>
        </p:blipFill>
        <p:spPr>
          <a:xfrm>
            <a:off x="8270825" y="1382910"/>
            <a:ext cx="123825" cy="123825"/>
          </a:xfrm>
          <a:prstGeom prst="rect">
            <a:avLst/>
          </a:prstGeom>
        </p:spPr>
      </p:pic>
      <p:pic>
        <p:nvPicPr>
          <p:cNvPr id="13" name="Picture 12" descr="image.png"/>
          <p:cNvPicPr>
            <a:picLocks noChangeAspect="1"/>
          </p:cNvPicPr>
          <p:nvPr/>
        </p:nvPicPr>
        <p:blipFill>
          <a:blip r:embed="rId5"/>
          <a:stretch>
            <a:fillRect/>
          </a:stretch>
        </p:blipFill>
        <p:spPr>
          <a:xfrm>
            <a:off x="676275" y="3937992"/>
            <a:ext cx="123825" cy="123825"/>
          </a:xfrm>
          <a:prstGeom prst="rect">
            <a:avLst/>
          </a:prstGeom>
        </p:spPr>
      </p:pic>
      <p:pic>
        <p:nvPicPr>
          <p:cNvPr id="14" name="Picture 13" descr="image.png"/>
          <p:cNvPicPr>
            <a:picLocks noChangeAspect="1"/>
          </p:cNvPicPr>
          <p:nvPr/>
        </p:nvPicPr>
        <p:blipFill>
          <a:blip r:embed="rId6"/>
          <a:stretch>
            <a:fillRect/>
          </a:stretch>
        </p:blipFill>
        <p:spPr>
          <a:xfrm>
            <a:off x="4473475" y="3937992"/>
            <a:ext cx="95250" cy="123825"/>
          </a:xfrm>
          <a:prstGeom prst="rect">
            <a:avLst/>
          </a:prstGeom>
        </p:spPr>
      </p:pic>
      <p:pic>
        <p:nvPicPr>
          <p:cNvPr id="15" name="Picture 14" descr="image.png"/>
          <p:cNvPicPr>
            <a:picLocks noChangeAspect="1"/>
          </p:cNvPicPr>
          <p:nvPr/>
        </p:nvPicPr>
        <p:blipFill>
          <a:blip r:embed="rId7"/>
          <a:stretch>
            <a:fillRect/>
          </a:stretch>
        </p:blipFill>
        <p:spPr>
          <a:xfrm>
            <a:off x="8270825" y="3937992"/>
            <a:ext cx="152400" cy="123825"/>
          </a:xfrm>
          <a:prstGeom prst="rect">
            <a:avLst/>
          </a:prstGeom>
        </p:spPr>
      </p:pic>
      <p:sp>
        <p:nvSpPr>
          <p:cNvPr id="16" name="TextBox 15"/>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Infrastructure and financial cost details are mapped comprehensively on Slides 11 and 12.</a:t>
            </a:r>
          </a:p>
        </p:txBody>
      </p:sp>
      <p:sp>
        <p:nvSpPr>
          <p:cNvPr id="17" name="TextBox 16"/>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18" name="TextBox 17"/>
          <p:cNvSpPr txBox="1"/>
          <p:nvPr/>
        </p:nvSpPr>
        <p:spPr>
          <a:xfrm>
            <a:off x="457200" y="381000"/>
            <a:ext cx="5119687" cy="152400"/>
          </a:xfrm>
          <a:prstGeom prst="rect">
            <a:avLst/>
          </a:prstGeom>
          <a:noFill/>
        </p:spPr>
        <p:txBody>
          <a:bodyPr wrap="none" lIns="0" tIns="0" rIns="0" bIns="0" anchor="t">
            <a:spAutoFit/>
          </a:bodyPr>
          <a:lstStyle/>
          <a:p>
            <a:pPr algn="l"/>
            <a:r>
              <a:rPr sz="975" b="1" i="0" u="none">
                <a:solidFill>
                  <a:srgbClr val="2563EB"/>
                </a:solidFill>
                <a:latin typeface="Inter"/>
              </a:rPr>
              <a:t>MONETIZATION &amp; OPERATIONS</a:t>
            </a:r>
          </a:p>
        </p:txBody>
      </p:sp>
      <p:sp>
        <p:nvSpPr>
          <p:cNvPr id="19" name="TextBox 18"/>
          <p:cNvSpPr txBox="1"/>
          <p:nvPr/>
        </p:nvSpPr>
        <p:spPr>
          <a:xfrm>
            <a:off x="457200" y="571500"/>
            <a:ext cx="5375671"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Business Model Canvas Overview</a:t>
            </a:r>
          </a:p>
        </p:txBody>
      </p:sp>
      <p:sp>
        <p:nvSpPr>
          <p:cNvPr id="20" name="TextBox 19"/>
          <p:cNvSpPr txBox="1"/>
          <p:nvPr/>
        </p:nvSpPr>
        <p:spPr>
          <a:xfrm>
            <a:off x="676275" y="1363860"/>
            <a:ext cx="4258735" cy="152400"/>
          </a:xfrm>
          <a:prstGeom prst="rect">
            <a:avLst/>
          </a:prstGeom>
          <a:noFill/>
        </p:spPr>
        <p:txBody>
          <a:bodyPr wrap="none" lIns="209550" tIns="0" rIns="0" bIns="0" anchor="t">
            <a:spAutoFit/>
          </a:bodyPr>
          <a:lstStyle/>
          <a:p>
            <a:pPr algn="l"/>
            <a:r>
              <a:rPr sz="975" b="1" i="0" u="none">
                <a:solidFill>
                  <a:srgbClr val="2563EB"/>
                </a:solidFill>
                <a:latin typeface="Inter"/>
              </a:rPr>
              <a:t>Target Customers</a:t>
            </a:r>
          </a:p>
        </p:txBody>
      </p:sp>
      <p:sp>
        <p:nvSpPr>
          <p:cNvPr id="21" name="TextBox 20"/>
          <p:cNvSpPr txBox="1"/>
          <p:nvPr/>
        </p:nvSpPr>
        <p:spPr>
          <a:xfrm>
            <a:off x="676275" y="1573410"/>
            <a:ext cx="3340000" cy="285750"/>
          </a:xfrm>
          <a:prstGeom prst="rect">
            <a:avLst/>
          </a:prstGeom>
          <a:noFill/>
        </p:spPr>
        <p:txBody>
          <a:bodyPr wrap="square" lIns="0" tIns="0" rIns="0" bIns="0" anchor="t">
            <a:spAutoFit/>
          </a:bodyPr>
          <a:lstStyle/>
          <a:p>
            <a:pPr algn="l"/>
            <a:r>
              <a:rPr sz="900" b="0" i="0" u="none">
                <a:solidFill>
                  <a:srgbClr val="334155"/>
                </a:solidFill>
                <a:latin typeface="Inter"/>
              </a:rPr>
              <a:t>Pakistani freelancers and small software houses; secondary focus on universities &amp; cybersecurity training labs.</a:t>
            </a:r>
          </a:p>
        </p:txBody>
      </p:sp>
      <p:sp>
        <p:nvSpPr>
          <p:cNvPr id="22" name="TextBox 21"/>
          <p:cNvSpPr txBox="1"/>
          <p:nvPr/>
        </p:nvSpPr>
        <p:spPr>
          <a:xfrm>
            <a:off x="4473475" y="1363860"/>
            <a:ext cx="4258930" cy="152400"/>
          </a:xfrm>
          <a:prstGeom prst="rect">
            <a:avLst/>
          </a:prstGeom>
          <a:noFill/>
        </p:spPr>
        <p:txBody>
          <a:bodyPr wrap="none" lIns="152400" tIns="0" rIns="0" bIns="0" anchor="t">
            <a:spAutoFit/>
          </a:bodyPr>
          <a:lstStyle/>
          <a:p>
            <a:pPr algn="l"/>
            <a:r>
              <a:rPr sz="975" b="1" i="0" u="none">
                <a:solidFill>
                  <a:srgbClr val="1E40AF"/>
                </a:solidFill>
                <a:latin typeface="Inter"/>
              </a:rPr>
              <a:t>Value Proposition</a:t>
            </a:r>
          </a:p>
        </p:txBody>
      </p:sp>
      <p:sp>
        <p:nvSpPr>
          <p:cNvPr id="23" name="TextBox 22"/>
          <p:cNvSpPr txBox="1"/>
          <p:nvPr/>
        </p:nvSpPr>
        <p:spPr>
          <a:xfrm>
            <a:off x="4473475" y="1573410"/>
            <a:ext cx="3340149" cy="285750"/>
          </a:xfrm>
          <a:prstGeom prst="rect">
            <a:avLst/>
          </a:prstGeom>
          <a:noFill/>
        </p:spPr>
        <p:txBody>
          <a:bodyPr wrap="square" lIns="0" tIns="0" rIns="0" bIns="0" anchor="t">
            <a:spAutoFit/>
          </a:bodyPr>
          <a:lstStyle/>
          <a:p>
            <a:pPr algn="l"/>
            <a:r>
              <a:rPr sz="900" b="0" i="0" u="none">
                <a:solidFill>
                  <a:srgbClr val="1E293B"/>
                </a:solidFill>
                <a:latin typeface="Inter"/>
              </a:rPr>
              <a:t>Safe, highly affordable, and fully explainable web security testing built for non-enterprise budgets.</a:t>
            </a:r>
          </a:p>
        </p:txBody>
      </p:sp>
      <p:sp>
        <p:nvSpPr>
          <p:cNvPr id="24" name="TextBox 23"/>
          <p:cNvSpPr txBox="1"/>
          <p:nvPr/>
        </p:nvSpPr>
        <p:spPr>
          <a:xfrm>
            <a:off x="8270825" y="1363860"/>
            <a:ext cx="3921174" cy="152400"/>
          </a:xfrm>
          <a:prstGeom prst="rect">
            <a:avLst/>
          </a:prstGeom>
          <a:noFill/>
        </p:spPr>
        <p:txBody>
          <a:bodyPr wrap="none" lIns="180975" tIns="0" rIns="0" bIns="0" anchor="t">
            <a:spAutoFit/>
          </a:bodyPr>
          <a:lstStyle/>
          <a:p>
            <a:pPr algn="l"/>
            <a:r>
              <a:rPr sz="975" b="1" i="0" u="none">
                <a:solidFill>
                  <a:srgbClr val="2563EB"/>
                </a:solidFill>
                <a:latin typeface="Inter"/>
              </a:rPr>
              <a:t>Revenue Streams</a:t>
            </a:r>
          </a:p>
        </p:txBody>
      </p:sp>
      <p:sp>
        <p:nvSpPr>
          <p:cNvPr id="25" name="TextBox 24"/>
          <p:cNvSpPr txBox="1"/>
          <p:nvPr/>
        </p:nvSpPr>
        <p:spPr>
          <a:xfrm>
            <a:off x="8270825" y="1573410"/>
            <a:ext cx="3340000" cy="285750"/>
          </a:xfrm>
          <a:prstGeom prst="rect">
            <a:avLst/>
          </a:prstGeom>
          <a:noFill/>
        </p:spPr>
        <p:txBody>
          <a:bodyPr wrap="square" lIns="0" tIns="0" rIns="0" bIns="0" anchor="t">
            <a:spAutoFit/>
          </a:bodyPr>
          <a:lstStyle/>
          <a:p>
            <a:pPr algn="l"/>
            <a:r>
              <a:rPr sz="900" b="0" i="0" u="none">
                <a:solidFill>
                  <a:srgbClr val="334155"/>
                </a:solidFill>
                <a:latin typeface="Inter"/>
              </a:rPr>
              <a:t>Monthly SaaS subscriptions (Free, Starter, Pro, Team). Enterprise custom pricing for &gt;$100 segment.</a:t>
            </a:r>
          </a:p>
        </p:txBody>
      </p:sp>
      <p:sp>
        <p:nvSpPr>
          <p:cNvPr id="26" name="TextBox 25"/>
          <p:cNvSpPr txBox="1"/>
          <p:nvPr/>
        </p:nvSpPr>
        <p:spPr>
          <a:xfrm>
            <a:off x="676275" y="3918942"/>
            <a:ext cx="4258735" cy="152400"/>
          </a:xfrm>
          <a:prstGeom prst="rect">
            <a:avLst/>
          </a:prstGeom>
          <a:noFill/>
        </p:spPr>
        <p:txBody>
          <a:bodyPr wrap="none" lIns="180975" tIns="0" rIns="0" bIns="0" anchor="t">
            <a:spAutoFit/>
          </a:bodyPr>
          <a:lstStyle/>
          <a:p>
            <a:pPr algn="l"/>
            <a:r>
              <a:rPr sz="975" b="1" i="0" u="none">
                <a:solidFill>
                  <a:srgbClr val="2563EB"/>
                </a:solidFill>
                <a:latin typeface="Inter"/>
              </a:rPr>
              <a:t>Channels</a:t>
            </a:r>
          </a:p>
        </p:txBody>
      </p:sp>
      <p:sp>
        <p:nvSpPr>
          <p:cNvPr id="27" name="TextBox 26"/>
          <p:cNvSpPr txBox="1"/>
          <p:nvPr/>
        </p:nvSpPr>
        <p:spPr>
          <a:xfrm>
            <a:off x="676275" y="4128492"/>
            <a:ext cx="3340000" cy="285750"/>
          </a:xfrm>
          <a:prstGeom prst="rect">
            <a:avLst/>
          </a:prstGeom>
          <a:noFill/>
        </p:spPr>
        <p:txBody>
          <a:bodyPr wrap="square" lIns="0" tIns="0" rIns="0" bIns="0" anchor="t">
            <a:spAutoFit/>
          </a:bodyPr>
          <a:lstStyle/>
          <a:p>
            <a:pPr algn="l"/>
            <a:r>
              <a:rPr sz="900" b="0" i="0" u="none">
                <a:solidFill>
                  <a:srgbClr val="334155"/>
                </a:solidFill>
                <a:latin typeface="Inter"/>
              </a:rPr>
              <a:t>Self-service website sign-up, targeted LinkedIn outreach, university workshops, and local IT events.</a:t>
            </a:r>
          </a:p>
        </p:txBody>
      </p:sp>
      <p:sp>
        <p:nvSpPr>
          <p:cNvPr id="28" name="TextBox 27"/>
          <p:cNvSpPr txBox="1"/>
          <p:nvPr/>
        </p:nvSpPr>
        <p:spPr>
          <a:xfrm>
            <a:off x="4473475" y="3918942"/>
            <a:ext cx="4258930" cy="152400"/>
          </a:xfrm>
          <a:prstGeom prst="rect">
            <a:avLst/>
          </a:prstGeom>
          <a:noFill/>
        </p:spPr>
        <p:txBody>
          <a:bodyPr wrap="none" lIns="152400" tIns="0" rIns="0" bIns="0" anchor="t">
            <a:spAutoFit/>
          </a:bodyPr>
          <a:lstStyle/>
          <a:p>
            <a:pPr algn="l"/>
            <a:r>
              <a:rPr sz="975" b="1" i="0" u="none">
                <a:solidFill>
                  <a:srgbClr val="2563EB"/>
                </a:solidFill>
                <a:latin typeface="Inter"/>
              </a:rPr>
              <a:t>Main Cost Drivers</a:t>
            </a:r>
          </a:p>
        </p:txBody>
      </p:sp>
      <p:sp>
        <p:nvSpPr>
          <p:cNvPr id="29" name="TextBox 28"/>
          <p:cNvSpPr txBox="1"/>
          <p:nvPr/>
        </p:nvSpPr>
        <p:spPr>
          <a:xfrm>
            <a:off x="4473475" y="4128492"/>
            <a:ext cx="3340149" cy="285750"/>
          </a:xfrm>
          <a:prstGeom prst="rect">
            <a:avLst/>
          </a:prstGeom>
          <a:noFill/>
        </p:spPr>
        <p:txBody>
          <a:bodyPr wrap="square" lIns="0" tIns="0" rIns="0" bIns="0" anchor="t">
            <a:spAutoFit/>
          </a:bodyPr>
          <a:lstStyle/>
          <a:p>
            <a:pPr algn="l"/>
            <a:r>
              <a:rPr sz="900" b="0" i="0" u="none">
                <a:solidFill>
                  <a:srgbClr val="334155"/>
                </a:solidFill>
                <a:latin typeface="Inter"/>
              </a:rPr>
              <a:t>AI LLM token consumption, server infrastructure hosting, founder development time (Slides 11/12).</a:t>
            </a:r>
          </a:p>
        </p:txBody>
      </p:sp>
      <p:sp>
        <p:nvSpPr>
          <p:cNvPr id="30" name="TextBox 29"/>
          <p:cNvSpPr txBox="1"/>
          <p:nvPr/>
        </p:nvSpPr>
        <p:spPr>
          <a:xfrm>
            <a:off x="8270825" y="3918942"/>
            <a:ext cx="3921174" cy="152400"/>
          </a:xfrm>
          <a:prstGeom prst="rect">
            <a:avLst/>
          </a:prstGeom>
          <a:noFill/>
        </p:spPr>
        <p:txBody>
          <a:bodyPr wrap="none" lIns="209550" tIns="0" rIns="0" bIns="0" anchor="t">
            <a:spAutoFit/>
          </a:bodyPr>
          <a:lstStyle/>
          <a:p>
            <a:pPr algn="l"/>
            <a:r>
              <a:rPr sz="975" b="1" i="0" u="none">
                <a:solidFill>
                  <a:srgbClr val="2563EB"/>
                </a:solidFill>
                <a:latin typeface="Inter"/>
              </a:rPr>
              <a:t>Key Partners &amp; Assets</a:t>
            </a:r>
          </a:p>
        </p:txBody>
      </p:sp>
      <p:sp>
        <p:nvSpPr>
          <p:cNvPr id="31" name="TextBox 30"/>
          <p:cNvSpPr txBox="1"/>
          <p:nvPr/>
        </p:nvSpPr>
        <p:spPr>
          <a:xfrm>
            <a:off x="8270825" y="4128492"/>
            <a:ext cx="3340000" cy="285750"/>
          </a:xfrm>
          <a:prstGeom prst="rect">
            <a:avLst/>
          </a:prstGeom>
          <a:noFill/>
        </p:spPr>
        <p:txBody>
          <a:bodyPr wrap="square" lIns="0" tIns="0" rIns="0" bIns="0" anchor="t">
            <a:spAutoFit/>
          </a:bodyPr>
          <a:lstStyle/>
          <a:p>
            <a:pPr algn="l"/>
            <a:r>
              <a:rPr sz="900" b="1" i="0" u="none">
                <a:solidFill>
                  <a:srgbClr val="334155"/>
                </a:solidFill>
                <a:latin typeface="Inter"/>
              </a:rPr>
              <a:t>Partners:</a:t>
            </a:r>
            <a:r>
              <a:rPr sz="900" b="0" i="0" u="none">
                <a:solidFill>
                  <a:srgbClr val="334155"/>
                </a:solidFill>
                <a:latin typeface="Inter"/>
              </a:rPr>
              <a:t> Groq, DigitalOcean, Safepay, PSEB.</a:t>
            </a:r>
            <a:r>
              <a:t>
</a:t>
            </a:r>
            <a:r>
              <a:rPr sz="900" b="1" i="0" u="none">
                <a:solidFill>
                  <a:srgbClr val="334155"/>
                </a:solidFill>
                <a:latin typeface="Inter"/>
              </a:rPr>
              <a:t>Assets:</a:t>
            </a:r>
            <a:r>
              <a:rPr sz="900" b="0" i="0" u="none">
                <a:solidFill>
                  <a:srgbClr val="334155"/>
                </a:solidFill>
                <a:latin typeface="Inter"/>
              </a:rPr>
              <a:t> ROE-fraud detection &amp; risk ranking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4192785"/>
            <a:ext cx="11277600" cy="428625"/>
          </a:xfrm>
          <a:prstGeom prst="roundRect">
            <a:avLst>
              <a:gd name="adj" fmla="val 1333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516260"/>
            <a:ext cx="2602408"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59608" y="1516260"/>
            <a:ext cx="2104727"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164335" y="1516260"/>
            <a:ext cx="2104727"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269063" y="1516260"/>
            <a:ext cx="2289571"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558635" y="1516260"/>
            <a:ext cx="2176164"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844873"/>
            <a:ext cx="26024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059608" y="1844873"/>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164335" y="1844873"/>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269063" y="1844873"/>
            <a:ext cx="2289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558635" y="1844873"/>
            <a:ext cx="21761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159198"/>
            <a:ext cx="26024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059608" y="2159198"/>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164335" y="2159198"/>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269063" y="2159198"/>
            <a:ext cx="2289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558635" y="2159198"/>
            <a:ext cx="21761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2473523"/>
            <a:ext cx="26024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059608" y="2473523"/>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164335" y="2473523"/>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269063" y="2473523"/>
            <a:ext cx="2289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558635" y="2473523"/>
            <a:ext cx="21761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2787848"/>
            <a:ext cx="26024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059608" y="2787848"/>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64335" y="2787848"/>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269063" y="2787848"/>
            <a:ext cx="2289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558635" y="2787848"/>
            <a:ext cx="21761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3102173"/>
            <a:ext cx="26024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059608" y="3102173"/>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164335" y="3102173"/>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269063" y="3102173"/>
            <a:ext cx="2289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558635" y="3102173"/>
            <a:ext cx="21761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3416498"/>
            <a:ext cx="26024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059608" y="3416498"/>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164335" y="3416498"/>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269063" y="3416498"/>
            <a:ext cx="2289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558635" y="3416498"/>
            <a:ext cx="21761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57200" y="3749873"/>
            <a:ext cx="26024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059608" y="3749873"/>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164335" y="3749873"/>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269063" y="3749873"/>
            <a:ext cx="2289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558635" y="3749873"/>
            <a:ext cx="21761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4083248"/>
            <a:ext cx="26024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059608" y="4083248"/>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164335" y="4083248"/>
            <a:ext cx="21047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269063" y="4083248"/>
            <a:ext cx="2289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558635" y="4083248"/>
            <a:ext cx="21761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0" name="Table 49"/>
          <p:cNvGraphicFramePr>
            <a:graphicFrameLocks noGrp="1"/>
          </p:cNvGraphicFramePr>
          <p:nvPr/>
        </p:nvGraphicFramePr>
        <p:xfrm>
          <a:off x="457200" y="1182885"/>
          <a:ext cx="11277597" cy="2914650"/>
        </p:xfrm>
        <a:graphic>
          <a:graphicData uri="http://schemas.openxmlformats.org/drawingml/2006/table">
            <a:tbl>
              <a:tblPr/>
              <a:tblGrid>
                <a:gridCol w="2602408"/>
                <a:gridCol w="2104727"/>
                <a:gridCol w="2104727"/>
                <a:gridCol w="2289571"/>
                <a:gridCol w="2176164"/>
              </a:tblGrid>
              <a:tr h="323850">
                <a:tc>
                  <a:txBody>
                    <a:bodyPr/>
                    <a:lstStyle/>
                    <a:p>
                      <a:pPr algn="l"/>
                      <a:r>
                        <a:rPr sz="975" b="1" i="0" u="none" dirty="0">
                          <a:solidFill>
                            <a:srgbClr val="334155"/>
                          </a:solidFill>
                          <a:latin typeface="Inter"/>
                        </a:rPr>
                        <a:t>Feature</a:t>
                      </a:r>
                    </a:p>
                  </a:txBody>
                  <a:tcPr marL="63500" marR="63500" marT="25400" marB="25400" anchor="ctr">
                    <a:lnL>
                      <a:noFill/>
                    </a:lnL>
                    <a:lnR>
                      <a:noFill/>
                    </a:lnR>
                    <a:lnT>
                      <a:noFill/>
                    </a:lnT>
                    <a:lnB>
                      <a:noFill/>
                    </a:lnB>
                    <a:solidFill>
                      <a:srgbClr val="F1F5F9"/>
                    </a:solidFill>
                  </a:tcPr>
                </a:tc>
                <a:tc>
                  <a:txBody>
                    <a:bodyPr/>
                    <a:lstStyle/>
                    <a:p>
                      <a:pPr algn="l"/>
                      <a:r>
                        <a:rPr sz="975" b="1" i="0" u="none" dirty="0">
                          <a:solidFill>
                            <a:srgbClr val="334155"/>
                          </a:solidFill>
                          <a:latin typeface="Inter"/>
                        </a:rPr>
                        <a:t>Free</a:t>
                      </a:r>
                    </a:p>
                  </a:txBody>
                  <a:tcPr marL="63500" marR="63500" marT="25400" marB="25400" anchor="ctr">
                    <a:lnL>
                      <a:noFill/>
                    </a:lnL>
                    <a:lnR>
                      <a:noFill/>
                    </a:lnR>
                    <a:lnT>
                      <a:noFill/>
                    </a:lnT>
                    <a:lnB>
                      <a:noFill/>
                    </a:lnB>
                    <a:solidFill>
                      <a:srgbClr val="F1F5F9"/>
                    </a:solidFill>
                  </a:tcPr>
                </a:tc>
                <a:tc>
                  <a:txBody>
                    <a:bodyPr/>
                    <a:lstStyle/>
                    <a:p>
                      <a:pPr algn="l"/>
                      <a:r>
                        <a:rPr sz="975" b="1" i="0" u="none" dirty="0">
                          <a:solidFill>
                            <a:srgbClr val="334155"/>
                          </a:solidFill>
                          <a:latin typeface="Inter"/>
                        </a:rPr>
                        <a:t>Starter</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Pro</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Team</a:t>
                      </a:r>
                    </a:p>
                  </a:txBody>
                  <a:tcPr marL="63500" marR="63500" marT="25400" marB="25400" anchor="ctr">
                    <a:lnL>
                      <a:noFill/>
                    </a:lnL>
                    <a:lnR>
                      <a:noFill/>
                    </a:lnR>
                    <a:lnT>
                      <a:noFill/>
                    </a:lnT>
                    <a:lnB>
                      <a:noFill/>
                    </a:lnB>
                    <a:solidFill>
                      <a:srgbClr val="F1F5F9"/>
                    </a:solidFill>
                  </a:tcPr>
                </a:tc>
              </a:tr>
              <a:tr h="323850">
                <a:tc>
                  <a:txBody>
                    <a:bodyPr/>
                    <a:lstStyle/>
                    <a:p>
                      <a:pPr algn="l"/>
                      <a:r>
                        <a:rPr sz="975" b="1" i="0" u="none">
                          <a:solidFill>
                            <a:srgbClr val="334155"/>
                          </a:solidFill>
                          <a:latin typeface="Inter"/>
                        </a:rPr>
                        <a:t>Price / month</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$0</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$19 (PKR 5,263)</a:t>
                      </a:r>
                    </a:p>
                  </a:txBody>
                  <a:tcPr marL="63500" marR="63500" marT="25400" marB="25400" anchor="ctr">
                    <a:lnL>
                      <a:noFill/>
                    </a:lnL>
                    <a:lnR>
                      <a:noFill/>
                    </a:lnR>
                    <a:lnT>
                      <a:noFill/>
                    </a:lnT>
                    <a:lnB>
                      <a:noFill/>
                    </a:lnB>
                    <a:solidFill>
                      <a:srgbClr val="FFFFFF"/>
                    </a:solidFill>
                  </a:tcPr>
                </a:tc>
                <a:tc>
                  <a:txBody>
                    <a:bodyPr/>
                    <a:lstStyle/>
                    <a:p>
                      <a:pPr algn="l"/>
                      <a:r>
                        <a:rPr sz="975" b="1" i="0" u="none">
                          <a:solidFill>
                            <a:srgbClr val="334155"/>
                          </a:solidFill>
                          <a:latin typeface="Inter"/>
                        </a:rPr>
                        <a:t>$39 (PKR 10,803)</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$89 (PKR 24,653)</a:t>
                      </a:r>
                    </a:p>
                  </a:txBody>
                  <a:tcPr marL="63500" marR="63500" marT="25400" marB="25400" anchor="ctr">
                    <a:lnL>
                      <a:noFill/>
                    </a:lnL>
                    <a:lnR>
                      <a:noFill/>
                    </a:lnR>
                    <a:lnT>
                      <a:noFill/>
                    </a:lnT>
                    <a:lnB>
                      <a:noFill/>
                    </a:lnB>
                    <a:solidFill>
                      <a:srgbClr val="FFFFFF"/>
                    </a:solidFill>
                  </a:tcPr>
                </a:tc>
              </a:tr>
              <a:tr h="323850">
                <a:tc>
                  <a:txBody>
                    <a:bodyPr/>
                    <a:lstStyle/>
                    <a:p>
                      <a:pPr algn="l"/>
                      <a:r>
                        <a:rPr sz="975" b="1" i="0" u="none">
                          <a:solidFill>
                            <a:srgbClr val="334155"/>
                          </a:solidFill>
                          <a:latin typeface="Inter"/>
                        </a:rPr>
                        <a:t>Yearly (2 mos free)</a:t>
                      </a:r>
                    </a:p>
                  </a:txBody>
                  <a:tcPr marL="63500" marR="63500" marT="25400" marB="25400" anchor="ctr">
                    <a:lnL>
                      <a:noFill/>
                    </a:lnL>
                    <a:lnR>
                      <a:noFill/>
                    </a:lnR>
                    <a:lnT>
                      <a:noFill/>
                    </a:lnT>
                    <a:lnB>
                      <a:noFill/>
                    </a:lnB>
                    <a:solidFill>
                      <a:srgbClr val="F8FAFC"/>
                    </a:solidFill>
                  </a:tcPr>
                </a:tc>
                <a:tc>
                  <a:txBody>
                    <a:bodyPr/>
                    <a:lstStyle/>
                    <a:p>
                      <a:pPr algn="l"/>
                      <a:r>
                        <a:rPr sz="975" b="0" i="0" u="none" dirty="0">
                          <a:solidFill>
                            <a:srgbClr val="334155"/>
                          </a:solidFill>
                          <a:latin typeface="Inter"/>
                        </a:rPr>
                        <a:t>n/a</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$190 (PKR 52,630)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$390 (PKR 108,030)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$890 (PKR 246,530)</a:t>
                      </a:r>
                    </a:p>
                  </a:txBody>
                  <a:tcPr marL="63500" marR="63500" marT="25400" marB="25400" anchor="ctr">
                    <a:lnL>
                      <a:noFill/>
                    </a:lnL>
                    <a:lnR>
                      <a:noFill/>
                    </a:lnR>
                    <a:lnT>
                      <a:noFill/>
                    </a:lnT>
                    <a:lnB>
                      <a:noFill/>
                    </a:lnB>
                    <a:solidFill>
                      <a:srgbClr val="F8FAFC"/>
                    </a:solidFill>
                  </a:tcPr>
                </a:tc>
              </a:tr>
              <a:tr h="323850">
                <a:tc>
                  <a:txBody>
                    <a:bodyPr/>
                    <a:lstStyle/>
                    <a:p>
                      <a:pPr algn="l"/>
                      <a:r>
                        <a:rPr sz="975" b="1" i="0" u="none">
                          <a:solidFill>
                            <a:srgbClr val="334155"/>
                          </a:solidFill>
                          <a:latin typeface="Inter"/>
                        </a:rPr>
                        <a:t>Target Segment</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Trial users</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Solo Freelancer</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Small Software House</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Agencies / Teams</a:t>
                      </a:r>
                    </a:p>
                  </a:txBody>
                  <a:tcPr marL="63500" marR="63500" marT="25400" marB="25400" anchor="ctr">
                    <a:lnL>
                      <a:noFill/>
                    </a:lnL>
                    <a:lnR>
                      <a:noFill/>
                    </a:lnR>
                    <a:lnT>
                      <a:noFill/>
                    </a:lnT>
                    <a:lnB>
                      <a:noFill/>
                    </a:lnB>
                    <a:solidFill>
                      <a:srgbClr val="FFFFFF"/>
                    </a:solidFill>
                  </a:tcPr>
                </a:tc>
              </a:tr>
              <a:tr h="323850">
                <a:tc>
                  <a:txBody>
                    <a:bodyPr/>
                    <a:lstStyle/>
                    <a:p>
                      <a:pPr algn="l"/>
                      <a:r>
                        <a:rPr sz="975" b="1" i="0" u="none">
                          <a:solidFill>
                            <a:srgbClr val="334155"/>
                          </a:solidFill>
                          <a:latin typeface="Inter"/>
                        </a:rPr>
                        <a:t>Seats / Apps</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 User / 1 App</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 User / 1 App</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3 Users / 5 Apps</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10 Users / 20 Apps</a:t>
                      </a:r>
                    </a:p>
                  </a:txBody>
                  <a:tcPr marL="63500" marR="63500" marT="25400" marB="25400" anchor="ctr">
                    <a:lnL>
                      <a:noFill/>
                    </a:lnL>
                    <a:lnR>
                      <a:noFill/>
                    </a:lnR>
                    <a:lnT>
                      <a:noFill/>
                    </a:lnT>
                    <a:lnB>
                      <a:noFill/>
                    </a:lnB>
                    <a:solidFill>
                      <a:srgbClr val="F8FAFC"/>
                    </a:solidFill>
                  </a:tcPr>
                </a:tc>
              </a:tr>
              <a:tr h="323850">
                <a:tc>
                  <a:txBody>
                    <a:bodyPr/>
                    <a:lstStyle/>
                    <a:p>
                      <a:pPr algn="l"/>
                      <a:r>
                        <a:rPr sz="975" b="1" i="0" u="none">
                          <a:solidFill>
                            <a:srgbClr val="334155"/>
                          </a:solidFill>
                          <a:latin typeface="Inter"/>
                        </a:rPr>
                        <a:t>Scans / Month</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2 scans</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5 scans</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15 scans</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40 scans</a:t>
                      </a:r>
                    </a:p>
                  </a:txBody>
                  <a:tcPr marL="63500" marR="63500" marT="25400" marB="25400" anchor="ctr">
                    <a:lnL>
                      <a:noFill/>
                    </a:lnL>
                    <a:lnR>
                      <a:noFill/>
                    </a:lnR>
                    <a:lnT>
                      <a:noFill/>
                    </a:lnT>
                    <a:lnB>
                      <a:noFill/>
                    </a:lnB>
                    <a:solidFill>
                      <a:srgbClr val="FFFFFF"/>
                    </a:solidFill>
                  </a:tcPr>
                </a:tc>
              </a:tr>
              <a:tr h="323850">
                <a:tc>
                  <a:txBody>
                    <a:bodyPr/>
                    <a:lstStyle/>
                    <a:p>
                      <a:pPr algn="l"/>
                      <a:r>
                        <a:rPr sz="975" b="1" i="0" u="none">
                          <a:solidFill>
                            <a:srgbClr val="334155"/>
                          </a:solidFill>
                          <a:latin typeface="Inter"/>
                        </a:rPr>
                        <a:t>Core Security Guardrails</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ROE + Scope Guard</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ROE + Scope Guard</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ROE + Scope Guard</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ROE + Scope Guard</a:t>
                      </a:r>
                    </a:p>
                  </a:txBody>
                  <a:tcPr marL="63500" marR="63500" marT="25400" marB="25400" anchor="ctr">
                    <a:lnL>
                      <a:noFill/>
                    </a:lnL>
                    <a:lnR>
                      <a:noFill/>
                    </a:lnR>
                    <a:lnT>
                      <a:noFill/>
                    </a:lnT>
                    <a:lnB>
                      <a:noFill/>
                    </a:lnB>
                    <a:solidFill>
                      <a:srgbClr val="F8FAFC"/>
                    </a:solidFill>
                  </a:tcPr>
                </a:tc>
              </a:tr>
              <a:tr h="323850">
                <a:tc>
                  <a:txBody>
                    <a:bodyPr/>
                    <a:lstStyle/>
                    <a:p>
                      <a:pPr algn="l"/>
                      <a:r>
                        <a:rPr sz="975" b="1" i="0" u="none">
                          <a:solidFill>
                            <a:srgbClr val="334155"/>
                          </a:solidFill>
                          <a:latin typeface="Inter"/>
                        </a:rPr>
                        <a:t>Report Type</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Basic Text</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Standard PDF</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Standard PDF</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Custom Logo PDF ★</a:t>
                      </a:r>
                    </a:p>
                  </a:txBody>
                  <a:tcPr marL="63500" marR="63500" marT="25400" marB="25400" anchor="ctr">
                    <a:lnL>
                      <a:noFill/>
                    </a:lnL>
                    <a:lnR>
                      <a:noFill/>
                    </a:lnR>
                    <a:lnT>
                      <a:noFill/>
                    </a:lnT>
                    <a:lnB>
                      <a:noFill/>
                    </a:lnB>
                    <a:solidFill>
                      <a:srgbClr val="FFFFFF"/>
                    </a:solidFill>
                  </a:tcPr>
                </a:tc>
              </a:tr>
              <a:tr h="323850">
                <a:tc>
                  <a:txBody>
                    <a:bodyPr/>
                    <a:lstStyle/>
                    <a:p>
                      <a:pPr algn="l"/>
                      <a:r>
                        <a:rPr sz="975" b="1" i="0" u="none">
                          <a:solidFill>
                            <a:srgbClr val="334155"/>
                          </a:solidFill>
                          <a:latin typeface="Inter"/>
                        </a:rPr>
                        <a:t>Action Log Retention</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7 Days</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30 Days</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90 Days + Export ★</a:t>
                      </a:r>
                    </a:p>
                  </a:txBody>
                  <a:tcPr marL="63500" marR="63500" marT="25400" marB="25400" anchor="ctr">
                    <a:lnL>
                      <a:noFill/>
                    </a:lnL>
                    <a:lnR>
                      <a:noFill/>
                    </a:lnR>
                    <a:lnT>
                      <a:noFill/>
                    </a:lnT>
                    <a:lnB>
                      <a:noFill/>
                    </a:lnB>
                    <a:solidFill>
                      <a:srgbClr val="F8FAFC"/>
                    </a:solidFill>
                  </a:tcPr>
                </a:tc>
                <a:tc>
                  <a:txBody>
                    <a:bodyPr/>
                    <a:lstStyle/>
                    <a:p>
                      <a:pPr algn="l"/>
                      <a:r>
                        <a:rPr sz="975" b="0" i="0" u="none" dirty="0">
                          <a:solidFill>
                            <a:srgbClr val="334155"/>
                          </a:solidFill>
                          <a:latin typeface="Inter"/>
                        </a:rPr>
                        <a:t>1 Year + Export ★</a:t>
                      </a:r>
                    </a:p>
                  </a:txBody>
                  <a:tcPr marL="63500" marR="63500" marT="25400" marB="25400" anchor="ctr">
                    <a:lnL>
                      <a:noFill/>
                    </a:lnL>
                    <a:lnR>
                      <a:noFill/>
                    </a:lnR>
                    <a:lnT>
                      <a:noFill/>
                    </a:lnT>
                    <a:lnB>
                      <a:noFill/>
                    </a:lnB>
                    <a:solidFill>
                      <a:srgbClr val="F8FAFC"/>
                    </a:solidFill>
                  </a:tcPr>
                </a:tc>
              </a:tr>
            </a:tbl>
          </a:graphicData>
        </a:graphic>
      </p:graphicFrame>
      <p:sp>
        <p:nvSpPr>
          <p:cNvPr id="51" name="TextBox 50"/>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[1] CodeAnt Burp Pricing · PenflowAI Customer Survey Shares (Slide 5) · Proposed Pricing Matrix</a:t>
            </a:r>
          </a:p>
        </p:txBody>
      </p:sp>
      <p:sp>
        <p:nvSpPr>
          <p:cNvPr id="52" name="TextBox 51"/>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53" name="TextBox 52"/>
          <p:cNvSpPr txBox="1"/>
          <p:nvPr/>
        </p:nvSpPr>
        <p:spPr>
          <a:xfrm>
            <a:off x="571500" y="4268985"/>
            <a:ext cx="11144250" cy="276225"/>
          </a:xfrm>
          <a:prstGeom prst="rect">
            <a:avLst/>
          </a:prstGeom>
          <a:noFill/>
        </p:spPr>
        <p:txBody>
          <a:bodyPr wrap="square" lIns="0" tIns="0" rIns="0" bIns="0" anchor="t">
            <a:spAutoFit/>
          </a:bodyPr>
          <a:lstStyle/>
          <a:p>
            <a:pPr algn="l"/>
            <a:r>
              <a:rPr sz="862" b="1" i="0" u="none">
                <a:solidFill>
                  <a:srgbClr val="475569"/>
                </a:solidFill>
                <a:latin typeface="Inter"/>
              </a:rPr>
              <a:t>Rationale:</a:t>
            </a:r>
            <a:r>
              <a:rPr sz="862" b="0" i="0" u="none">
                <a:solidFill>
                  <a:srgbClr val="475569"/>
                </a:solidFill>
                <a:latin typeface="Inter"/>
              </a:rPr>
              <a:t> Free converts 48.5% undecided; $19 fits all survey payers; $39 captures core $20–$50 bracket (30.3%); $89 suits $50–$100 bracket (15.2%). (★ = Scheduled for v2 roadmap). Burp Pro costs $499/yr (~$41.6/mo) and requires an expert operator.</a:t>
            </a:r>
          </a:p>
        </p:txBody>
      </p:sp>
      <p:sp>
        <p:nvSpPr>
          <p:cNvPr id="54" name="TextBox 53"/>
          <p:cNvSpPr txBox="1"/>
          <p:nvPr/>
        </p:nvSpPr>
        <p:spPr>
          <a:xfrm>
            <a:off x="457200" y="381000"/>
            <a:ext cx="3583781" cy="152400"/>
          </a:xfrm>
          <a:prstGeom prst="rect">
            <a:avLst/>
          </a:prstGeom>
          <a:noFill/>
        </p:spPr>
        <p:txBody>
          <a:bodyPr wrap="none" lIns="0" tIns="0" rIns="0" bIns="0" anchor="t">
            <a:spAutoFit/>
          </a:bodyPr>
          <a:lstStyle/>
          <a:p>
            <a:pPr algn="l"/>
            <a:r>
              <a:rPr sz="975" b="1" i="0" u="none">
                <a:solidFill>
                  <a:srgbClr val="2563EB"/>
                </a:solidFill>
                <a:latin typeface="Inter"/>
              </a:rPr>
              <a:t>SUBSCRIPTION STRATEGY</a:t>
            </a:r>
          </a:p>
        </p:txBody>
      </p:sp>
      <p:sp>
        <p:nvSpPr>
          <p:cNvPr id="55" name="TextBox 54"/>
          <p:cNvSpPr txBox="1"/>
          <p:nvPr/>
        </p:nvSpPr>
        <p:spPr>
          <a:xfrm>
            <a:off x="457200" y="571500"/>
            <a:ext cx="3762970"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Pricing &amp; Feature Matrix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182885"/>
            <a:ext cx="11277600" cy="885825"/>
          </a:xfrm>
          <a:prstGeom prst="roundRect">
            <a:avLst>
              <a:gd name="adj" fmla="val 10752"/>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2183010"/>
            <a:ext cx="11277600" cy="733425"/>
          </a:xfrm>
          <a:prstGeom prst="roundRect">
            <a:avLst>
              <a:gd name="adj" fmla="val 1298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3776216"/>
            <a:ext cx="11277600" cy="1514475"/>
          </a:xfrm>
          <a:prstGeom prst="roundRect">
            <a:avLst>
              <a:gd name="adj" fmla="val 628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5404991"/>
            <a:ext cx="11277600" cy="695325"/>
          </a:xfrm>
          <a:prstGeom prst="roundRect">
            <a:avLst>
              <a:gd name="adj" fmla="val 1369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5281166"/>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3776216"/>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3776216"/>
            <a:ext cx="38100" cy="15144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725275" y="3776216"/>
            <a:ext cx="9525" cy="15144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[1] ProPakistani (9 Oct 2026, SECP registration statistics) · [2] Express Tribune (FY26 Freelancer IT Earnings) · FX: Mettis</a:t>
            </a:r>
          </a:p>
        </p:txBody>
      </p:sp>
      <p:sp>
        <p:nvSpPr>
          <p:cNvPr id="13" name="TextBox 12"/>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14" name="TextBox 13"/>
          <p:cNvSpPr txBox="1"/>
          <p:nvPr/>
        </p:nvSpPr>
        <p:spPr>
          <a:xfrm>
            <a:off x="457200" y="381000"/>
            <a:ext cx="3500437" cy="152400"/>
          </a:xfrm>
          <a:prstGeom prst="rect">
            <a:avLst/>
          </a:prstGeom>
          <a:noFill/>
        </p:spPr>
        <p:txBody>
          <a:bodyPr wrap="none" lIns="0" tIns="0" rIns="0" bIns="0" anchor="t">
            <a:spAutoFit/>
          </a:bodyPr>
          <a:lstStyle/>
          <a:p>
            <a:pPr algn="l"/>
            <a:r>
              <a:rPr sz="975" b="1" i="0" u="none">
                <a:solidFill>
                  <a:srgbClr val="2563EB"/>
                </a:solidFill>
                <a:latin typeface="Inter"/>
              </a:rPr>
              <a:t>EXECUTION PLAN</a:t>
            </a:r>
          </a:p>
        </p:txBody>
      </p:sp>
      <p:sp>
        <p:nvSpPr>
          <p:cNvPr id="15" name="TextBox 14"/>
          <p:cNvSpPr txBox="1"/>
          <p:nvPr/>
        </p:nvSpPr>
        <p:spPr>
          <a:xfrm>
            <a:off x="457200" y="571500"/>
            <a:ext cx="3675459"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Go-To-Market Strategy</a:t>
            </a:r>
          </a:p>
        </p:txBody>
      </p:sp>
      <p:sp>
        <p:nvSpPr>
          <p:cNvPr id="16" name="TextBox 15"/>
          <p:cNvSpPr txBox="1"/>
          <p:nvPr/>
        </p:nvSpPr>
        <p:spPr>
          <a:xfrm>
            <a:off x="676275" y="1363860"/>
            <a:ext cx="11515725" cy="161925"/>
          </a:xfrm>
          <a:prstGeom prst="rect">
            <a:avLst/>
          </a:prstGeom>
          <a:noFill/>
        </p:spPr>
        <p:txBody>
          <a:bodyPr wrap="none" lIns="0" tIns="0" rIns="0" bIns="0" anchor="t">
            <a:spAutoFit/>
          </a:bodyPr>
          <a:lstStyle/>
          <a:p>
            <a:pPr algn="l"/>
            <a:r>
              <a:rPr sz="1050" b="1" i="0" u="none">
                <a:solidFill>
                  <a:srgbClr val="1E40AF"/>
                </a:solidFill>
                <a:latin typeface="Inter"/>
              </a:rPr>
              <a:t>Geographic &amp; Sector Focus</a:t>
            </a:r>
          </a:p>
        </p:txBody>
      </p:sp>
      <p:sp>
        <p:nvSpPr>
          <p:cNvPr id="17" name="TextBox 16"/>
          <p:cNvSpPr txBox="1"/>
          <p:nvPr/>
        </p:nvSpPr>
        <p:spPr>
          <a:xfrm>
            <a:off x="676275" y="1582935"/>
            <a:ext cx="10934700" cy="304800"/>
          </a:xfrm>
          <a:prstGeom prst="rect">
            <a:avLst/>
          </a:prstGeom>
          <a:noFill/>
        </p:spPr>
        <p:txBody>
          <a:bodyPr wrap="square" lIns="0" tIns="0" rIns="0" bIns="0" anchor="t">
            <a:spAutoFit/>
          </a:bodyPr>
          <a:lstStyle/>
          <a:p>
            <a:pPr algn="l"/>
            <a:r>
              <a:rPr sz="975" b="0" i="0" u="none">
                <a:solidFill>
                  <a:srgbClr val="1E293B"/>
                </a:solidFill>
                <a:latin typeface="Inter"/>
              </a:rPr>
              <a:t>Initial rollout in </a:t>
            </a:r>
            <a:r>
              <a:rPr sz="975" b="1" i="0" u="none">
                <a:solidFill>
                  <a:srgbClr val="1E293B"/>
                </a:solidFill>
                <a:latin typeface="Inter"/>
              </a:rPr>
              <a:t>Lahore, Islamabad, and Karachi</a:t>
            </a:r>
            <a:r>
              <a:rPr sz="975" b="0" i="0" u="none">
                <a:solidFill>
                  <a:srgbClr val="1E293B"/>
                </a:solidFill>
                <a:latin typeface="Inter"/>
              </a:rPr>
              <a:t>. In Sept 2026, Punjab, Islamabad, and Sindh represented </a:t>
            </a:r>
            <a:r>
              <a:rPr sz="975" b="1" i="0" u="none">
                <a:solidFill>
                  <a:srgbClr val="1E293B"/>
                </a:solidFill>
                <a:latin typeface="Inter"/>
              </a:rPr>
              <a:t>4,539 of 5,241</a:t>
            </a:r>
            <a:r>
              <a:rPr sz="975" b="0" i="0" u="none">
                <a:solidFill>
                  <a:srgbClr val="1E293B"/>
                </a:solidFill>
                <a:latin typeface="Inter"/>
              </a:rPr>
              <a:t> new companies (87%), with IT as the top sector (920 companies). [1]</a:t>
            </a:r>
          </a:p>
        </p:txBody>
      </p:sp>
      <p:sp>
        <p:nvSpPr>
          <p:cNvPr id="18" name="TextBox 17"/>
          <p:cNvSpPr txBox="1"/>
          <p:nvPr/>
        </p:nvSpPr>
        <p:spPr>
          <a:xfrm>
            <a:off x="676275" y="2363985"/>
            <a:ext cx="11515725" cy="161925"/>
          </a:xfrm>
          <a:prstGeom prst="rect">
            <a:avLst/>
          </a:prstGeom>
          <a:noFill/>
        </p:spPr>
        <p:txBody>
          <a:bodyPr wrap="none" lIns="0" tIns="0" rIns="0" bIns="0" anchor="t">
            <a:spAutoFit/>
          </a:bodyPr>
          <a:lstStyle/>
          <a:p>
            <a:pPr algn="l"/>
            <a:r>
              <a:rPr sz="1050" b="1" i="0" u="none">
                <a:solidFill>
                  <a:srgbClr val="0F172A"/>
                </a:solidFill>
                <a:latin typeface="Inter"/>
              </a:rPr>
              <a:t>Freelancer Export Opportunity</a:t>
            </a:r>
          </a:p>
        </p:txBody>
      </p:sp>
      <p:sp>
        <p:nvSpPr>
          <p:cNvPr id="19" name="TextBox 18"/>
          <p:cNvSpPr txBox="1"/>
          <p:nvPr/>
        </p:nvSpPr>
        <p:spPr>
          <a:xfrm>
            <a:off x="676275" y="2583060"/>
            <a:ext cx="11515725" cy="152400"/>
          </a:xfrm>
          <a:prstGeom prst="rect">
            <a:avLst/>
          </a:prstGeom>
          <a:noFill/>
        </p:spPr>
        <p:txBody>
          <a:bodyPr wrap="none" lIns="0" tIns="0" rIns="0" bIns="0" anchor="t">
            <a:spAutoFit/>
          </a:bodyPr>
          <a:lstStyle/>
          <a:p>
            <a:pPr algn="l"/>
            <a:r>
              <a:rPr sz="975" b="0" i="0" u="none">
                <a:solidFill>
                  <a:srgbClr val="334155"/>
                </a:solidFill>
                <a:latin typeface="Inter"/>
              </a:rPr>
              <a:t>Pakistani IT freelancers earn in USD, generating over </a:t>
            </a:r>
            <a:r>
              <a:rPr sz="975" b="1" i="0" u="none">
                <a:solidFill>
                  <a:srgbClr val="334155"/>
                </a:solidFill>
                <a:latin typeface="Inter"/>
              </a:rPr>
              <a:t>$1 Billion in FY26</a:t>
            </a:r>
            <a:r>
              <a:rPr sz="975" b="0" i="0" u="none">
                <a:solidFill>
                  <a:srgbClr val="334155"/>
                </a:solidFill>
                <a:latin typeface="Inter"/>
              </a:rPr>
              <a:t> (≈ PKR 277 Billion) [2], making $19–$39/mo highly accessible.</a:t>
            </a:r>
          </a:p>
        </p:txBody>
      </p:sp>
      <p:sp>
        <p:nvSpPr>
          <p:cNvPr id="20" name="TextBox 19"/>
          <p:cNvSpPr txBox="1"/>
          <p:nvPr/>
        </p:nvSpPr>
        <p:spPr>
          <a:xfrm>
            <a:off x="704850" y="3957191"/>
            <a:ext cx="11487150" cy="161925"/>
          </a:xfrm>
          <a:prstGeom prst="rect">
            <a:avLst/>
          </a:prstGeom>
          <a:noFill/>
        </p:spPr>
        <p:txBody>
          <a:bodyPr wrap="none" lIns="0" tIns="0" rIns="0" bIns="0" anchor="t">
            <a:spAutoFit/>
          </a:bodyPr>
          <a:lstStyle/>
          <a:p>
            <a:pPr algn="l"/>
            <a:r>
              <a:rPr sz="1050" b="1" i="0" u="none">
                <a:solidFill>
                  <a:srgbClr val="0F172A"/>
                </a:solidFill>
                <a:latin typeface="Inter"/>
              </a:rPr>
              <a:t>Conversion Funnel &amp; Tactics</a:t>
            </a:r>
          </a:p>
        </p:txBody>
      </p:sp>
      <p:sp>
        <p:nvSpPr>
          <p:cNvPr id="21" name="TextBox 20"/>
          <p:cNvSpPr txBox="1"/>
          <p:nvPr/>
        </p:nvSpPr>
        <p:spPr>
          <a:xfrm>
            <a:off x="704850" y="4176266"/>
            <a:ext cx="11487150" cy="142875"/>
          </a:xfrm>
          <a:prstGeom prst="rect">
            <a:avLst/>
          </a:prstGeom>
          <a:noFill/>
        </p:spPr>
        <p:txBody>
          <a:bodyPr wrap="none" lIns="0" tIns="0" rIns="0" bIns="0" anchor="t">
            <a:spAutoFit/>
          </a:bodyPr>
          <a:lstStyle/>
          <a:p>
            <a:pPr algn="l"/>
            <a:r>
              <a:rPr sz="900" b="1" i="0" u="none">
                <a:solidFill>
                  <a:srgbClr val="2563EB"/>
                </a:solidFill>
                <a:latin typeface="Inter"/>
              </a:rPr>
              <a:t>Free Scan → Starter → Pro → Team</a:t>
            </a:r>
          </a:p>
        </p:txBody>
      </p:sp>
      <p:sp>
        <p:nvSpPr>
          <p:cNvPr id="22" name="TextBox 21"/>
          <p:cNvSpPr txBox="1"/>
          <p:nvPr/>
        </p:nvSpPr>
        <p:spPr>
          <a:xfrm>
            <a:off x="676275" y="5585966"/>
            <a:ext cx="11515725" cy="152400"/>
          </a:xfrm>
          <a:prstGeom prst="rect">
            <a:avLst/>
          </a:prstGeom>
          <a:noFill/>
        </p:spPr>
        <p:txBody>
          <a:bodyPr wrap="none" lIns="0" tIns="0" rIns="0" bIns="0" anchor="t">
            <a:spAutoFit/>
          </a:bodyPr>
          <a:lstStyle/>
          <a:p>
            <a:pPr algn="l"/>
            <a:r>
              <a:rPr sz="975" b="1" i="0" u="none">
                <a:solidFill>
                  <a:srgbClr val="0F172A"/>
                </a:solidFill>
                <a:latin typeface="Inter"/>
              </a:rPr>
              <a:t>Primary Metrics Tracked</a:t>
            </a:r>
          </a:p>
        </p:txBody>
      </p:sp>
      <p:sp>
        <p:nvSpPr>
          <p:cNvPr id="23" name="TextBox 22"/>
          <p:cNvSpPr txBox="1"/>
          <p:nvPr/>
        </p:nvSpPr>
        <p:spPr>
          <a:xfrm>
            <a:off x="676275" y="5776466"/>
            <a:ext cx="11515725" cy="142875"/>
          </a:xfrm>
          <a:prstGeom prst="rect">
            <a:avLst/>
          </a:prstGeom>
          <a:noFill/>
        </p:spPr>
        <p:txBody>
          <a:bodyPr wrap="none" lIns="0" tIns="0" rIns="0" bIns="0" anchor="t">
            <a:spAutoFit/>
          </a:bodyPr>
          <a:lstStyle/>
          <a:p>
            <a:pPr algn="l"/>
            <a:r>
              <a:rPr sz="900" b="0" i="0" u="none">
                <a:solidFill>
                  <a:srgbClr val="64748B"/>
                </a:solidFill>
                <a:latin typeface="Inter"/>
              </a:rPr>
              <a:t>Sign-up volume, Free-to-Paid conversion rate, Monthly churn %, and Customer Acquisition Cost (CAC).</a:t>
            </a:r>
          </a:p>
        </p:txBody>
      </p:sp>
      <p:sp>
        <p:nvSpPr>
          <p:cNvPr id="24" name="TextBox 23"/>
          <p:cNvSpPr txBox="1"/>
          <p:nvPr/>
        </p:nvSpPr>
        <p:spPr>
          <a:xfrm>
            <a:off x="876300" y="4395341"/>
            <a:ext cx="11315700" cy="161925"/>
          </a:xfrm>
          <a:prstGeom prst="rect">
            <a:avLst/>
          </a:prstGeom>
          <a:noFill/>
        </p:spPr>
        <p:txBody>
          <a:bodyPr wrap="none" lIns="0" tIns="0" rIns="0" bIns="0" anchor="t">
            <a:spAutoFit/>
          </a:bodyPr>
          <a:lstStyle/>
          <a:p>
            <a:pPr algn="l"/>
            <a:r>
              <a:rPr sz="1050" b="1" i="0" u="none">
                <a:solidFill>
                  <a:srgbClr val="334155"/>
                </a:solidFill>
                <a:latin typeface="Inter"/>
              </a:rPr>
              <a:t>Viral Proof Clips:</a:t>
            </a:r>
            <a:r>
              <a:rPr sz="1050" b="0" i="0" u="none">
                <a:solidFill>
                  <a:srgbClr val="334155"/>
                </a:solidFill>
                <a:latin typeface="Inter"/>
              </a:rPr>
              <a:t> LinkedIn video demos showcasing Scope Guard blocking a tampered ROE in real-time.</a:t>
            </a:r>
          </a:p>
        </p:txBody>
      </p:sp>
      <p:sp>
        <p:nvSpPr>
          <p:cNvPr id="25" name="TextBox 24"/>
          <p:cNvSpPr txBox="1"/>
          <p:nvPr/>
        </p:nvSpPr>
        <p:spPr>
          <a:xfrm>
            <a:off x="876300" y="4633466"/>
            <a:ext cx="11315700" cy="161925"/>
          </a:xfrm>
          <a:prstGeom prst="rect">
            <a:avLst/>
          </a:prstGeom>
          <a:noFill/>
        </p:spPr>
        <p:txBody>
          <a:bodyPr wrap="none" lIns="0" tIns="0" rIns="0" bIns="0" anchor="t">
            <a:spAutoFit/>
          </a:bodyPr>
          <a:lstStyle/>
          <a:p>
            <a:pPr algn="l"/>
            <a:r>
              <a:rPr sz="1050" b="1" i="0" u="none">
                <a:solidFill>
                  <a:srgbClr val="334155"/>
                </a:solidFill>
                <a:latin typeface="Inter"/>
              </a:rPr>
              <a:t>Community Events:</a:t>
            </a:r>
            <a:r>
              <a:rPr sz="1050" b="0" i="0" u="none">
                <a:solidFill>
                  <a:srgbClr val="334155"/>
                </a:solidFill>
                <a:latin typeface="Inter"/>
              </a:rPr>
              <a:t> University hacking competitions and tech meetups.</a:t>
            </a:r>
          </a:p>
        </p:txBody>
      </p:sp>
      <p:sp>
        <p:nvSpPr>
          <p:cNvPr id="26" name="TextBox 25"/>
          <p:cNvSpPr txBox="1"/>
          <p:nvPr/>
        </p:nvSpPr>
        <p:spPr>
          <a:xfrm>
            <a:off x="876300" y="4871591"/>
            <a:ext cx="11315700" cy="161925"/>
          </a:xfrm>
          <a:prstGeom prst="rect">
            <a:avLst/>
          </a:prstGeom>
          <a:noFill/>
        </p:spPr>
        <p:txBody>
          <a:bodyPr wrap="none" lIns="0" tIns="0" rIns="0" bIns="0" anchor="t">
            <a:spAutoFit/>
          </a:bodyPr>
          <a:lstStyle/>
          <a:p>
            <a:pPr algn="l"/>
            <a:r>
              <a:rPr sz="1050" b="1" i="0" u="none">
                <a:solidFill>
                  <a:srgbClr val="334155"/>
                </a:solidFill>
                <a:latin typeface="Inter"/>
              </a:rPr>
              <a:t>Pilot Program:</a:t>
            </a:r>
            <a:r>
              <a:rPr sz="1050" b="0" i="0" u="none">
                <a:solidFill>
                  <a:srgbClr val="334155"/>
                </a:solidFill>
                <a:latin typeface="Inter"/>
              </a:rPr>
              <a:t> Partner with 5 local software houses under formal written authorization.</a:t>
            </a:r>
          </a:p>
        </p:txBody>
      </p:sp>
      <p:sp>
        <p:nvSpPr>
          <p:cNvPr id="27" name="TextBox 26"/>
          <p:cNvSpPr txBox="1"/>
          <p:nvPr/>
        </p:nvSpPr>
        <p:spPr>
          <a:xfrm>
            <a:off x="704850" y="4376291"/>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28" name="TextBox 27"/>
          <p:cNvSpPr txBox="1"/>
          <p:nvPr/>
        </p:nvSpPr>
        <p:spPr>
          <a:xfrm>
            <a:off x="704850" y="4614416"/>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29" name="TextBox 28"/>
          <p:cNvSpPr txBox="1"/>
          <p:nvPr/>
        </p:nvSpPr>
        <p:spPr>
          <a:xfrm>
            <a:off x="704850" y="4852541"/>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516260"/>
            <a:ext cx="251251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969716" y="1516260"/>
            <a:ext cx="334178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11503" y="1516260"/>
            <a:ext cx="2673399"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984902" y="1516260"/>
            <a:ext cx="178400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68905" y="1516260"/>
            <a:ext cx="965894"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44873"/>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969716" y="1844873"/>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11503" y="1844873"/>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984902" y="1844873"/>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768905" y="1844873"/>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159198"/>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969716" y="2159198"/>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11503" y="2159198"/>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84902" y="2159198"/>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768905" y="2159198"/>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2473523"/>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969716" y="2473523"/>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11503" y="2473523"/>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84902" y="2473523"/>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768905" y="2473523"/>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2787848"/>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69716" y="2787848"/>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311503" y="2787848"/>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984902" y="2787848"/>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768905" y="2787848"/>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3102173"/>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969716" y="3102173"/>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11503" y="3102173"/>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984902" y="3102173"/>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0768905" y="3102173"/>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7200" y="3416498"/>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969716" y="3416498"/>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311503" y="3416498"/>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984902" y="3416498"/>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768905" y="3416498"/>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57200" y="3730823"/>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969716" y="3730823"/>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311503" y="3730823"/>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984902" y="3730823"/>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768905" y="3730823"/>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4045148"/>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969716" y="4045148"/>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311503" y="4045148"/>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984902" y="4045148"/>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768905" y="4045148"/>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57200" y="4359473"/>
            <a:ext cx="25125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969716" y="4359473"/>
            <a:ext cx="33417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311503" y="4359473"/>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984902" y="4359473"/>
            <a:ext cx="178400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0768905" y="4359473"/>
            <a:ext cx="9658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 y="4673798"/>
            <a:ext cx="585430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1503" y="4673798"/>
            <a:ext cx="2673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984902" y="4673798"/>
            <a:ext cx="274989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7" name="Table 56"/>
          <p:cNvGraphicFramePr>
            <a:graphicFrameLocks noGrp="1"/>
          </p:cNvGraphicFramePr>
          <p:nvPr>
            <p:extLst>
              <p:ext uri="{D42A27DB-BD31-4B8C-83A1-F6EECF244321}">
                <p14:modId xmlns:p14="http://schemas.microsoft.com/office/powerpoint/2010/main" val="4196535463"/>
              </p:ext>
            </p:extLst>
          </p:nvPr>
        </p:nvGraphicFramePr>
        <p:xfrm>
          <a:off x="457200" y="1182885"/>
          <a:ext cx="11277597" cy="3552300"/>
        </p:xfrm>
        <a:graphic>
          <a:graphicData uri="http://schemas.openxmlformats.org/drawingml/2006/table">
            <a:tbl>
              <a:tblPr/>
              <a:tblGrid>
                <a:gridCol w="2512516"/>
                <a:gridCol w="3341786"/>
                <a:gridCol w="2673399"/>
                <a:gridCol w="1784002"/>
                <a:gridCol w="965894"/>
              </a:tblGrid>
              <a:tr h="318654">
                <a:tc>
                  <a:txBody>
                    <a:bodyPr/>
                    <a:lstStyle/>
                    <a:p>
                      <a:pPr algn="l"/>
                      <a:r>
                        <a:rPr sz="975" b="1" i="0" u="none" dirty="0">
                          <a:solidFill>
                            <a:srgbClr val="334155"/>
                          </a:solidFill>
                          <a:latin typeface="Inter"/>
                        </a:rPr>
                        <a:t>Item</a:t>
                      </a:r>
                    </a:p>
                  </a:txBody>
                  <a:tcPr marL="63500" marR="63500" marT="25400" marB="25400" anchor="ctr">
                    <a:lnL>
                      <a:noFill/>
                    </a:lnL>
                    <a:lnR>
                      <a:noFill/>
                    </a:lnR>
                    <a:lnT>
                      <a:noFill/>
                    </a:lnT>
                    <a:lnB>
                      <a:noFill/>
                    </a:lnB>
                    <a:solidFill>
                      <a:srgbClr val="F1F5F9"/>
                    </a:solidFill>
                  </a:tcPr>
                </a:tc>
                <a:tc>
                  <a:txBody>
                    <a:bodyPr/>
                    <a:lstStyle/>
                    <a:p>
                      <a:pPr algn="l"/>
                      <a:r>
                        <a:rPr sz="975" b="1" i="0" u="none" dirty="0">
                          <a:solidFill>
                            <a:srgbClr val="334155"/>
                          </a:solidFill>
                          <a:latin typeface="Inter"/>
                        </a:rPr>
                        <a:t>Provider</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Original Price</a:t>
                      </a:r>
                    </a:p>
                  </a:txBody>
                  <a:tcPr marL="63500" marR="63500" marT="25400" marB="25400" anchor="ctr">
                    <a:lnL>
                      <a:noFill/>
                    </a:lnL>
                    <a:lnR>
                      <a:noFill/>
                    </a:lnR>
                    <a:lnT>
                      <a:noFill/>
                    </a:lnT>
                    <a:lnB>
                      <a:noFill/>
                    </a:lnB>
                    <a:solidFill>
                      <a:srgbClr val="F1F5F9"/>
                    </a:solidFill>
                  </a:tcPr>
                </a:tc>
                <a:tc>
                  <a:txBody>
                    <a:bodyPr/>
                    <a:lstStyle/>
                    <a:p>
                      <a:pPr algn="l"/>
                      <a:r>
                        <a:rPr sz="975" b="1" i="0" u="none" dirty="0">
                          <a:solidFill>
                            <a:srgbClr val="334155"/>
                          </a:solidFill>
                          <a:latin typeface="Inter"/>
                        </a:rPr>
                        <a:t>In PKR</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Src</a:t>
                      </a:r>
                    </a:p>
                  </a:txBody>
                  <a:tcPr marL="63500" marR="63500" marT="25400" marB="25400" anchor="ctr">
                    <a:lnL>
                      <a:noFill/>
                    </a:lnL>
                    <a:lnR>
                      <a:noFill/>
                    </a:lnR>
                    <a:lnT>
                      <a:noFill/>
                    </a:lnT>
                    <a:lnB>
                      <a:noFill/>
                    </a:lnB>
                    <a:solidFill>
                      <a:srgbClr val="F1F5F9"/>
                    </a:solidFill>
                  </a:tcPr>
                </a:tc>
              </a:tr>
              <a:tr h="318654">
                <a:tc>
                  <a:txBody>
                    <a:bodyPr/>
                    <a:lstStyle/>
                    <a:p>
                      <a:pPr algn="l"/>
                      <a:r>
                        <a:rPr sz="975" b="0" i="0" u="none" dirty="0">
                          <a:solidFill>
                            <a:srgbClr val="334155"/>
                          </a:solidFill>
                          <a:latin typeface="Inter"/>
                        </a:rPr>
                        <a:t>Code tools &amp; Lab </a:t>
                      </a:r>
                      <a:r>
                        <a:rPr sz="975" b="0" i="0" u="none" dirty="0" err="1">
                          <a:solidFill>
                            <a:srgbClr val="334155"/>
                          </a:solidFill>
                          <a:latin typeface="Inter"/>
                        </a:rPr>
                        <a:t>Env</a:t>
                      </a:r>
                      <a:endParaRPr sz="975" b="0" i="0" u="none" dirty="0">
                        <a:solidFill>
                          <a:srgbClr val="334155"/>
                        </a:solidFill>
                        <a:latin typeface="Inter"/>
                      </a:endParaRPr>
                    </a:p>
                  </a:txBody>
                  <a:tcPr marL="63500" marR="63500" marT="25400" marB="25400" anchor="ctr">
                    <a:lnL>
                      <a:noFill/>
                    </a:lnL>
                    <a:lnR>
                      <a:noFill/>
                    </a:lnR>
                    <a:lnT>
                      <a:noFill/>
                    </a:lnT>
                    <a:lnB>
                      <a:noFill/>
                    </a:lnB>
                    <a:solidFill>
                      <a:srgbClr val="FFFFFF"/>
                    </a:solidFill>
                  </a:tcPr>
                </a:tc>
                <a:tc>
                  <a:txBody>
                    <a:bodyPr/>
                    <a:lstStyle/>
                    <a:p>
                      <a:pPr algn="l"/>
                      <a:r>
                        <a:rPr sz="975" b="0" i="0" u="none" dirty="0">
                          <a:solidFill>
                            <a:srgbClr val="334155"/>
                          </a:solidFill>
                          <a:latin typeface="Inter"/>
                        </a:rPr>
                        <a:t>Open Source (Python, Kali, Juice Shop)</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Free</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0</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Prop §7</a:t>
                      </a:r>
                    </a:p>
                  </a:txBody>
                  <a:tcPr marL="63500" marR="63500" marT="25400" marB="25400" anchor="ctr">
                    <a:lnL>
                      <a:noFill/>
                    </a:lnL>
                    <a:lnR>
                      <a:noFill/>
                    </a:lnR>
                    <a:lnT>
                      <a:noFill/>
                    </a:lnT>
                    <a:lnB>
                      <a:noFill/>
                    </a:lnB>
                    <a:solidFill>
                      <a:srgbClr val="FFFFFF"/>
                    </a:solidFill>
                  </a:tcPr>
                </a:tc>
              </a:tr>
              <a:tr h="318654">
                <a:tc>
                  <a:txBody>
                    <a:bodyPr/>
                    <a:lstStyle/>
                    <a:p>
                      <a:pPr algn="l"/>
                      <a:r>
                        <a:rPr sz="975" b="0" i="0" u="none">
                          <a:solidFill>
                            <a:srgbClr val="334155"/>
                          </a:solidFill>
                          <a:latin typeface="Inter"/>
                        </a:rPr>
                        <a:t>Threat Intelligence Feed</a:t>
                      </a:r>
                    </a:p>
                  </a:txBody>
                  <a:tcPr marL="63500" marR="63500" marT="25400" marB="25400" anchor="ctr">
                    <a:lnL>
                      <a:noFill/>
                    </a:lnL>
                    <a:lnR>
                      <a:noFill/>
                    </a:lnR>
                    <a:lnT>
                      <a:noFill/>
                    </a:lnT>
                    <a:lnB>
                      <a:noFill/>
                    </a:lnB>
                    <a:solidFill>
                      <a:srgbClr val="F8FAFC"/>
                    </a:solidFill>
                  </a:tcPr>
                </a:tc>
                <a:tc>
                  <a:txBody>
                    <a:bodyPr/>
                    <a:lstStyle/>
                    <a:p>
                      <a:pPr algn="l"/>
                      <a:r>
                        <a:rPr sz="975" b="0" i="0" u="none" dirty="0">
                          <a:solidFill>
                            <a:srgbClr val="334155"/>
                          </a:solidFill>
                          <a:latin typeface="Inter"/>
                        </a:rPr>
                        <a:t>CISA KEV</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Free</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Proposal</a:t>
                      </a:r>
                    </a:p>
                  </a:txBody>
                  <a:tcPr marL="63500" marR="63500" marT="25400" marB="25400" anchor="ctr">
                    <a:lnL>
                      <a:noFill/>
                    </a:lnL>
                    <a:lnR>
                      <a:noFill/>
                    </a:lnR>
                    <a:lnT>
                      <a:noFill/>
                    </a:lnT>
                    <a:lnB>
                      <a:noFill/>
                    </a:lnB>
                    <a:solidFill>
                      <a:srgbClr val="F8FAFC"/>
                    </a:solidFill>
                  </a:tcPr>
                </a:tc>
              </a:tr>
              <a:tr h="318654">
                <a:tc>
                  <a:txBody>
                    <a:bodyPr/>
                    <a:lstStyle/>
                    <a:p>
                      <a:pPr algn="l"/>
                      <a:r>
                        <a:rPr sz="975" b="0" i="0" u="none">
                          <a:solidFill>
                            <a:srgbClr val="334155"/>
                          </a:solidFill>
                          <a:latin typeface="Inter"/>
                        </a:rPr>
                        <a:t>AI Testing Model (100 scans)</a:t>
                      </a:r>
                    </a:p>
                  </a:txBody>
                  <a:tcPr marL="63500" marR="63500" marT="25400" marB="25400" anchor="ctr">
                    <a:lnL>
                      <a:noFill/>
                    </a:lnL>
                    <a:lnR>
                      <a:noFill/>
                    </a:lnR>
                    <a:lnT>
                      <a:noFill/>
                    </a:lnT>
                    <a:lnB>
                      <a:noFill/>
                    </a:lnB>
                    <a:solidFill>
                      <a:srgbClr val="FFFFFF"/>
                    </a:solidFill>
                  </a:tcPr>
                </a:tc>
                <a:tc>
                  <a:txBody>
                    <a:bodyPr/>
                    <a:lstStyle/>
                    <a:p>
                      <a:pPr algn="l"/>
                      <a:r>
                        <a:rPr sz="975" b="0" i="0" u="none" dirty="0" err="1">
                          <a:solidFill>
                            <a:srgbClr val="334155"/>
                          </a:solidFill>
                          <a:latin typeface="Inter"/>
                        </a:rPr>
                        <a:t>Groq</a:t>
                      </a:r>
                      <a:r>
                        <a:rPr sz="975" b="0" i="0" u="none" dirty="0">
                          <a:solidFill>
                            <a:srgbClr val="334155"/>
                          </a:solidFill>
                          <a:latin typeface="Inter"/>
                        </a:rPr>
                        <a:t> (Llama 3.3 70B</a:t>
                      </a:r>
                      <a:r>
                        <a:rPr sz="975" b="0" i="0" u="none" dirty="0" smtClean="0">
                          <a:solidFill>
                            <a:srgbClr val="334155"/>
                          </a:solidFill>
                          <a:latin typeface="Inter"/>
                        </a:rPr>
                        <a:t>)</a:t>
                      </a:r>
                      <a:r>
                        <a:rPr lang="en-US" sz="975" b="0" i="0" u="none" dirty="0" smtClean="0">
                          <a:solidFill>
                            <a:srgbClr val="334155"/>
                          </a:solidFill>
                          <a:latin typeface="Inter"/>
                        </a:rPr>
                        <a:t>/GPT</a:t>
                      </a:r>
                      <a:r>
                        <a:rPr lang="en-US" sz="975" b="0" i="0" u="none" baseline="0" dirty="0" smtClean="0">
                          <a:solidFill>
                            <a:srgbClr val="334155"/>
                          </a:solidFill>
                          <a:latin typeface="Inter"/>
                        </a:rPr>
                        <a:t> OSS</a:t>
                      </a:r>
                      <a:endParaRPr sz="975" b="0" i="0" u="none" dirty="0">
                        <a:solidFill>
                          <a:srgbClr val="334155"/>
                        </a:solidFill>
                        <a:latin typeface="Inter"/>
                      </a:endParaRPr>
                    </a:p>
                  </a:txBody>
                  <a:tcPr marL="63500" marR="63500" marT="25400" marB="25400" anchor="ctr">
                    <a:lnL>
                      <a:noFill/>
                    </a:lnL>
                    <a:lnR>
                      <a:noFill/>
                    </a:lnR>
                    <a:lnT>
                      <a:noFill/>
                    </a:lnT>
                    <a:lnB>
                      <a:noFill/>
                    </a:lnB>
                    <a:solidFill>
                      <a:srgbClr val="FFFFFF"/>
                    </a:solidFill>
                  </a:tcPr>
                </a:tc>
                <a:tc>
                  <a:txBody>
                    <a:bodyPr/>
                    <a:lstStyle/>
                    <a:p>
                      <a:pPr algn="l"/>
                      <a:r>
                        <a:rPr sz="975" b="0" i="0" u="none" dirty="0">
                          <a:solidFill>
                            <a:srgbClr val="334155"/>
                          </a:solidFill>
                          <a:latin typeface="Inter"/>
                        </a:rPr>
                        <a:t>$0.59 in / $0.79 out per 1M </a:t>
                      </a:r>
                      <a:r>
                        <a:rPr sz="975" b="0" i="0" u="none" dirty="0" err="1">
                          <a:solidFill>
                            <a:srgbClr val="334155"/>
                          </a:solidFill>
                          <a:latin typeface="Inter"/>
                        </a:rPr>
                        <a:t>tok</a:t>
                      </a:r>
                      <a:endParaRPr sz="975" b="0" i="0" u="none" dirty="0">
                        <a:solidFill>
                          <a:srgbClr val="334155"/>
                        </a:solidFill>
                        <a:latin typeface="Inter"/>
                      </a:endParaRPr>
                    </a:p>
                  </a:txBody>
                  <a:tcPr marL="63500" marR="63500" marT="25400" marB="25400" anchor="ctr">
                    <a:lnL>
                      <a:noFill/>
                    </a:lnL>
                    <a:lnR>
                      <a:noFill/>
                    </a:lnR>
                    <a:lnT>
                      <a:noFill/>
                    </a:lnT>
                    <a:lnB>
                      <a:noFill/>
                    </a:lnB>
                    <a:solidFill>
                      <a:srgbClr val="FFFFFF"/>
                    </a:solidFill>
                  </a:tcPr>
                </a:tc>
                <a:tc>
                  <a:txBody>
                    <a:bodyPr/>
                    <a:lstStyle/>
                    <a:p>
                      <a:pPr algn="l"/>
                      <a:r>
                        <a:rPr sz="975" b="0" i="0" u="none" dirty="0">
                          <a:solidFill>
                            <a:srgbClr val="334155"/>
                          </a:solidFill>
                          <a:latin typeface="Inter"/>
                        </a:rPr>
                        <a:t>≈ 3,500 (~35/scan)</a:t>
                      </a:r>
                    </a:p>
                  </a:txBody>
                  <a:tcPr marL="63500" marR="63500" marT="25400" marB="25400" anchor="ctr">
                    <a:lnL>
                      <a:noFill/>
                    </a:lnL>
                    <a:lnR>
                      <a:noFill/>
                    </a:lnR>
                    <a:lnT>
                      <a:noFill/>
                    </a:lnT>
                    <a:lnB>
                      <a:noFill/>
                    </a:lnB>
                    <a:solidFill>
                      <a:srgbClr val="FFFFFF"/>
                    </a:solidFill>
                  </a:tcPr>
                </a:tc>
                <a:tc>
                  <a:txBody>
                    <a:bodyPr/>
                    <a:lstStyle/>
                    <a:p>
                      <a:pPr algn="l"/>
                      <a:r>
                        <a:rPr sz="975" b="0" i="0" u="none" dirty="0">
                          <a:solidFill>
                            <a:srgbClr val="334155"/>
                          </a:solidFill>
                          <a:latin typeface="Inter"/>
                        </a:rPr>
                        <a:t>[1]</a:t>
                      </a:r>
                    </a:p>
                  </a:txBody>
                  <a:tcPr marL="63500" marR="63500" marT="25400" marB="25400" anchor="ctr">
                    <a:lnL>
                      <a:noFill/>
                    </a:lnL>
                    <a:lnR>
                      <a:noFill/>
                    </a:lnR>
                    <a:lnT>
                      <a:noFill/>
                    </a:lnT>
                    <a:lnB>
                      <a:noFill/>
                    </a:lnB>
                    <a:solidFill>
                      <a:srgbClr val="FFFFFF"/>
                    </a:solidFill>
                  </a:tcPr>
                </a:tc>
              </a:tr>
              <a:tr h="318654">
                <a:tc>
                  <a:txBody>
                    <a:bodyPr/>
                    <a:lstStyle/>
                    <a:p>
                      <a:pPr algn="l"/>
                      <a:r>
                        <a:rPr sz="975" b="0" i="0" u="none">
                          <a:solidFill>
                            <a:srgbClr val="334155"/>
                          </a:solidFill>
                          <a:latin typeface="Inter"/>
                        </a:rPr>
                        <a:t>Domain Name (.com)</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Cloudflare</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$10.46 / year</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2,897 / year</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[2]</a:t>
                      </a:r>
                    </a:p>
                  </a:txBody>
                  <a:tcPr marL="63500" marR="63500" marT="25400" marB="25400" anchor="ctr">
                    <a:lnL>
                      <a:noFill/>
                    </a:lnL>
                    <a:lnR>
                      <a:noFill/>
                    </a:lnR>
                    <a:lnT>
                      <a:noFill/>
                    </a:lnT>
                    <a:lnB>
                      <a:noFill/>
                    </a:lnB>
                    <a:solidFill>
                      <a:srgbClr val="F8FAFC"/>
                    </a:solidFill>
                  </a:tcPr>
                </a:tc>
              </a:tr>
              <a:tr h="318654">
                <a:tc>
                  <a:txBody>
                    <a:bodyPr/>
                    <a:lstStyle/>
                    <a:p>
                      <a:pPr algn="l"/>
                      <a:r>
                        <a:rPr sz="975" b="0" i="0" u="none">
                          <a:solidFill>
                            <a:srgbClr val="334155"/>
                          </a:solidFill>
                          <a:latin typeface="Inter"/>
                        </a:rPr>
                        <a:t>Server (2 vCPU, 4 GB)</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DigitalOcean Droplet</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$24 / month</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6,648 / month</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[3]</a:t>
                      </a:r>
                    </a:p>
                  </a:txBody>
                  <a:tcPr marL="63500" marR="63500" marT="25400" marB="25400" anchor="ctr">
                    <a:lnL>
                      <a:noFill/>
                    </a:lnL>
                    <a:lnR>
                      <a:noFill/>
                    </a:lnR>
                    <a:lnT>
                      <a:noFill/>
                    </a:lnT>
                    <a:lnB>
                      <a:noFill/>
                    </a:lnB>
                    <a:solidFill>
                      <a:srgbClr val="FFFFFF"/>
                    </a:solidFill>
                  </a:tcPr>
                </a:tc>
              </a:tr>
              <a:tr h="318654">
                <a:tc>
                  <a:txBody>
                    <a:bodyPr/>
                    <a:lstStyle/>
                    <a:p>
                      <a:pPr algn="l"/>
                      <a:r>
                        <a:rPr sz="975" b="0" i="0" u="none">
                          <a:solidFill>
                            <a:srgbClr val="334155"/>
                          </a:solidFill>
                          <a:latin typeface="Inter"/>
                        </a:rPr>
                        <a:t>Managed Database</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DigitalOcean</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From $15 / month</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4,155 / month</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[4]</a:t>
                      </a:r>
                    </a:p>
                  </a:txBody>
                  <a:tcPr marL="63500" marR="63500" marT="25400" marB="25400" anchor="ctr">
                    <a:lnL>
                      <a:noFill/>
                    </a:lnL>
                    <a:lnR>
                      <a:noFill/>
                    </a:lnR>
                    <a:lnT>
                      <a:noFill/>
                    </a:lnT>
                    <a:lnB>
                      <a:noFill/>
                    </a:lnB>
                    <a:solidFill>
                      <a:srgbClr val="F8FAFC"/>
                    </a:solidFill>
                  </a:tcPr>
                </a:tc>
              </a:tr>
              <a:tr h="318654">
                <a:tc>
                  <a:txBody>
                    <a:bodyPr/>
                    <a:lstStyle/>
                    <a:p>
                      <a:pPr algn="l"/>
                      <a:r>
                        <a:rPr sz="975" b="0" i="0" u="none">
                          <a:solidFill>
                            <a:srgbClr val="334155"/>
                          </a:solidFill>
                          <a:latin typeface="Inter"/>
                        </a:rPr>
                        <a:t>Server Backups</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DigitalOcean (20% of server)</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$4.80 / month</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1,330 / month</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[5]</a:t>
                      </a:r>
                    </a:p>
                  </a:txBody>
                  <a:tcPr marL="63500" marR="63500" marT="25400" marB="25400" anchor="ctr">
                    <a:lnL>
                      <a:noFill/>
                    </a:lnL>
                    <a:lnR>
                      <a:noFill/>
                    </a:lnR>
                    <a:lnT>
                      <a:noFill/>
                    </a:lnT>
                    <a:lnB>
                      <a:noFill/>
                    </a:lnB>
                    <a:solidFill>
                      <a:srgbClr val="FFFFFF"/>
                    </a:solidFill>
                  </a:tcPr>
                </a:tc>
              </a:tr>
              <a:tr h="318654">
                <a:tc>
                  <a:txBody>
                    <a:bodyPr/>
                    <a:lstStyle/>
                    <a:p>
                      <a:pPr algn="l"/>
                      <a:r>
                        <a:rPr sz="975" b="0" i="0" u="none">
                          <a:solidFill>
                            <a:srgbClr val="334155"/>
                          </a:solidFill>
                          <a:latin typeface="Inter"/>
                        </a:rPr>
                        <a:t>Business Email (2 accounts)</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Namecheap</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$1.99 / mailbox / mo</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1,102 / month</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[6]</a:t>
                      </a:r>
                    </a:p>
                  </a:txBody>
                  <a:tcPr marL="63500" marR="63500" marT="25400" marB="25400" anchor="ctr">
                    <a:lnL>
                      <a:noFill/>
                    </a:lnL>
                    <a:lnR>
                      <a:noFill/>
                    </a:lnR>
                    <a:lnT>
                      <a:noFill/>
                    </a:lnT>
                    <a:lnB>
                      <a:noFill/>
                    </a:lnB>
                    <a:solidFill>
                      <a:srgbClr val="F8FAFC"/>
                    </a:solidFill>
                  </a:tcPr>
                </a:tc>
              </a:tr>
              <a:tr h="318654">
                <a:tc>
                  <a:txBody>
                    <a:bodyPr/>
                    <a:lstStyle/>
                    <a:p>
                      <a:pPr algn="l"/>
                      <a:r>
                        <a:rPr sz="975" b="0" i="0" u="none">
                          <a:solidFill>
                            <a:srgbClr val="334155"/>
                          </a:solidFill>
                          <a:latin typeface="Inter"/>
                        </a:rPr>
                        <a:t>Payment Processing</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Safepay</a:t>
                      </a:r>
                    </a:p>
                  </a:txBody>
                  <a:tcPr marL="63500" marR="63500" marT="25400" marB="25400" anchor="ctr">
                    <a:lnL>
                      <a:noFill/>
                    </a:lnL>
                    <a:lnR>
                      <a:noFill/>
                    </a:lnR>
                    <a:lnT>
                      <a:noFill/>
                    </a:lnT>
                    <a:lnB>
                      <a:noFill/>
                    </a:lnB>
                    <a:solidFill>
                      <a:srgbClr val="FFFFFF"/>
                    </a:solidFill>
                  </a:tcPr>
                </a:tc>
                <a:tc>
                  <a:txBody>
                    <a:bodyPr/>
                    <a:lstStyle/>
                    <a:p>
                      <a:pPr algn="l"/>
                      <a:r>
                        <a:rPr sz="975" b="0" i="0" u="none" dirty="0">
                          <a:solidFill>
                            <a:srgbClr val="334155"/>
                          </a:solidFill>
                          <a:latin typeface="Inter"/>
                        </a:rPr>
                        <a:t>2.5% per transaction</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270 / Pro payment</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[7]</a:t>
                      </a:r>
                    </a:p>
                  </a:txBody>
                  <a:tcPr marL="63500" marR="63500" marT="25400" marB="25400" anchor="ctr">
                    <a:lnL>
                      <a:noFill/>
                    </a:lnL>
                    <a:lnR>
                      <a:noFill/>
                    </a:lnR>
                    <a:lnT>
                      <a:noFill/>
                    </a:lnT>
                    <a:lnB>
                      <a:noFill/>
                    </a:lnB>
                    <a:solidFill>
                      <a:srgbClr val="FFFFFF"/>
                    </a:solidFill>
                  </a:tcPr>
                </a:tc>
              </a:tr>
              <a:tr h="318660">
                <a:tc>
                  <a:txBody>
                    <a:bodyPr/>
                    <a:lstStyle/>
                    <a:p>
                      <a:pPr algn="l"/>
                      <a:r>
                        <a:rPr sz="975" b="1" i="0" u="none">
                          <a:solidFill>
                            <a:srgbClr val="334155"/>
                          </a:solidFill>
                          <a:latin typeface="Inter"/>
                        </a:rPr>
                        <a:t>Total Running Cost / Month</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334155"/>
                          </a:solidFill>
                          <a:latin typeface="Inter"/>
                        </a:rPr>
                        <a:t>≈ $48.65</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2563EB"/>
                          </a:solidFill>
                          <a:latin typeface="Inter"/>
                        </a:rPr>
                        <a:t>≈ PKR 13,476 / month</a:t>
                      </a:r>
                    </a:p>
                  </a:txBody>
                  <a:tcPr marL="63500" marR="63500" marT="25400" marB="25400" anchor="ctr">
                    <a:lnL>
                      <a:noFill/>
                    </a:lnL>
                    <a:lnR>
                      <a:noFill/>
                    </a:lnR>
                    <a:lnT>
                      <a:noFill/>
                    </a:lnT>
                    <a:lnB>
                      <a:noFill/>
                    </a:lnB>
                    <a:solidFill>
                      <a:srgbClr val="F8FAFC"/>
                    </a:solidFill>
                  </a:tcPr>
                </a:tc>
                <a:tc>
                  <a:txBody>
                    <a:bodyPr/>
                    <a:lstStyle/>
                    <a:p>
                      <a:endParaRPr/>
                    </a:p>
                  </a:txBody>
                  <a:tcPr>
                    <a:lnL>
                      <a:noFill/>
                    </a:lnL>
                    <a:lnR>
                      <a:noFill/>
                    </a:lnR>
                    <a:lnT>
                      <a:noFill/>
                    </a:lnT>
                    <a:lnB>
                      <a:noFill/>
                    </a:lnB>
                  </a:tcPr>
                </a:tc>
                <a:tc>
                  <a:txBody>
                    <a:bodyPr/>
                    <a:lstStyle/>
                    <a:p>
                      <a:endParaRPr/>
                    </a:p>
                  </a:txBody>
                  <a:tcPr>
                    <a:lnL>
                      <a:noFill/>
                    </a:lnL>
                    <a:lnR>
                      <a:noFill/>
                    </a:lnR>
                    <a:lnT>
                      <a:noFill/>
                    </a:lnT>
                    <a:lnB>
                      <a:noFill/>
                    </a:lnB>
                  </a:tcPr>
                </a:tc>
              </a:tr>
            </a:tbl>
          </a:graphicData>
        </a:graphic>
      </p:graphicFrame>
      <p:sp>
        <p:nvSpPr>
          <p:cNvPr id="58" name="TextBox 57"/>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[1] CloudZero Groq Pricing · [2] Porkbun Domain Calculator · [3] LinuxTeck 2026 · [4] TemperStack · [5] InfraTally · [6] Vendr Namecheap · [7] Safepay Docs</a:t>
            </a:r>
          </a:p>
        </p:txBody>
      </p:sp>
      <p:sp>
        <p:nvSpPr>
          <p:cNvPr id="59" name="TextBox 58"/>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60" name="TextBox 59"/>
          <p:cNvSpPr txBox="1"/>
          <p:nvPr/>
        </p:nvSpPr>
        <p:spPr>
          <a:xfrm>
            <a:off x="457200" y="4745235"/>
            <a:ext cx="11734800" cy="133350"/>
          </a:xfrm>
          <a:prstGeom prst="rect">
            <a:avLst/>
          </a:prstGeom>
          <a:noFill/>
        </p:spPr>
        <p:txBody>
          <a:bodyPr wrap="none" lIns="0" tIns="0" rIns="0" bIns="0" anchor="t">
            <a:spAutoFit/>
          </a:bodyPr>
          <a:lstStyle/>
          <a:p>
            <a:pPr algn="l"/>
            <a:r>
              <a:rPr sz="825" b="0" i="1" u="none">
                <a:solidFill>
                  <a:srgbClr val="64748B"/>
                </a:solidFill>
                <a:latin typeface="Inter"/>
              </a:rPr>
              <a:t>⚠ Scan cost assumption: 170k input + 35k output tokens per scan/report = $0.128 (PKR 35.5). Validate with empirical Logger metrics.</a:t>
            </a:r>
          </a:p>
        </p:txBody>
      </p:sp>
      <p:sp>
        <p:nvSpPr>
          <p:cNvPr id="61" name="TextBox 60"/>
          <p:cNvSpPr txBox="1"/>
          <p:nvPr/>
        </p:nvSpPr>
        <p:spPr>
          <a:xfrm>
            <a:off x="457200" y="381000"/>
            <a:ext cx="4036218" cy="152400"/>
          </a:xfrm>
          <a:prstGeom prst="rect">
            <a:avLst/>
          </a:prstGeom>
          <a:noFill/>
        </p:spPr>
        <p:txBody>
          <a:bodyPr wrap="none" lIns="0" tIns="0" rIns="0" bIns="0" anchor="t">
            <a:spAutoFit/>
          </a:bodyPr>
          <a:lstStyle/>
          <a:p>
            <a:pPr algn="l"/>
            <a:r>
              <a:rPr sz="975" b="1" i="0" u="none">
                <a:solidFill>
                  <a:srgbClr val="2563EB"/>
                </a:solidFill>
                <a:latin typeface="Inter"/>
              </a:rPr>
              <a:t>COST STRUCTURE</a:t>
            </a:r>
          </a:p>
        </p:txBody>
      </p:sp>
      <p:sp>
        <p:nvSpPr>
          <p:cNvPr id="62" name="TextBox 61"/>
          <p:cNvSpPr txBox="1"/>
          <p:nvPr/>
        </p:nvSpPr>
        <p:spPr>
          <a:xfrm>
            <a:off x="457200" y="571500"/>
            <a:ext cx="4238029"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Operating Cost Breakdown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4040385"/>
            <a:ext cx="11277600" cy="2066925"/>
          </a:xfrm>
          <a:prstGeom prst="roundRect">
            <a:avLst>
              <a:gd name="adj" fmla="val 460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725810"/>
            <a:ext cx="5415111"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872311" y="1725810"/>
            <a:ext cx="2613273"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485584" y="1725810"/>
            <a:ext cx="1647973"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133558" y="1725810"/>
            <a:ext cx="1601241"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76275" y="5402460"/>
            <a:ext cx="10839450" cy="523875"/>
          </a:xfrm>
          <a:prstGeom prst="roundRect">
            <a:avLst>
              <a:gd name="adj" fmla="val 10909"/>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054423"/>
            <a:ext cx="54151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872311" y="2054423"/>
            <a:ext cx="26132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85584" y="2054423"/>
            <a:ext cx="1647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133558" y="2054423"/>
            <a:ext cx="16012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368748"/>
            <a:ext cx="54151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72311" y="2368748"/>
            <a:ext cx="26132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85584" y="2368748"/>
            <a:ext cx="1647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133558" y="2368748"/>
            <a:ext cx="16012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692598"/>
            <a:ext cx="54151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872311" y="2692598"/>
            <a:ext cx="26132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485584" y="2692598"/>
            <a:ext cx="1647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0133558" y="2692598"/>
            <a:ext cx="16012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016448"/>
            <a:ext cx="54151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872311" y="3016448"/>
            <a:ext cx="26132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485584" y="3016448"/>
            <a:ext cx="1647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133558" y="3016448"/>
            <a:ext cx="16012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340298"/>
            <a:ext cx="54151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872311" y="3340298"/>
            <a:ext cx="26132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485584" y="3340298"/>
            <a:ext cx="1647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133558" y="3340298"/>
            <a:ext cx="16012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3654623"/>
            <a:ext cx="54151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872311" y="3654623"/>
            <a:ext cx="26132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485584" y="3654623"/>
            <a:ext cx="1647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0133558" y="3654623"/>
            <a:ext cx="16012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4" name="Table 33"/>
          <p:cNvGraphicFramePr>
            <a:graphicFrameLocks noGrp="1"/>
          </p:cNvGraphicFramePr>
          <p:nvPr/>
        </p:nvGraphicFramePr>
        <p:xfrm>
          <a:off x="457200" y="1392435"/>
          <a:ext cx="11277598" cy="2276475"/>
        </p:xfrm>
        <a:graphic>
          <a:graphicData uri="http://schemas.openxmlformats.org/drawingml/2006/table">
            <a:tbl>
              <a:tblPr/>
              <a:tblGrid>
                <a:gridCol w="5415111"/>
                <a:gridCol w="2613273"/>
                <a:gridCol w="1647973"/>
                <a:gridCol w="1601241"/>
              </a:tblGrid>
              <a:tr h="325210">
                <a:tc>
                  <a:txBody>
                    <a:bodyPr/>
                    <a:lstStyle/>
                    <a:p>
                      <a:pPr algn="l"/>
                      <a:r>
                        <a:rPr sz="975" b="1" i="0" u="none">
                          <a:solidFill>
                            <a:srgbClr val="334155"/>
                          </a:solidFill>
                          <a:latin typeface="Inter"/>
                        </a:rPr>
                        <a:t>Item</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PKR</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USD</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Src</a:t>
                      </a:r>
                    </a:p>
                  </a:txBody>
                  <a:tcPr marL="63500" marR="63500" marT="25400" marB="25400" anchor="ctr">
                    <a:lnL>
                      <a:noFill/>
                    </a:lnL>
                    <a:lnR>
                      <a:noFill/>
                    </a:lnR>
                    <a:lnT>
                      <a:noFill/>
                    </a:lnT>
                    <a:lnB>
                      <a:noFill/>
                    </a:lnB>
                    <a:solidFill>
                      <a:srgbClr val="F1F5F9"/>
                    </a:solidFill>
                  </a:tcPr>
                </a:tc>
              </a:tr>
              <a:tr h="325210">
                <a:tc>
                  <a:txBody>
                    <a:bodyPr/>
                    <a:lstStyle/>
                    <a:p>
                      <a:pPr algn="l"/>
                      <a:r>
                        <a:rPr sz="975" b="0" i="0" u="none">
                          <a:solidFill>
                            <a:srgbClr val="334155"/>
                          </a:solidFill>
                          <a:latin typeface="Inter"/>
                        </a:rPr>
                        <a:t>SECP Registration (Pvt Ltd)</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2,400</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$8.7</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[1][2]</a:t>
                      </a:r>
                    </a:p>
                  </a:txBody>
                  <a:tcPr marL="63500" marR="63500" marT="25400" marB="25400" anchor="ctr">
                    <a:lnL>
                      <a:noFill/>
                    </a:lnL>
                    <a:lnR>
                      <a:noFill/>
                    </a:lnR>
                    <a:lnT>
                      <a:noFill/>
                    </a:lnT>
                    <a:lnB>
                      <a:noFill/>
                    </a:lnB>
                    <a:solidFill>
                      <a:srgbClr val="FFFFFF"/>
                    </a:solidFill>
                  </a:tcPr>
                </a:tc>
              </a:tr>
              <a:tr h="325210">
                <a:tc>
                  <a:txBody>
                    <a:bodyPr/>
                    <a:lstStyle/>
                    <a:p>
                      <a:pPr algn="l"/>
                      <a:r>
                        <a:rPr sz="975" b="0" i="0" u="none">
                          <a:solidFill>
                            <a:srgbClr val="334155"/>
                          </a:solidFill>
                          <a:latin typeface="Inter"/>
                        </a:rPr>
                        <a:t>PSEB Registration</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5,000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$18.1</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[3]</a:t>
                      </a:r>
                    </a:p>
                  </a:txBody>
                  <a:tcPr marL="63500" marR="63500" marT="25400" marB="25400" anchor="ctr">
                    <a:lnL>
                      <a:noFill/>
                    </a:lnL>
                    <a:lnR>
                      <a:noFill/>
                    </a:lnR>
                    <a:lnT>
                      <a:noFill/>
                    </a:lnT>
                    <a:lnB>
                      <a:noFill/>
                    </a:lnB>
                    <a:solidFill>
                      <a:srgbClr val="F8FAFC"/>
                    </a:solidFill>
                  </a:tcPr>
                </a:tc>
              </a:tr>
              <a:tr h="325210">
                <a:tc>
                  <a:txBody>
                    <a:bodyPr/>
                    <a:lstStyle/>
                    <a:p>
                      <a:pPr algn="l"/>
                      <a:r>
                        <a:rPr sz="975" b="0" i="0" u="none">
                          <a:solidFill>
                            <a:srgbClr val="334155"/>
                          </a:solidFill>
                          <a:latin typeface="Inter"/>
                        </a:rPr>
                        <a:t>Free/Pilot Scans (2,000 scans) ⚠</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71,000</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$256</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Slide 11</a:t>
                      </a:r>
                    </a:p>
                  </a:txBody>
                  <a:tcPr marL="63500" marR="63500" marT="25400" marB="25400" anchor="ctr">
                    <a:lnL>
                      <a:noFill/>
                    </a:lnL>
                    <a:lnR>
                      <a:noFill/>
                    </a:lnR>
                    <a:lnT>
                      <a:noFill/>
                    </a:lnT>
                    <a:lnB>
                      <a:noFill/>
                    </a:lnB>
                    <a:solidFill>
                      <a:srgbClr val="FFFFFF"/>
                    </a:solidFill>
                  </a:tcPr>
                </a:tc>
              </a:tr>
              <a:tr h="325210">
                <a:tc>
                  <a:txBody>
                    <a:bodyPr/>
                    <a:lstStyle/>
                    <a:p>
                      <a:pPr algn="l"/>
                      <a:r>
                        <a:rPr sz="975" b="0" i="0" u="none">
                          <a:solidFill>
                            <a:srgbClr val="334155"/>
                          </a:solidFill>
                          <a:latin typeface="Inter"/>
                        </a:rPr>
                        <a:t>Platform Security Audit ⚠</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150,000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$541</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Est.</a:t>
                      </a:r>
                    </a:p>
                  </a:txBody>
                  <a:tcPr marL="63500" marR="63500" marT="25400" marB="25400" anchor="ctr">
                    <a:lnL>
                      <a:noFill/>
                    </a:lnL>
                    <a:lnR>
                      <a:noFill/>
                    </a:lnR>
                    <a:lnT>
                      <a:noFill/>
                    </a:lnT>
                    <a:lnB>
                      <a:noFill/>
                    </a:lnB>
                    <a:solidFill>
                      <a:srgbClr val="F8FAFC"/>
                    </a:solidFill>
                  </a:tcPr>
                </a:tc>
              </a:tr>
              <a:tr h="325210">
                <a:tc>
                  <a:txBody>
                    <a:bodyPr/>
                    <a:lstStyle/>
                    <a:p>
                      <a:pPr algn="l"/>
                      <a:r>
                        <a:rPr sz="975" b="0" i="0" u="none">
                          <a:solidFill>
                            <a:srgbClr val="334155"/>
                          </a:solidFill>
                          <a:latin typeface="Inter"/>
                        </a:rPr>
                        <a:t>Legal Review (Terms/Privacy) ⚠</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50,000</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$181</a:t>
                      </a: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Est.</a:t>
                      </a:r>
                    </a:p>
                  </a:txBody>
                  <a:tcPr marL="63500" marR="63500" marT="25400" marB="25400" anchor="ctr">
                    <a:lnL>
                      <a:noFill/>
                    </a:lnL>
                    <a:lnR>
                      <a:noFill/>
                    </a:lnR>
                    <a:lnT>
                      <a:noFill/>
                    </a:lnT>
                    <a:lnB>
                      <a:noFill/>
                    </a:lnB>
                    <a:solidFill>
                      <a:srgbClr val="FFFFFF"/>
                    </a:solidFill>
                  </a:tcPr>
                </a:tc>
              </a:tr>
              <a:tr h="325215">
                <a:tc>
                  <a:txBody>
                    <a:bodyPr/>
                    <a:lstStyle/>
                    <a:p>
                      <a:pPr algn="l"/>
                      <a:r>
                        <a:rPr sz="975" b="1" i="0" u="none">
                          <a:solidFill>
                            <a:srgbClr val="334155"/>
                          </a:solidFill>
                          <a:latin typeface="Inter"/>
                        </a:rPr>
                        <a:t>Total Startup Capital</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334155"/>
                          </a:solidFill>
                          <a:latin typeface="Inter"/>
                        </a:rPr>
                        <a:t>PKR 278,400</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334155"/>
                          </a:solidFill>
                          <a:latin typeface="Inter"/>
                        </a:rPr>
                        <a:t>$1,005</a:t>
                      </a:r>
                    </a:p>
                  </a:txBody>
                  <a:tcPr marL="63500" marR="63500" marT="25400" marB="25400" anchor="ctr">
                    <a:lnL>
                      <a:noFill/>
                    </a:lnL>
                    <a:lnR>
                      <a:noFill/>
                    </a:lnR>
                    <a:lnT>
                      <a:noFill/>
                    </a:lnT>
                    <a:lnB>
                      <a:noFill/>
                    </a:lnB>
                    <a:solidFill>
                      <a:srgbClr val="F8FAFC"/>
                    </a:solidFill>
                  </a:tcPr>
                </a:tc>
                <a:tc>
                  <a:txBody>
                    <a:bodyPr/>
                    <a:lstStyle/>
                    <a:p>
                      <a:pPr algn="l"/>
                      <a:endParaRPr/>
                    </a:p>
                  </a:txBody>
                  <a:tcPr marL="63500" marR="63500" marT="25400" marB="25400" anchor="ctr">
                    <a:lnL>
                      <a:noFill/>
                    </a:lnL>
                    <a:lnR>
                      <a:noFill/>
                    </a:lnR>
                    <a:lnT>
                      <a:noFill/>
                    </a:lnT>
                    <a:lnB>
                      <a:noFill/>
                    </a:lnB>
                    <a:solidFill>
                      <a:srgbClr val="F8FAFC"/>
                    </a:solidFill>
                  </a:tcPr>
                </a:tc>
              </a:tr>
            </a:tbl>
          </a:graphicData>
        </a:graphic>
      </p:graphicFrame>
      <p:sp>
        <p:nvSpPr>
          <p:cNvPr id="35" name="TextBox 34"/>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[1] Forms Legal 2026 · [2] Startup.pk SECP Guide · [3] Digital Pakistan PSEB Guide · [4] MEA Tech Watch · FX: Mettis</a:t>
            </a:r>
          </a:p>
        </p:txBody>
      </p:sp>
      <p:sp>
        <p:nvSpPr>
          <p:cNvPr id="36" name="TextBox 35"/>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37" name="TextBox 36"/>
          <p:cNvSpPr txBox="1"/>
          <p:nvPr/>
        </p:nvSpPr>
        <p:spPr>
          <a:xfrm>
            <a:off x="457200" y="381000"/>
            <a:ext cx="5572125" cy="152400"/>
          </a:xfrm>
          <a:prstGeom prst="rect">
            <a:avLst/>
          </a:prstGeom>
          <a:noFill/>
        </p:spPr>
        <p:txBody>
          <a:bodyPr wrap="none" lIns="0" tIns="0" rIns="0" bIns="0" anchor="t">
            <a:spAutoFit/>
          </a:bodyPr>
          <a:lstStyle/>
          <a:p>
            <a:pPr algn="l"/>
            <a:r>
              <a:rPr sz="975" b="1" i="0" u="none">
                <a:solidFill>
                  <a:srgbClr val="2563EB"/>
                </a:solidFill>
                <a:latin typeface="Inter"/>
              </a:rPr>
              <a:t>FINANCIAL PLAN</a:t>
            </a:r>
          </a:p>
        </p:txBody>
      </p:sp>
      <p:sp>
        <p:nvSpPr>
          <p:cNvPr id="38" name="TextBox 37"/>
          <p:cNvSpPr txBox="1"/>
          <p:nvPr/>
        </p:nvSpPr>
        <p:spPr>
          <a:xfrm>
            <a:off x="457200" y="571500"/>
            <a:ext cx="5850731"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Startup Costs &amp; Break-Even Analysis</a:t>
            </a:r>
          </a:p>
        </p:txBody>
      </p:sp>
      <p:sp>
        <p:nvSpPr>
          <p:cNvPr id="39" name="TextBox 38"/>
          <p:cNvSpPr txBox="1"/>
          <p:nvPr/>
        </p:nvSpPr>
        <p:spPr>
          <a:xfrm>
            <a:off x="457200" y="1182885"/>
            <a:ext cx="11734800" cy="152400"/>
          </a:xfrm>
          <a:prstGeom prst="rect">
            <a:avLst/>
          </a:prstGeom>
          <a:noFill/>
        </p:spPr>
        <p:txBody>
          <a:bodyPr wrap="none" lIns="0" tIns="0" rIns="0" bIns="0" anchor="t">
            <a:spAutoFit/>
          </a:bodyPr>
          <a:lstStyle/>
          <a:p>
            <a:pPr algn="l"/>
            <a:r>
              <a:rPr sz="975" b="1" i="0" u="none">
                <a:solidFill>
                  <a:srgbClr val="0F172A"/>
                </a:solidFill>
                <a:latin typeface="Inter"/>
              </a:rPr>
              <a:t>One-Time Startup Capital Requirement</a:t>
            </a:r>
          </a:p>
        </p:txBody>
      </p:sp>
      <p:sp>
        <p:nvSpPr>
          <p:cNvPr id="40" name="TextBox 39"/>
          <p:cNvSpPr txBox="1"/>
          <p:nvPr/>
        </p:nvSpPr>
        <p:spPr>
          <a:xfrm>
            <a:off x="457200" y="3726060"/>
            <a:ext cx="11734800" cy="123825"/>
          </a:xfrm>
          <a:prstGeom prst="rect">
            <a:avLst/>
          </a:prstGeom>
          <a:noFill/>
        </p:spPr>
        <p:txBody>
          <a:bodyPr wrap="none" lIns="0" tIns="0" rIns="0" bIns="0" anchor="t">
            <a:spAutoFit/>
          </a:bodyPr>
          <a:lstStyle/>
          <a:p>
            <a:pPr algn="l"/>
            <a:r>
              <a:rPr sz="787" b="0" i="0" u="none">
                <a:solidFill>
                  <a:srgbClr val="64748B"/>
                </a:solidFill>
                <a:latin typeface="Inter"/>
              </a:rPr>
              <a:t>Pvt Ltd selected (requires 2 directors). Registered IT firms enjoy 0.25% tax withholding vs 1% unregistered. [3][4]</a:t>
            </a:r>
          </a:p>
        </p:txBody>
      </p:sp>
      <p:sp>
        <p:nvSpPr>
          <p:cNvPr id="41" name="TextBox 40"/>
          <p:cNvSpPr txBox="1"/>
          <p:nvPr/>
        </p:nvSpPr>
        <p:spPr>
          <a:xfrm>
            <a:off x="676275" y="4221360"/>
            <a:ext cx="11515725" cy="161925"/>
          </a:xfrm>
          <a:prstGeom prst="rect">
            <a:avLst/>
          </a:prstGeom>
          <a:noFill/>
        </p:spPr>
        <p:txBody>
          <a:bodyPr wrap="none" lIns="0" tIns="0" rIns="0" bIns="0" anchor="t">
            <a:spAutoFit/>
          </a:bodyPr>
          <a:lstStyle/>
          <a:p>
            <a:pPr algn="l"/>
            <a:r>
              <a:rPr sz="1050" b="1" i="0" u="none">
                <a:solidFill>
                  <a:srgbClr val="1E40AF"/>
                </a:solidFill>
                <a:latin typeface="Inter"/>
              </a:rPr>
              <a:t>Break-Even Economics</a:t>
            </a:r>
          </a:p>
        </p:txBody>
      </p:sp>
      <p:sp>
        <p:nvSpPr>
          <p:cNvPr id="42" name="TextBox 41"/>
          <p:cNvSpPr txBox="1"/>
          <p:nvPr/>
        </p:nvSpPr>
        <p:spPr>
          <a:xfrm>
            <a:off x="847725" y="4440435"/>
            <a:ext cx="11344275" cy="161925"/>
          </a:xfrm>
          <a:prstGeom prst="rect">
            <a:avLst/>
          </a:prstGeom>
          <a:noFill/>
        </p:spPr>
        <p:txBody>
          <a:bodyPr wrap="none" lIns="0" tIns="0" rIns="0" bIns="0" anchor="t">
            <a:spAutoFit/>
          </a:bodyPr>
          <a:lstStyle/>
          <a:p>
            <a:pPr algn="l"/>
            <a:r>
              <a:rPr sz="1050" b="1" i="0" u="none">
                <a:solidFill>
                  <a:srgbClr val="334155"/>
                </a:solidFill>
                <a:latin typeface="Inter"/>
              </a:rPr>
              <a:t>Average Revenue / User:</a:t>
            </a:r>
            <a:r>
              <a:rPr sz="1050" b="0" i="0" u="none">
                <a:solidFill>
                  <a:srgbClr val="334155"/>
                </a:solidFill>
                <a:latin typeface="Inter"/>
              </a:rPr>
              <a:t> PKR 6,515 ($23.52) based on SOM mix (89 Pro + 305 Starter).</a:t>
            </a:r>
          </a:p>
        </p:txBody>
      </p:sp>
      <p:sp>
        <p:nvSpPr>
          <p:cNvPr id="43" name="TextBox 42"/>
          <p:cNvSpPr txBox="1"/>
          <p:nvPr/>
        </p:nvSpPr>
        <p:spPr>
          <a:xfrm>
            <a:off x="847725" y="4678560"/>
            <a:ext cx="11344275" cy="161925"/>
          </a:xfrm>
          <a:prstGeom prst="rect">
            <a:avLst/>
          </a:prstGeom>
          <a:noFill/>
        </p:spPr>
        <p:txBody>
          <a:bodyPr wrap="none" lIns="0" tIns="0" rIns="0" bIns="0" anchor="t">
            <a:spAutoFit/>
          </a:bodyPr>
          <a:lstStyle/>
          <a:p>
            <a:pPr algn="l"/>
            <a:r>
              <a:rPr sz="1050" b="1" i="0" u="none">
                <a:solidFill>
                  <a:srgbClr val="334155"/>
                </a:solidFill>
                <a:latin typeface="Inter"/>
              </a:rPr>
              <a:t>Direct Cost / User:</a:t>
            </a:r>
            <a:r>
              <a:rPr sz="1050" b="0" i="0" u="none">
                <a:solidFill>
                  <a:srgbClr val="334155"/>
                </a:solidFill>
                <a:latin typeface="Inter"/>
              </a:rPr>
              <a:t> ~PKR 420 (AI tokens + payment gateway fees).</a:t>
            </a:r>
          </a:p>
        </p:txBody>
      </p:sp>
      <p:sp>
        <p:nvSpPr>
          <p:cNvPr id="44" name="TextBox 43"/>
          <p:cNvSpPr txBox="1"/>
          <p:nvPr/>
        </p:nvSpPr>
        <p:spPr>
          <a:xfrm>
            <a:off x="847725" y="4916685"/>
            <a:ext cx="11344275" cy="161925"/>
          </a:xfrm>
          <a:prstGeom prst="rect">
            <a:avLst/>
          </a:prstGeom>
          <a:noFill/>
        </p:spPr>
        <p:txBody>
          <a:bodyPr wrap="none" lIns="0" tIns="0" rIns="0" bIns="0" anchor="t">
            <a:spAutoFit/>
          </a:bodyPr>
          <a:lstStyle/>
          <a:p>
            <a:pPr algn="l"/>
            <a:r>
              <a:rPr sz="1050" b="1" i="0" u="none">
                <a:solidFill>
                  <a:srgbClr val="334155"/>
                </a:solidFill>
                <a:latin typeface="Inter"/>
              </a:rPr>
              <a:t>Net Margin / User:</a:t>
            </a:r>
            <a:r>
              <a:rPr sz="1050" b="0" i="0" u="none">
                <a:solidFill>
                  <a:srgbClr val="334155"/>
                </a:solidFill>
                <a:latin typeface="Inter"/>
              </a:rPr>
              <a:t> ≈ PKR 6,100.</a:t>
            </a:r>
          </a:p>
        </p:txBody>
      </p:sp>
      <p:sp>
        <p:nvSpPr>
          <p:cNvPr id="45" name="TextBox 44"/>
          <p:cNvSpPr txBox="1"/>
          <p:nvPr/>
        </p:nvSpPr>
        <p:spPr>
          <a:xfrm>
            <a:off x="847725" y="5154810"/>
            <a:ext cx="11344275" cy="171450"/>
          </a:xfrm>
          <a:prstGeom prst="rect">
            <a:avLst/>
          </a:prstGeom>
          <a:noFill/>
        </p:spPr>
        <p:txBody>
          <a:bodyPr wrap="none" lIns="0" tIns="0" rIns="0" bIns="0" anchor="t">
            <a:spAutoFit/>
          </a:bodyPr>
          <a:lstStyle/>
          <a:p>
            <a:pPr algn="l"/>
            <a:r>
              <a:rPr sz="1050" b="1" i="0" u="none">
                <a:solidFill>
                  <a:srgbClr val="334155"/>
                </a:solidFill>
                <a:latin typeface="Inter"/>
              </a:rPr>
              <a:t>Monthly Overhead:</a:t>
            </a:r>
            <a:r>
              <a:rPr sz="1050" b="0" i="0" u="none">
                <a:solidFill>
                  <a:srgbClr val="334155"/>
                </a:solidFill>
                <a:latin typeface="Inter"/>
              </a:rPr>
              <a:t> PKR 133,476 (Running: 13.4k + Stipends: 100k ⚠ + Marketing: 20k ⚠).</a:t>
            </a:r>
          </a:p>
        </p:txBody>
      </p:sp>
      <p:sp>
        <p:nvSpPr>
          <p:cNvPr id="46" name="TextBox 45"/>
          <p:cNvSpPr txBox="1"/>
          <p:nvPr/>
        </p:nvSpPr>
        <p:spPr>
          <a:xfrm>
            <a:off x="-273843" y="5507235"/>
            <a:ext cx="12739687" cy="190500"/>
          </a:xfrm>
          <a:prstGeom prst="rect">
            <a:avLst/>
          </a:prstGeom>
          <a:noFill/>
        </p:spPr>
        <p:txBody>
          <a:bodyPr wrap="none" lIns="0" tIns="0" rIns="0" bIns="0" anchor="t">
            <a:spAutoFit/>
          </a:bodyPr>
          <a:lstStyle/>
          <a:p>
            <a:pPr algn="ctr"/>
            <a:r>
              <a:rPr sz="1200" b="1" i="0" u="none">
                <a:solidFill>
                  <a:srgbClr val="2563EB"/>
                </a:solidFill>
                <a:latin typeface="Inter"/>
              </a:rPr>
              <a:t>Break-Even: ≈ 22 Paying Accounts</a:t>
            </a:r>
          </a:p>
        </p:txBody>
      </p:sp>
      <p:sp>
        <p:nvSpPr>
          <p:cNvPr id="47" name="TextBox 46"/>
          <p:cNvSpPr txBox="1"/>
          <p:nvPr/>
        </p:nvSpPr>
        <p:spPr>
          <a:xfrm>
            <a:off x="-273843" y="5697735"/>
            <a:ext cx="12739687" cy="123825"/>
          </a:xfrm>
          <a:prstGeom prst="rect">
            <a:avLst/>
          </a:prstGeom>
          <a:noFill/>
        </p:spPr>
        <p:txBody>
          <a:bodyPr wrap="none" lIns="0" tIns="0" rIns="0" bIns="0" anchor="t">
            <a:spAutoFit/>
          </a:bodyPr>
          <a:lstStyle/>
          <a:p>
            <a:pPr algn="ctr"/>
            <a:r>
              <a:rPr sz="787" b="0" i="0" u="none">
                <a:solidFill>
                  <a:srgbClr val="64748B"/>
                </a:solidFill>
                <a:latin typeface="Inter"/>
              </a:rPr>
              <a:t>(If token costs increase 5x, break-even rises to 27 accounts)</a:t>
            </a:r>
          </a:p>
        </p:txBody>
      </p:sp>
      <p:sp>
        <p:nvSpPr>
          <p:cNvPr id="48" name="TextBox 47"/>
          <p:cNvSpPr txBox="1"/>
          <p:nvPr/>
        </p:nvSpPr>
        <p:spPr>
          <a:xfrm>
            <a:off x="676275" y="4421385"/>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49" name="TextBox 48"/>
          <p:cNvSpPr txBox="1"/>
          <p:nvPr/>
        </p:nvSpPr>
        <p:spPr>
          <a:xfrm>
            <a:off x="676275" y="4659510"/>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50" name="TextBox 49"/>
          <p:cNvSpPr txBox="1"/>
          <p:nvPr/>
        </p:nvSpPr>
        <p:spPr>
          <a:xfrm>
            <a:off x="676275" y="4897635"/>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
        <p:nvSpPr>
          <p:cNvPr id="51" name="TextBox 50"/>
          <p:cNvSpPr txBox="1"/>
          <p:nvPr/>
        </p:nvSpPr>
        <p:spPr>
          <a:xfrm>
            <a:off x="676275" y="5135760"/>
            <a:ext cx="85725" cy="200025"/>
          </a:xfrm>
          <a:prstGeom prst="rect">
            <a:avLst/>
          </a:prstGeom>
          <a:noFill/>
        </p:spPr>
        <p:txBody>
          <a:bodyPr wrap="none" lIns="0" tIns="0" rIns="0" bIns="0" anchor="t">
            <a:spAutoFit/>
          </a:bodyPr>
          <a:lstStyle/>
          <a:p>
            <a:pPr algn="l"/>
            <a:r>
              <a:rPr sz="1350" b="1" i="0" u="none">
                <a:solidFill>
                  <a:srgbClr val="2563EB"/>
                </a:solidFill>
                <a:latin typeface="Inter"/>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4256633"/>
            <a:ext cx="11277600" cy="695325"/>
          </a:xfrm>
          <a:prstGeom prst="roundRect">
            <a:avLst>
              <a:gd name="adj" fmla="val 1369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5047208"/>
            <a:ext cx="11277600" cy="695325"/>
          </a:xfrm>
          <a:prstGeom prst="roundRect">
            <a:avLst>
              <a:gd name="adj" fmla="val 1369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16260"/>
            <a:ext cx="3031331"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88531" y="1516260"/>
            <a:ext cx="126533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753867" y="1516260"/>
            <a:ext cx="698093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3448"/>
            <a:ext cx="3031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88531" y="1873448"/>
            <a:ext cx="12653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53867" y="1873448"/>
            <a:ext cx="69809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216348"/>
            <a:ext cx="3031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88531" y="2216348"/>
            <a:ext cx="12653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753867" y="2216348"/>
            <a:ext cx="69809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559248"/>
            <a:ext cx="3031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88531" y="2559248"/>
            <a:ext cx="12653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753867" y="2559248"/>
            <a:ext cx="69809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902148"/>
            <a:ext cx="3031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88531" y="2902148"/>
            <a:ext cx="12653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753867" y="2902148"/>
            <a:ext cx="69809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245048"/>
            <a:ext cx="3031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488531" y="3245048"/>
            <a:ext cx="12653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753867" y="3245048"/>
            <a:ext cx="69809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602831" y="1621035"/>
            <a:ext cx="638175" cy="180975"/>
          </a:xfrm>
          <a:prstGeom prst="roundRect">
            <a:avLst>
              <a:gd name="adj" fmla="val 21052"/>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602831" y="1963935"/>
            <a:ext cx="638175" cy="180975"/>
          </a:xfrm>
          <a:prstGeom prst="roundRect">
            <a:avLst>
              <a:gd name="adj" fmla="val 21052"/>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602831" y="2306835"/>
            <a:ext cx="628650" cy="180975"/>
          </a:xfrm>
          <a:prstGeom prst="roundRect">
            <a:avLst>
              <a:gd name="adj" fmla="val 21052"/>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602831" y="2649735"/>
            <a:ext cx="638175" cy="180975"/>
          </a:xfrm>
          <a:prstGeom prst="roundRect">
            <a:avLst>
              <a:gd name="adj" fmla="val 21052"/>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602831" y="2992635"/>
            <a:ext cx="638175" cy="180975"/>
          </a:xfrm>
          <a:prstGeom prst="roundRect">
            <a:avLst>
              <a:gd name="adj" fmla="val 21052"/>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image.png"/>
          <p:cNvPicPr>
            <a:picLocks noChangeAspect="1"/>
          </p:cNvPicPr>
          <p:nvPr/>
        </p:nvPicPr>
        <p:blipFill>
          <a:blip r:embed="rId2"/>
          <a:stretch>
            <a:fillRect/>
          </a:stretch>
        </p:blipFill>
        <p:spPr>
          <a:xfrm>
            <a:off x="676275" y="4456658"/>
            <a:ext cx="152400" cy="123825"/>
          </a:xfrm>
          <a:prstGeom prst="rect">
            <a:avLst/>
          </a:prstGeom>
        </p:spPr>
      </p:pic>
      <p:pic>
        <p:nvPicPr>
          <p:cNvPr id="30" name="Picture 29" descr="image.png"/>
          <p:cNvPicPr>
            <a:picLocks noChangeAspect="1"/>
          </p:cNvPicPr>
          <p:nvPr/>
        </p:nvPicPr>
        <p:blipFill>
          <a:blip r:embed="rId3"/>
          <a:stretch>
            <a:fillRect/>
          </a:stretch>
        </p:blipFill>
        <p:spPr>
          <a:xfrm>
            <a:off x="676275" y="5247233"/>
            <a:ext cx="123825" cy="123825"/>
          </a:xfrm>
          <a:prstGeom prst="rect">
            <a:avLst/>
          </a:prstGeom>
        </p:spPr>
      </p:pic>
      <p:graphicFrame>
        <p:nvGraphicFramePr>
          <p:cNvPr id="31" name="Table 30"/>
          <p:cNvGraphicFramePr>
            <a:graphicFrameLocks noGrp="1"/>
          </p:cNvGraphicFramePr>
          <p:nvPr/>
        </p:nvGraphicFramePr>
        <p:xfrm>
          <a:off x="457200" y="1182885"/>
          <a:ext cx="11277599" cy="2076450"/>
        </p:xfrm>
        <a:graphic>
          <a:graphicData uri="http://schemas.openxmlformats.org/drawingml/2006/table">
            <a:tbl>
              <a:tblPr/>
              <a:tblGrid>
                <a:gridCol w="3031331"/>
                <a:gridCol w="1265336"/>
                <a:gridCol w="6980932"/>
              </a:tblGrid>
              <a:tr h="346075">
                <a:tc>
                  <a:txBody>
                    <a:bodyPr/>
                    <a:lstStyle/>
                    <a:p>
                      <a:pPr algn="l"/>
                      <a:r>
                        <a:rPr sz="975" b="1" i="0" u="none">
                          <a:solidFill>
                            <a:srgbClr val="334155"/>
                          </a:solidFill>
                          <a:latin typeface="Inter"/>
                        </a:rPr>
                        <a:t>Identified Risk</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P × I</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Mitigation Strategy</a:t>
                      </a:r>
                    </a:p>
                  </a:txBody>
                  <a:tcPr marL="63500" marR="63500" marT="25400" marB="25400" anchor="ctr">
                    <a:lnL>
                      <a:noFill/>
                    </a:lnL>
                    <a:lnR>
                      <a:noFill/>
                    </a:lnR>
                    <a:lnT>
                      <a:noFill/>
                    </a:lnT>
                    <a:lnB>
                      <a:noFill/>
                    </a:lnB>
                    <a:solidFill>
                      <a:srgbClr val="F1F5F9"/>
                    </a:solidFill>
                  </a:tcPr>
                </a:tc>
              </a:tr>
              <a:tr h="346075">
                <a:tc>
                  <a:txBody>
                    <a:bodyPr/>
                    <a:lstStyle/>
                    <a:p>
                      <a:pPr algn="l"/>
                      <a:r>
                        <a:rPr sz="975" b="1" i="0" u="none">
                          <a:solidFill>
                            <a:srgbClr val="334155"/>
                          </a:solidFill>
                          <a:latin typeface="Inter"/>
                        </a:rPr>
                        <a:t>Unauthorized target testing</a:t>
                      </a:r>
                    </a:p>
                  </a:txBody>
                  <a:tcPr marL="63500" marR="63500" marT="25400" marB="25400" anchor="ctr">
                    <a:lnL>
                      <a:noFill/>
                    </a:lnL>
                    <a:lnR>
                      <a:noFill/>
                    </a:lnR>
                    <a:lnT>
                      <a:noFill/>
                    </a:lnT>
                    <a:lnB>
                      <a:noFill/>
                    </a:lnB>
                    <a:solidFill>
                      <a:srgbClr val="FFFFFF"/>
                    </a:solidFill>
                  </a:tcPr>
                </a:tc>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Mandatory ROE Checker, Scope Guard, full logs, strict terms.</a:t>
                      </a:r>
                    </a:p>
                  </a:txBody>
                  <a:tcPr marL="63500" marR="63500" marT="25400" marB="25400" anchor="ctr">
                    <a:lnL>
                      <a:noFill/>
                    </a:lnL>
                    <a:lnR>
                      <a:noFill/>
                    </a:lnR>
                    <a:lnT>
                      <a:noFill/>
                    </a:lnT>
                    <a:lnB>
                      <a:noFill/>
                    </a:lnB>
                    <a:solidFill>
                      <a:srgbClr val="FFFFFF"/>
                    </a:solidFill>
                  </a:tcPr>
                </a:tc>
              </a:tr>
              <a:tr h="346075">
                <a:tc>
                  <a:txBody>
                    <a:bodyPr/>
                    <a:lstStyle/>
                    <a:p>
                      <a:pPr algn="l"/>
                      <a:r>
                        <a:rPr sz="975" b="1" i="0" u="none">
                          <a:solidFill>
                            <a:srgbClr val="334155"/>
                          </a:solidFill>
                          <a:latin typeface="Inter"/>
                        </a:rPr>
                        <a:t>AI false alarms / positives</a:t>
                      </a:r>
                    </a:p>
                  </a:txBody>
                  <a:tcPr marL="63500" marR="63500" marT="25400" marB="25400" anchor="ctr">
                    <a:lnL>
                      <a:noFill/>
                    </a:lnL>
                    <a:lnR>
                      <a:noFill/>
                    </a:lnR>
                    <a:lnT>
                      <a:noFill/>
                    </a:lnT>
                    <a:lnB>
                      <a:noFill/>
                    </a:lnB>
                    <a:solidFill>
                      <a:srgbClr val="F8FAFC"/>
                    </a:solidFill>
                  </a:tcPr>
                </a:tc>
                <a:tc>
                  <a:txBody>
                    <a:bodyPr/>
                    <a:lstStyle/>
                    <a:p>
                      <a:pPr algn="l"/>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Deterministic verification checks + human report review option.</a:t>
                      </a:r>
                    </a:p>
                  </a:txBody>
                  <a:tcPr marL="63500" marR="63500" marT="25400" marB="25400" anchor="ctr">
                    <a:lnL>
                      <a:noFill/>
                    </a:lnL>
                    <a:lnR>
                      <a:noFill/>
                    </a:lnR>
                    <a:lnT>
                      <a:noFill/>
                    </a:lnT>
                    <a:lnB>
                      <a:noFill/>
                    </a:lnB>
                    <a:solidFill>
                      <a:srgbClr val="F8FAFC"/>
                    </a:solidFill>
                  </a:tcPr>
                </a:tc>
              </a:tr>
              <a:tr h="346075">
                <a:tc>
                  <a:txBody>
                    <a:bodyPr/>
                    <a:lstStyle/>
                    <a:p>
                      <a:pPr algn="l"/>
                      <a:r>
                        <a:rPr sz="975" b="1" i="0" u="none">
                          <a:solidFill>
                            <a:srgbClr val="334155"/>
                          </a:solidFill>
                          <a:latin typeface="Inter"/>
                        </a:rPr>
                        <a:t>AI vendor pricing/availability</a:t>
                      </a:r>
                    </a:p>
                  </a:txBody>
                  <a:tcPr marL="63500" marR="63500" marT="25400" marB="25400" anchor="ctr">
                    <a:lnL>
                      <a:noFill/>
                    </a:lnL>
                    <a:lnR>
                      <a:noFill/>
                    </a:lnR>
                    <a:lnT>
                      <a:noFill/>
                    </a:lnT>
                    <a:lnB>
                      <a:noFill/>
                    </a:lnB>
                    <a:solidFill>
                      <a:srgbClr val="FFFFFF"/>
                    </a:solidFill>
                  </a:tcPr>
                </a:tc>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Multi-provider fallback (Llama 3.3 70B available from $0.12/1M tokens) [1].</a:t>
                      </a:r>
                    </a:p>
                  </a:txBody>
                  <a:tcPr marL="63500" marR="63500" marT="25400" marB="25400" anchor="ctr">
                    <a:lnL>
                      <a:noFill/>
                    </a:lnL>
                    <a:lnR>
                      <a:noFill/>
                    </a:lnR>
                    <a:lnT>
                      <a:noFill/>
                    </a:lnT>
                    <a:lnB>
                      <a:noFill/>
                    </a:lnB>
                    <a:solidFill>
                      <a:srgbClr val="FFFFFF"/>
                    </a:solidFill>
                  </a:tcPr>
                </a:tc>
              </a:tr>
              <a:tr h="346075">
                <a:tc>
                  <a:txBody>
                    <a:bodyPr/>
                    <a:lstStyle/>
                    <a:p>
                      <a:pPr algn="l"/>
                      <a:r>
                        <a:rPr sz="975" b="1" i="0" u="none">
                          <a:solidFill>
                            <a:srgbClr val="334155"/>
                          </a:solidFill>
                          <a:latin typeface="Inter"/>
                        </a:rPr>
                        <a:t>Big competitors entering</a:t>
                      </a:r>
                    </a:p>
                  </a:txBody>
                  <a:tcPr marL="63500" marR="63500" marT="25400" marB="25400" anchor="ctr">
                    <a:lnL>
                      <a:noFill/>
                    </a:lnL>
                    <a:lnR>
                      <a:noFill/>
                    </a:lnR>
                    <a:lnT>
                      <a:noFill/>
                    </a:lnT>
                    <a:lnB>
                      <a:noFill/>
                    </a:lnB>
                    <a:solidFill>
                      <a:srgbClr val="F8FAFC"/>
                    </a:solidFill>
                  </a:tcPr>
                </a:tc>
                <a:tc>
                  <a:txBody>
                    <a:bodyPr/>
                    <a:lstStyle/>
                    <a:p>
                      <a:pPr algn="l"/>
                      <a:endParaRP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Focus heavily on Pakistani localized market &amp; auditable trust layer.</a:t>
                      </a:r>
                    </a:p>
                  </a:txBody>
                  <a:tcPr marL="63500" marR="63500" marT="25400" marB="25400" anchor="ctr">
                    <a:lnL>
                      <a:noFill/>
                    </a:lnL>
                    <a:lnR>
                      <a:noFill/>
                    </a:lnR>
                    <a:lnT>
                      <a:noFill/>
                    </a:lnT>
                    <a:lnB>
                      <a:noFill/>
                    </a:lnB>
                    <a:solidFill>
                      <a:srgbClr val="F8FAFC"/>
                    </a:solidFill>
                  </a:tcPr>
                </a:tc>
              </a:tr>
              <a:tr h="346075">
                <a:tc>
                  <a:txBody>
                    <a:bodyPr/>
                    <a:lstStyle/>
                    <a:p>
                      <a:pPr algn="l"/>
                      <a:r>
                        <a:rPr sz="975" b="1" i="0" u="none">
                          <a:solidFill>
                            <a:srgbClr val="334155"/>
                          </a:solidFill>
                          <a:latin typeface="Inter"/>
                        </a:rPr>
                        <a:t>ROE model training data limits</a:t>
                      </a:r>
                    </a:p>
                  </a:txBody>
                  <a:tcPr marL="63500" marR="63500" marT="25400" marB="25400" anchor="ctr">
                    <a:lnL>
                      <a:noFill/>
                    </a:lnL>
                    <a:lnR>
                      <a:noFill/>
                    </a:lnR>
                    <a:lnT>
                      <a:noFill/>
                    </a:lnT>
                    <a:lnB>
                      <a:noFill/>
                    </a:lnB>
                    <a:solidFill>
                      <a:srgbClr val="FFFFFF"/>
                    </a:solidFill>
                  </a:tcPr>
                </a:tc>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975" b="0" i="0" u="none">
                          <a:solidFill>
                            <a:srgbClr val="334155"/>
                          </a:solidFill>
                          <a:latin typeface="Inter"/>
                        </a:rPr>
                        <a:t>Combine real and synthetic datasets; communicate boundaries transparently.</a:t>
                      </a:r>
                    </a:p>
                  </a:txBody>
                  <a:tcPr marL="63500" marR="63500" marT="25400" marB="25400" anchor="ctr">
                    <a:lnL>
                      <a:noFill/>
                    </a:lnL>
                    <a:lnR>
                      <a:noFill/>
                    </a:lnR>
                    <a:lnT>
                      <a:noFill/>
                    </a:lnT>
                    <a:lnB>
                      <a:noFill/>
                    </a:lnB>
                    <a:solidFill>
                      <a:srgbClr val="FFFFFF"/>
                    </a:solidFill>
                  </a:tcPr>
                </a:tc>
              </a:tr>
            </a:tbl>
          </a:graphicData>
        </a:graphic>
      </p:graphicFrame>
      <p:sp>
        <p:nvSpPr>
          <p:cNvPr id="32" name="TextBox 31"/>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[1] CloudPrice Llama 3.3 70B Provider Comparisons · Prevention of Electronic Crimes Act (PECA 2016)</a:t>
            </a:r>
          </a:p>
        </p:txBody>
      </p:sp>
      <p:sp>
        <p:nvSpPr>
          <p:cNvPr id="33" name="TextBox 32"/>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34" name="TextBox 33"/>
          <p:cNvSpPr txBox="1"/>
          <p:nvPr/>
        </p:nvSpPr>
        <p:spPr>
          <a:xfrm>
            <a:off x="457200" y="381000"/>
            <a:ext cx="3952875" cy="152400"/>
          </a:xfrm>
          <a:prstGeom prst="rect">
            <a:avLst/>
          </a:prstGeom>
          <a:noFill/>
        </p:spPr>
        <p:txBody>
          <a:bodyPr wrap="none" lIns="0" tIns="0" rIns="0" bIns="0" anchor="t">
            <a:spAutoFit/>
          </a:bodyPr>
          <a:lstStyle/>
          <a:p>
            <a:pPr algn="l"/>
            <a:r>
              <a:rPr sz="975" b="1" i="0" u="none">
                <a:solidFill>
                  <a:srgbClr val="2563EB"/>
                </a:solidFill>
                <a:latin typeface="Inter"/>
              </a:rPr>
              <a:t>GOVERNANCE &amp; COMPLIANCE</a:t>
            </a:r>
          </a:p>
        </p:txBody>
      </p:sp>
      <p:sp>
        <p:nvSpPr>
          <p:cNvPr id="35" name="TextBox 34"/>
          <p:cNvSpPr txBox="1"/>
          <p:nvPr/>
        </p:nvSpPr>
        <p:spPr>
          <a:xfrm>
            <a:off x="457200" y="571500"/>
            <a:ext cx="4150518"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Risk Matrix, Legal &amp; Ethics</a:t>
            </a:r>
          </a:p>
        </p:txBody>
      </p:sp>
      <p:sp>
        <p:nvSpPr>
          <p:cNvPr id="36" name="TextBox 35"/>
          <p:cNvSpPr txBox="1"/>
          <p:nvPr/>
        </p:nvSpPr>
        <p:spPr>
          <a:xfrm>
            <a:off x="676275" y="4437608"/>
            <a:ext cx="11515725" cy="152400"/>
          </a:xfrm>
          <a:prstGeom prst="rect">
            <a:avLst/>
          </a:prstGeom>
          <a:noFill/>
        </p:spPr>
        <p:txBody>
          <a:bodyPr wrap="none" lIns="209550" tIns="0" rIns="0" bIns="0" anchor="t">
            <a:spAutoFit/>
          </a:bodyPr>
          <a:lstStyle/>
          <a:p>
            <a:pPr algn="l"/>
            <a:r>
              <a:rPr sz="975" b="1" i="0" u="none">
                <a:solidFill>
                  <a:srgbClr val="0F172A"/>
                </a:solidFill>
                <a:latin typeface="Inter"/>
              </a:rPr>
              <a:t>Legal &amp; PECA 2016</a:t>
            </a:r>
          </a:p>
        </p:txBody>
      </p:sp>
      <p:sp>
        <p:nvSpPr>
          <p:cNvPr id="37" name="TextBox 36"/>
          <p:cNvSpPr txBox="1"/>
          <p:nvPr/>
        </p:nvSpPr>
        <p:spPr>
          <a:xfrm>
            <a:off x="676275" y="4628108"/>
            <a:ext cx="11515725" cy="142875"/>
          </a:xfrm>
          <a:prstGeom prst="rect">
            <a:avLst/>
          </a:prstGeom>
          <a:noFill/>
        </p:spPr>
        <p:txBody>
          <a:bodyPr wrap="none" lIns="0" tIns="0" rIns="0" bIns="0" anchor="t">
            <a:spAutoFit/>
          </a:bodyPr>
          <a:lstStyle/>
          <a:p>
            <a:pPr algn="l"/>
            <a:r>
              <a:rPr sz="900" b="0" i="0" u="none">
                <a:solidFill>
                  <a:srgbClr val="475569"/>
                </a:solidFill>
                <a:latin typeface="Inter"/>
              </a:rPr>
              <a:t>Strip and anonymize PII. Strictly follow Pakistan's PECA 2016 regulations. Website deployment requires Privacy, Terms, Cookie, and Refund pages.</a:t>
            </a:r>
          </a:p>
        </p:txBody>
      </p:sp>
      <p:sp>
        <p:nvSpPr>
          <p:cNvPr id="38" name="TextBox 37"/>
          <p:cNvSpPr txBox="1"/>
          <p:nvPr/>
        </p:nvSpPr>
        <p:spPr>
          <a:xfrm>
            <a:off x="676275" y="5228183"/>
            <a:ext cx="11515725" cy="152400"/>
          </a:xfrm>
          <a:prstGeom prst="rect">
            <a:avLst/>
          </a:prstGeom>
          <a:noFill/>
        </p:spPr>
        <p:txBody>
          <a:bodyPr wrap="none" lIns="180975" tIns="0" rIns="0" bIns="0" anchor="t">
            <a:spAutoFit/>
          </a:bodyPr>
          <a:lstStyle/>
          <a:p>
            <a:pPr algn="l"/>
            <a:r>
              <a:rPr sz="975" b="1" i="0" u="none">
                <a:solidFill>
                  <a:srgbClr val="1E40AF"/>
                </a:solidFill>
                <a:latin typeface="Inter"/>
              </a:rPr>
              <a:t>Ethical Imperative</a:t>
            </a:r>
          </a:p>
        </p:txBody>
      </p:sp>
      <p:sp>
        <p:nvSpPr>
          <p:cNvPr id="39" name="TextBox 38"/>
          <p:cNvSpPr txBox="1"/>
          <p:nvPr/>
        </p:nvSpPr>
        <p:spPr>
          <a:xfrm>
            <a:off x="676275" y="5418683"/>
            <a:ext cx="11515725" cy="142875"/>
          </a:xfrm>
          <a:prstGeom prst="rect">
            <a:avLst/>
          </a:prstGeom>
          <a:noFill/>
        </p:spPr>
        <p:txBody>
          <a:bodyPr wrap="none" lIns="0" tIns="0" rIns="0" bIns="0" anchor="t">
            <a:spAutoFit/>
          </a:bodyPr>
          <a:lstStyle/>
          <a:p>
            <a:pPr algn="l"/>
            <a:r>
              <a:rPr sz="900" b="0" i="0" u="none">
                <a:solidFill>
                  <a:srgbClr val="1E293B"/>
                </a:solidFill>
                <a:latin typeface="Inter"/>
              </a:rPr>
              <a:t>All AI operations restricted entirely to isolated lab environments (Juice Shop/DVWA) until verified written authorization is processed.</a:t>
            </a:r>
          </a:p>
        </p:txBody>
      </p:sp>
      <p:sp>
        <p:nvSpPr>
          <p:cNvPr id="40" name="TextBox 39"/>
          <p:cNvSpPr txBox="1"/>
          <p:nvPr/>
        </p:nvSpPr>
        <p:spPr>
          <a:xfrm>
            <a:off x="3679031" y="1640085"/>
            <a:ext cx="581025" cy="142875"/>
          </a:xfrm>
          <a:prstGeom prst="rect">
            <a:avLst/>
          </a:prstGeom>
          <a:noFill/>
        </p:spPr>
        <p:txBody>
          <a:bodyPr wrap="square" lIns="0" tIns="0" rIns="0" bIns="0" anchor="t">
            <a:spAutoFit/>
          </a:bodyPr>
          <a:lstStyle/>
          <a:p>
            <a:pPr algn="l"/>
            <a:r>
              <a:rPr sz="900" b="1" i="0" u="none">
                <a:solidFill>
                  <a:srgbClr val="92400E"/>
                </a:solidFill>
                <a:latin typeface="Inter"/>
              </a:rPr>
              <a:t>2 × 3 = 6</a:t>
            </a:r>
          </a:p>
        </p:txBody>
      </p:sp>
      <p:sp>
        <p:nvSpPr>
          <p:cNvPr id="41" name="TextBox 40"/>
          <p:cNvSpPr txBox="1"/>
          <p:nvPr/>
        </p:nvSpPr>
        <p:spPr>
          <a:xfrm>
            <a:off x="3679031" y="1982985"/>
            <a:ext cx="581025" cy="142875"/>
          </a:xfrm>
          <a:prstGeom prst="rect">
            <a:avLst/>
          </a:prstGeom>
          <a:noFill/>
        </p:spPr>
        <p:txBody>
          <a:bodyPr wrap="square" lIns="0" tIns="0" rIns="0" bIns="0" anchor="t">
            <a:spAutoFit/>
          </a:bodyPr>
          <a:lstStyle/>
          <a:p>
            <a:pPr algn="l"/>
            <a:r>
              <a:rPr sz="900" b="1" i="0" u="none">
                <a:solidFill>
                  <a:srgbClr val="92400E"/>
                </a:solidFill>
                <a:latin typeface="Inter"/>
              </a:rPr>
              <a:t>3 × 2 = 6</a:t>
            </a:r>
          </a:p>
        </p:txBody>
      </p:sp>
      <p:sp>
        <p:nvSpPr>
          <p:cNvPr id="42" name="TextBox 41"/>
          <p:cNvSpPr txBox="1"/>
          <p:nvPr/>
        </p:nvSpPr>
        <p:spPr>
          <a:xfrm>
            <a:off x="3679031" y="2325885"/>
            <a:ext cx="571500" cy="142875"/>
          </a:xfrm>
          <a:prstGeom prst="rect">
            <a:avLst/>
          </a:prstGeom>
          <a:noFill/>
        </p:spPr>
        <p:txBody>
          <a:bodyPr wrap="square" lIns="0" tIns="0" rIns="0" bIns="0" anchor="t">
            <a:spAutoFit/>
          </a:bodyPr>
          <a:lstStyle/>
          <a:p>
            <a:pPr algn="l"/>
            <a:r>
              <a:rPr sz="900" b="1" i="0" u="none">
                <a:solidFill>
                  <a:srgbClr val="1E40AF"/>
                </a:solidFill>
                <a:latin typeface="Inter"/>
              </a:rPr>
              <a:t>2 × 2 = 4</a:t>
            </a:r>
          </a:p>
        </p:txBody>
      </p:sp>
      <p:sp>
        <p:nvSpPr>
          <p:cNvPr id="43" name="TextBox 42"/>
          <p:cNvSpPr txBox="1"/>
          <p:nvPr/>
        </p:nvSpPr>
        <p:spPr>
          <a:xfrm>
            <a:off x="3679031" y="2668785"/>
            <a:ext cx="581025" cy="142875"/>
          </a:xfrm>
          <a:prstGeom prst="rect">
            <a:avLst/>
          </a:prstGeom>
          <a:noFill/>
        </p:spPr>
        <p:txBody>
          <a:bodyPr wrap="square" lIns="0" tIns="0" rIns="0" bIns="0" anchor="t">
            <a:spAutoFit/>
          </a:bodyPr>
          <a:lstStyle/>
          <a:p>
            <a:pPr algn="l"/>
            <a:r>
              <a:rPr sz="900" b="1" i="0" u="none">
                <a:solidFill>
                  <a:srgbClr val="92400E"/>
                </a:solidFill>
                <a:latin typeface="Inter"/>
              </a:rPr>
              <a:t>3 × 2 = 6</a:t>
            </a:r>
          </a:p>
        </p:txBody>
      </p:sp>
      <p:sp>
        <p:nvSpPr>
          <p:cNvPr id="44" name="TextBox 43"/>
          <p:cNvSpPr txBox="1"/>
          <p:nvPr/>
        </p:nvSpPr>
        <p:spPr>
          <a:xfrm>
            <a:off x="3679031" y="3011685"/>
            <a:ext cx="581025" cy="142875"/>
          </a:xfrm>
          <a:prstGeom prst="rect">
            <a:avLst/>
          </a:prstGeom>
          <a:noFill/>
        </p:spPr>
        <p:txBody>
          <a:bodyPr wrap="square" lIns="0" tIns="0" rIns="0" bIns="0" anchor="t">
            <a:spAutoFit/>
          </a:bodyPr>
          <a:lstStyle/>
          <a:p>
            <a:pPr algn="l"/>
            <a:r>
              <a:rPr sz="900" b="1" i="0" u="none">
                <a:solidFill>
                  <a:srgbClr val="92400E"/>
                </a:solidFill>
                <a:latin typeface="Inter"/>
              </a:rPr>
              <a:t>3 × 2 = 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182885"/>
            <a:ext cx="11277600" cy="1057275"/>
          </a:xfrm>
          <a:prstGeom prst="roundRect">
            <a:avLst>
              <a:gd name="adj" fmla="val 900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2335410"/>
            <a:ext cx="11277600" cy="838200"/>
          </a:xfrm>
          <a:prstGeom prst="roundRect">
            <a:avLst>
              <a:gd name="adj" fmla="val 1136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3793033"/>
            <a:ext cx="11277600" cy="333375"/>
          </a:xfrm>
          <a:prstGeom prst="roundRect">
            <a:avLst>
              <a:gd name="adj" fmla="val 1714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4202608"/>
            <a:ext cx="11277600" cy="333375"/>
          </a:xfrm>
          <a:prstGeom prst="roundRect">
            <a:avLst>
              <a:gd name="adj" fmla="val 17142"/>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4612183"/>
            <a:ext cx="11277600" cy="333375"/>
          </a:xfrm>
          <a:prstGeom prst="roundRect">
            <a:avLst>
              <a:gd name="adj" fmla="val 1714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7200" y="5021758"/>
            <a:ext cx="11277600" cy="352425"/>
          </a:xfrm>
          <a:prstGeom prst="roundRect">
            <a:avLst>
              <a:gd name="adj" fmla="val 1621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3793033"/>
            <a:ext cx="28575" cy="333375"/>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4202608"/>
            <a:ext cx="28575" cy="3333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4612183"/>
            <a:ext cx="28575" cy="33337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5021758"/>
            <a:ext cx="28575" cy="352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Internal project milestone planning.</a:t>
            </a:r>
          </a:p>
        </p:txBody>
      </p:sp>
      <p:sp>
        <p:nvSpPr>
          <p:cNvPr id="15" name="TextBox 14"/>
          <p:cNvSpPr txBox="1"/>
          <p:nvPr/>
        </p:nvSpPr>
        <p:spPr>
          <a:xfrm>
            <a:off x="10982597" y="431619"/>
            <a:ext cx="800100" cy="190500"/>
          </a:xfrm>
          <a:prstGeom prst="rect">
            <a:avLst/>
          </a:prstGeom>
          <a:noFill/>
        </p:spPr>
        <p:txBody>
          <a:bodyPr wrap="square" lIns="0" tIns="0" rIns="0" bIns="0" anchor="t">
            <a:spAutoFit/>
          </a:bodyPr>
          <a:lstStyle/>
          <a:p>
            <a:pPr algn="l"/>
            <a:r>
              <a:rPr sz="1050" b="1" i="0" u="none" dirty="0" err="1">
                <a:solidFill>
                  <a:srgbClr val="3B82F6"/>
                </a:solidFill>
                <a:latin typeface="JetBrains Mono"/>
              </a:rPr>
              <a:t>PenflowAI</a:t>
            </a:r>
            <a:endParaRPr sz="1050" b="1" i="0" u="none" dirty="0">
              <a:solidFill>
                <a:srgbClr val="3B82F6"/>
              </a:solidFill>
              <a:latin typeface="JetBrains Mono"/>
            </a:endParaRPr>
          </a:p>
        </p:txBody>
      </p:sp>
      <p:sp>
        <p:nvSpPr>
          <p:cNvPr id="16" name="TextBox 15"/>
          <p:cNvSpPr txBox="1"/>
          <p:nvPr/>
        </p:nvSpPr>
        <p:spPr>
          <a:xfrm>
            <a:off x="457200" y="381000"/>
            <a:ext cx="5345906" cy="152400"/>
          </a:xfrm>
          <a:prstGeom prst="rect">
            <a:avLst/>
          </a:prstGeom>
          <a:noFill/>
        </p:spPr>
        <p:txBody>
          <a:bodyPr wrap="none" lIns="0" tIns="0" rIns="0" bIns="0" anchor="t">
            <a:spAutoFit/>
          </a:bodyPr>
          <a:lstStyle/>
          <a:p>
            <a:pPr algn="l"/>
            <a:r>
              <a:rPr sz="975" b="1" i="0" u="none">
                <a:solidFill>
                  <a:srgbClr val="2563EB"/>
                </a:solidFill>
                <a:latin typeface="Inter"/>
              </a:rPr>
              <a:t>EXECUTION CAPACITY</a:t>
            </a:r>
          </a:p>
        </p:txBody>
      </p:sp>
      <p:sp>
        <p:nvSpPr>
          <p:cNvPr id="17" name="TextBox 16"/>
          <p:cNvSpPr txBox="1"/>
          <p:nvPr/>
        </p:nvSpPr>
        <p:spPr>
          <a:xfrm>
            <a:off x="457200" y="571500"/>
            <a:ext cx="5613201"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Team Structure &amp; Product Roadmap</a:t>
            </a:r>
          </a:p>
        </p:txBody>
      </p:sp>
      <p:sp>
        <p:nvSpPr>
          <p:cNvPr id="18" name="TextBox 17"/>
          <p:cNvSpPr txBox="1"/>
          <p:nvPr/>
        </p:nvSpPr>
        <p:spPr>
          <a:xfrm>
            <a:off x="457200" y="3535858"/>
            <a:ext cx="11734800" cy="161925"/>
          </a:xfrm>
          <a:prstGeom prst="rect">
            <a:avLst/>
          </a:prstGeom>
          <a:noFill/>
        </p:spPr>
        <p:txBody>
          <a:bodyPr wrap="none" lIns="0" tIns="0" rIns="0" bIns="0" anchor="t">
            <a:spAutoFit/>
          </a:bodyPr>
          <a:lstStyle/>
          <a:p>
            <a:pPr algn="l"/>
            <a:r>
              <a:rPr sz="1050" b="1" i="0" u="none">
                <a:solidFill>
                  <a:srgbClr val="0F172A"/>
                </a:solidFill>
                <a:latin typeface="Inter"/>
              </a:rPr>
              <a:t>12-Month Execution Roadmap</a:t>
            </a:r>
          </a:p>
        </p:txBody>
      </p:sp>
      <p:sp>
        <p:nvSpPr>
          <p:cNvPr id="19" name="TextBox 18"/>
          <p:cNvSpPr txBox="1"/>
          <p:nvPr/>
        </p:nvSpPr>
        <p:spPr>
          <a:xfrm>
            <a:off x="676275" y="1363860"/>
            <a:ext cx="11515725" cy="161925"/>
          </a:xfrm>
          <a:prstGeom prst="rect">
            <a:avLst/>
          </a:prstGeom>
          <a:noFill/>
        </p:spPr>
        <p:txBody>
          <a:bodyPr wrap="none" lIns="0" tIns="0" rIns="0" bIns="0" anchor="t">
            <a:spAutoFit/>
          </a:bodyPr>
          <a:lstStyle/>
          <a:p>
            <a:pPr algn="l"/>
            <a:r>
              <a:rPr sz="1050" b="1" i="0" u="none">
                <a:solidFill>
                  <a:srgbClr val="0F172A"/>
                </a:solidFill>
                <a:latin typeface="Inter"/>
              </a:rPr>
              <a:t>Founding Team</a:t>
            </a:r>
          </a:p>
        </p:txBody>
      </p:sp>
      <p:sp>
        <p:nvSpPr>
          <p:cNvPr id="20" name="TextBox 19"/>
          <p:cNvSpPr txBox="1"/>
          <p:nvPr/>
        </p:nvSpPr>
        <p:spPr>
          <a:xfrm>
            <a:off x="676275" y="1582935"/>
            <a:ext cx="11515725" cy="152400"/>
          </a:xfrm>
          <a:prstGeom prst="rect">
            <a:avLst/>
          </a:prstGeom>
          <a:noFill/>
        </p:spPr>
        <p:txBody>
          <a:bodyPr wrap="none" lIns="0" tIns="0" rIns="0" bIns="0" anchor="t">
            <a:spAutoFit/>
          </a:bodyPr>
          <a:lstStyle/>
          <a:p>
            <a:pPr algn="l"/>
            <a:r>
              <a:rPr sz="937" b="1" i="0" u="none">
                <a:solidFill>
                  <a:srgbClr val="334155"/>
                </a:solidFill>
                <a:latin typeface="Inter"/>
              </a:rPr>
              <a:t>Muhammad Sunnan:</a:t>
            </a:r>
            <a:r>
              <a:rPr sz="937" b="0" i="0" u="none">
                <a:solidFill>
                  <a:srgbClr val="334155"/>
                </a:solidFill>
                <a:latin typeface="Inter"/>
              </a:rPr>
              <a:t> AI &amp; Security Lead ⚠</a:t>
            </a:r>
          </a:p>
        </p:txBody>
      </p:sp>
      <p:sp>
        <p:nvSpPr>
          <p:cNvPr id="21" name="TextBox 20"/>
          <p:cNvSpPr txBox="1"/>
          <p:nvPr/>
        </p:nvSpPr>
        <p:spPr>
          <a:xfrm>
            <a:off x="676275" y="1735335"/>
            <a:ext cx="11515725" cy="152400"/>
          </a:xfrm>
          <a:prstGeom prst="rect">
            <a:avLst/>
          </a:prstGeom>
          <a:noFill/>
        </p:spPr>
        <p:txBody>
          <a:bodyPr wrap="none" lIns="0" tIns="0" rIns="0" bIns="0" anchor="t">
            <a:spAutoFit/>
          </a:bodyPr>
          <a:lstStyle/>
          <a:p>
            <a:pPr algn="l"/>
            <a:r>
              <a:rPr sz="937" b="1" i="0" u="none">
                <a:solidFill>
                  <a:srgbClr val="334155"/>
                </a:solidFill>
                <a:latin typeface="Inter"/>
              </a:rPr>
              <a:t>Hamza Ahmad Baig:</a:t>
            </a:r>
            <a:r>
              <a:rPr sz="937" b="0" i="0" u="none">
                <a:solidFill>
                  <a:srgbClr val="334155"/>
                </a:solidFill>
                <a:latin typeface="Inter"/>
              </a:rPr>
              <a:t> Platform Lead ⚠</a:t>
            </a:r>
          </a:p>
        </p:txBody>
      </p:sp>
      <p:sp>
        <p:nvSpPr>
          <p:cNvPr id="22" name="TextBox 21"/>
          <p:cNvSpPr txBox="1"/>
          <p:nvPr/>
        </p:nvSpPr>
        <p:spPr>
          <a:xfrm>
            <a:off x="676275" y="1925835"/>
            <a:ext cx="11515725" cy="133350"/>
          </a:xfrm>
          <a:prstGeom prst="rect">
            <a:avLst/>
          </a:prstGeom>
          <a:noFill/>
        </p:spPr>
        <p:txBody>
          <a:bodyPr wrap="none" lIns="0" tIns="0" rIns="0" bIns="0" anchor="t">
            <a:spAutoFit/>
          </a:bodyPr>
          <a:lstStyle/>
          <a:p>
            <a:pPr algn="l"/>
            <a:r>
              <a:rPr sz="862" b="0" i="0" u="none">
                <a:solidFill>
                  <a:srgbClr val="64748B"/>
                </a:solidFill>
                <a:latin typeface="Inter"/>
              </a:rPr>
              <a:t>Recommended Equity: 50/50 split with 4-year vesting &amp; 1-year cliff.</a:t>
            </a:r>
          </a:p>
        </p:txBody>
      </p:sp>
      <p:sp>
        <p:nvSpPr>
          <p:cNvPr id="23" name="TextBox 22"/>
          <p:cNvSpPr txBox="1"/>
          <p:nvPr/>
        </p:nvSpPr>
        <p:spPr>
          <a:xfrm>
            <a:off x="676275" y="2516385"/>
            <a:ext cx="11515725" cy="152400"/>
          </a:xfrm>
          <a:prstGeom prst="rect">
            <a:avLst/>
          </a:prstGeom>
          <a:noFill/>
        </p:spPr>
        <p:txBody>
          <a:bodyPr wrap="none" lIns="0" tIns="0" rIns="0" bIns="0" anchor="t">
            <a:spAutoFit/>
          </a:bodyPr>
          <a:lstStyle/>
          <a:p>
            <a:pPr algn="l"/>
            <a:r>
              <a:rPr sz="975" b="1" i="0" u="none">
                <a:solidFill>
                  <a:srgbClr val="0F172A"/>
                </a:solidFill>
                <a:latin typeface="Inter"/>
              </a:rPr>
              <a:t>Advisors &amp; Hiring</a:t>
            </a:r>
          </a:p>
        </p:txBody>
      </p:sp>
      <p:sp>
        <p:nvSpPr>
          <p:cNvPr id="24" name="TextBox 23"/>
          <p:cNvSpPr txBox="1"/>
          <p:nvPr/>
        </p:nvSpPr>
        <p:spPr>
          <a:xfrm>
            <a:off x="676275" y="2706885"/>
            <a:ext cx="10934700" cy="285750"/>
          </a:xfrm>
          <a:prstGeom prst="rect">
            <a:avLst/>
          </a:prstGeom>
          <a:noFill/>
        </p:spPr>
        <p:txBody>
          <a:bodyPr wrap="square" lIns="0" tIns="0" rIns="0" bIns="0" anchor="t">
            <a:spAutoFit/>
          </a:bodyPr>
          <a:lstStyle/>
          <a:p>
            <a:pPr algn="l"/>
            <a:r>
              <a:rPr sz="900" b="1" i="0" u="none">
                <a:solidFill>
                  <a:srgbClr val="475569"/>
                </a:solidFill>
                <a:latin typeface="Inter"/>
              </a:rPr>
              <a:t>Advisors:</a:t>
            </a:r>
            <a:r>
              <a:rPr sz="900" b="0" i="0" u="none">
                <a:solidFill>
                  <a:srgbClr val="475569"/>
                </a:solidFill>
                <a:latin typeface="Inter"/>
              </a:rPr>
              <a:t> Ms. Kanza Zafar, Mr. Sameer Sohail.</a:t>
            </a:r>
            <a:r>
              <a:t>
</a:t>
            </a:r>
            <a:r>
              <a:rPr sz="900" b="0" i="0" u="none">
                <a:solidFill>
                  <a:srgbClr val="475569"/>
                </a:solidFill>
                <a:latin typeface="Inter"/>
              </a:rPr>
              <a:t> Outsource legal/design; hire sales support near break-even (~22 accounts).</a:t>
            </a:r>
          </a:p>
        </p:txBody>
      </p:sp>
      <p:sp>
        <p:nvSpPr>
          <p:cNvPr id="25" name="TextBox 24"/>
          <p:cNvSpPr txBox="1"/>
          <p:nvPr/>
        </p:nvSpPr>
        <p:spPr>
          <a:xfrm>
            <a:off x="581025" y="3893046"/>
            <a:ext cx="1047750" cy="133350"/>
          </a:xfrm>
          <a:prstGeom prst="rect">
            <a:avLst/>
          </a:prstGeom>
          <a:noFill/>
        </p:spPr>
        <p:txBody>
          <a:bodyPr wrap="none" lIns="0" tIns="0" rIns="0" bIns="0" anchor="t">
            <a:spAutoFit/>
          </a:bodyPr>
          <a:lstStyle/>
          <a:p>
            <a:pPr algn="l"/>
            <a:r>
              <a:rPr sz="825" b="1" i="0" u="none">
                <a:solidFill>
                  <a:srgbClr val="475569"/>
                </a:solidFill>
                <a:latin typeface="JetBrains Mono"/>
              </a:rPr>
              <a:t>M 0–3</a:t>
            </a:r>
          </a:p>
        </p:txBody>
      </p:sp>
      <p:sp>
        <p:nvSpPr>
          <p:cNvPr id="26" name="TextBox 25"/>
          <p:cNvSpPr txBox="1"/>
          <p:nvPr/>
        </p:nvSpPr>
        <p:spPr>
          <a:xfrm>
            <a:off x="1457325" y="3888283"/>
            <a:ext cx="5024437" cy="142875"/>
          </a:xfrm>
          <a:prstGeom prst="rect">
            <a:avLst/>
          </a:prstGeom>
          <a:noFill/>
        </p:spPr>
        <p:txBody>
          <a:bodyPr wrap="none" lIns="0" tIns="0" rIns="0" bIns="0" anchor="t">
            <a:spAutoFit/>
          </a:bodyPr>
          <a:lstStyle/>
          <a:p>
            <a:pPr algn="l"/>
            <a:r>
              <a:rPr sz="900" b="0" i="0" u="none">
                <a:solidFill>
                  <a:srgbClr val="1E293B"/>
                </a:solidFill>
                <a:latin typeface="Inter"/>
              </a:rPr>
              <a:t>Harden v1 on lab apps, finish interviews, complete SECP/PSEB registration.</a:t>
            </a:r>
          </a:p>
        </p:txBody>
      </p:sp>
      <p:sp>
        <p:nvSpPr>
          <p:cNvPr id="27" name="TextBox 26"/>
          <p:cNvSpPr txBox="1"/>
          <p:nvPr/>
        </p:nvSpPr>
        <p:spPr>
          <a:xfrm>
            <a:off x="581025" y="4302621"/>
            <a:ext cx="1047750" cy="133350"/>
          </a:xfrm>
          <a:prstGeom prst="rect">
            <a:avLst/>
          </a:prstGeom>
          <a:noFill/>
        </p:spPr>
        <p:txBody>
          <a:bodyPr wrap="none" lIns="0" tIns="0" rIns="0" bIns="0" anchor="t">
            <a:spAutoFit/>
          </a:bodyPr>
          <a:lstStyle/>
          <a:p>
            <a:pPr algn="l"/>
            <a:r>
              <a:rPr sz="825" b="1" i="0" u="none">
                <a:solidFill>
                  <a:srgbClr val="2563EB"/>
                </a:solidFill>
                <a:latin typeface="JetBrains Mono"/>
              </a:rPr>
              <a:t>M 3–6</a:t>
            </a:r>
          </a:p>
        </p:txBody>
      </p:sp>
      <p:sp>
        <p:nvSpPr>
          <p:cNvPr id="28" name="TextBox 27"/>
          <p:cNvSpPr txBox="1"/>
          <p:nvPr/>
        </p:nvSpPr>
        <p:spPr>
          <a:xfrm>
            <a:off x="1457325" y="4297858"/>
            <a:ext cx="5345906" cy="142875"/>
          </a:xfrm>
          <a:prstGeom prst="rect">
            <a:avLst/>
          </a:prstGeom>
          <a:noFill/>
        </p:spPr>
        <p:txBody>
          <a:bodyPr wrap="none" lIns="0" tIns="0" rIns="0" bIns="0" anchor="t">
            <a:spAutoFit/>
          </a:bodyPr>
          <a:lstStyle/>
          <a:p>
            <a:pPr algn="l"/>
            <a:r>
              <a:rPr sz="900" b="0" i="0" u="none">
                <a:solidFill>
                  <a:srgbClr val="1E293B"/>
                </a:solidFill>
                <a:latin typeface="Inter"/>
              </a:rPr>
              <a:t>Execute closed pilot with 5 friendly software houses under formal authorization.</a:t>
            </a:r>
          </a:p>
        </p:txBody>
      </p:sp>
      <p:sp>
        <p:nvSpPr>
          <p:cNvPr id="29" name="TextBox 28"/>
          <p:cNvSpPr txBox="1"/>
          <p:nvPr/>
        </p:nvSpPr>
        <p:spPr>
          <a:xfrm>
            <a:off x="581025" y="4712196"/>
            <a:ext cx="1047750" cy="133350"/>
          </a:xfrm>
          <a:prstGeom prst="rect">
            <a:avLst/>
          </a:prstGeom>
          <a:noFill/>
        </p:spPr>
        <p:txBody>
          <a:bodyPr wrap="none" lIns="0" tIns="0" rIns="0" bIns="0" anchor="t">
            <a:spAutoFit/>
          </a:bodyPr>
          <a:lstStyle/>
          <a:p>
            <a:pPr algn="l"/>
            <a:r>
              <a:rPr sz="825" b="1" i="0" u="none">
                <a:solidFill>
                  <a:srgbClr val="16A34A"/>
                </a:solidFill>
                <a:latin typeface="JetBrains Mono"/>
              </a:rPr>
              <a:t>M 6–9</a:t>
            </a:r>
          </a:p>
        </p:txBody>
      </p:sp>
      <p:sp>
        <p:nvSpPr>
          <p:cNvPr id="30" name="TextBox 29"/>
          <p:cNvSpPr txBox="1"/>
          <p:nvPr/>
        </p:nvSpPr>
        <p:spPr>
          <a:xfrm>
            <a:off x="1457325" y="4707433"/>
            <a:ext cx="5024437" cy="142875"/>
          </a:xfrm>
          <a:prstGeom prst="rect">
            <a:avLst/>
          </a:prstGeom>
          <a:noFill/>
        </p:spPr>
        <p:txBody>
          <a:bodyPr wrap="none" lIns="0" tIns="0" rIns="0" bIns="0" anchor="t">
            <a:spAutoFit/>
          </a:bodyPr>
          <a:lstStyle/>
          <a:p>
            <a:pPr algn="l"/>
            <a:r>
              <a:rPr sz="900" b="0" i="0" u="none">
                <a:solidFill>
                  <a:srgbClr val="1E293B"/>
                </a:solidFill>
                <a:latin typeface="Inter"/>
              </a:rPr>
              <a:t>Commercial launch (Starter, Pro, Team) with integrated Safepay checkout.</a:t>
            </a:r>
          </a:p>
        </p:txBody>
      </p:sp>
      <p:sp>
        <p:nvSpPr>
          <p:cNvPr id="31" name="TextBox 30"/>
          <p:cNvSpPr txBox="1"/>
          <p:nvPr/>
        </p:nvSpPr>
        <p:spPr>
          <a:xfrm>
            <a:off x="581025" y="5131296"/>
            <a:ext cx="1047750" cy="133350"/>
          </a:xfrm>
          <a:prstGeom prst="rect">
            <a:avLst/>
          </a:prstGeom>
          <a:noFill/>
        </p:spPr>
        <p:txBody>
          <a:bodyPr wrap="none" lIns="0" tIns="0" rIns="0" bIns="0" anchor="t">
            <a:spAutoFit/>
          </a:bodyPr>
          <a:lstStyle/>
          <a:p>
            <a:pPr algn="l"/>
            <a:r>
              <a:rPr sz="825" b="1" i="0" u="none">
                <a:solidFill>
                  <a:srgbClr val="D97706"/>
                </a:solidFill>
                <a:latin typeface="JetBrains Mono"/>
              </a:rPr>
              <a:t>M 9–12</a:t>
            </a:r>
          </a:p>
        </p:txBody>
      </p:sp>
      <p:sp>
        <p:nvSpPr>
          <p:cNvPr id="32" name="TextBox 31"/>
          <p:cNvSpPr txBox="1"/>
          <p:nvPr/>
        </p:nvSpPr>
        <p:spPr>
          <a:xfrm>
            <a:off x="1457325" y="5117008"/>
            <a:ext cx="5917406" cy="161925"/>
          </a:xfrm>
          <a:prstGeom prst="rect">
            <a:avLst/>
          </a:prstGeom>
          <a:noFill/>
        </p:spPr>
        <p:txBody>
          <a:bodyPr wrap="none" lIns="0" tIns="0" rIns="0" bIns="0" anchor="t">
            <a:spAutoFit/>
          </a:bodyPr>
          <a:lstStyle/>
          <a:p>
            <a:pPr algn="l"/>
            <a:r>
              <a:rPr sz="900" b="0" i="0" u="none">
                <a:solidFill>
                  <a:srgbClr val="1E293B"/>
                </a:solidFill>
                <a:latin typeface="Inter"/>
              </a:rPr>
              <a:t>Add API/IDOR test modules, custom logo reports (★), explore Gulf/South Asia expansion.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457200" y="6274147"/>
            <a:ext cx="11277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839450" y="381000"/>
            <a:ext cx="895350" cy="266700"/>
          </a:xfrm>
          <a:prstGeom prst="roundRect">
            <a:avLst>
              <a:gd name="adj" fmla="val 214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890837" y="4016424"/>
            <a:ext cx="6410325" cy="1352550"/>
          </a:xfrm>
          <a:prstGeom prst="roundRect">
            <a:avLst>
              <a:gd name="adj" fmla="val 7042"/>
            </a:avLst>
          </a:prstGeom>
          <a:solidFill>
            <a:srgbClr val="0F172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890837" y="5483274"/>
            <a:ext cx="6410325" cy="647700"/>
          </a:xfrm>
          <a:prstGeom prst="roundRect">
            <a:avLst>
              <a:gd name="adj" fmla="val 1470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395662" y="1516260"/>
            <a:ext cx="1943100"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38762" y="1516260"/>
            <a:ext cx="809625"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48387" y="1516260"/>
            <a:ext cx="2647950"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95662" y="1844873"/>
            <a:ext cx="194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338762" y="1844873"/>
            <a:ext cx="809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48387" y="1844873"/>
            <a:ext cx="26479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95662" y="2168723"/>
            <a:ext cx="194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338762" y="2168723"/>
            <a:ext cx="809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48387" y="2168723"/>
            <a:ext cx="26479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95662" y="2492573"/>
            <a:ext cx="194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338762" y="2492573"/>
            <a:ext cx="809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48387" y="2492573"/>
            <a:ext cx="26479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395662" y="2806898"/>
            <a:ext cx="194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338762" y="2806898"/>
            <a:ext cx="809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48387" y="2806898"/>
            <a:ext cx="26479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395662" y="3121223"/>
            <a:ext cx="194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38762" y="3121223"/>
            <a:ext cx="809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48387" y="3121223"/>
            <a:ext cx="26479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395662" y="3435548"/>
            <a:ext cx="194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338762" y="3435548"/>
            <a:ext cx="809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48387" y="3435548"/>
            <a:ext cx="26479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Table 27"/>
          <p:cNvGraphicFramePr>
            <a:graphicFrameLocks noGrp="1"/>
          </p:cNvGraphicFramePr>
          <p:nvPr/>
        </p:nvGraphicFramePr>
        <p:xfrm>
          <a:off x="3395662" y="1182885"/>
          <a:ext cx="5400675" cy="2266950"/>
        </p:xfrm>
        <a:graphic>
          <a:graphicData uri="http://schemas.openxmlformats.org/drawingml/2006/table">
            <a:tbl>
              <a:tblPr/>
              <a:tblGrid>
                <a:gridCol w="1943100"/>
                <a:gridCol w="809625"/>
                <a:gridCol w="2647950"/>
              </a:tblGrid>
              <a:tr h="323850">
                <a:tc>
                  <a:txBody>
                    <a:bodyPr/>
                    <a:lstStyle/>
                    <a:p>
                      <a:pPr algn="l"/>
                      <a:r>
                        <a:rPr sz="975" b="1" i="0" u="none">
                          <a:solidFill>
                            <a:srgbClr val="334155"/>
                          </a:solidFill>
                          <a:latin typeface="Inter"/>
                        </a:rPr>
                        <a:t>Use of Funds</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PKR</a:t>
                      </a:r>
                    </a:p>
                  </a:txBody>
                  <a:tcPr marL="63500" marR="63500" marT="25400" marB="25400" anchor="ctr">
                    <a:lnL>
                      <a:noFill/>
                    </a:lnL>
                    <a:lnR>
                      <a:noFill/>
                    </a:lnR>
                    <a:lnT>
                      <a:noFill/>
                    </a:lnT>
                    <a:lnB>
                      <a:noFill/>
                    </a:lnB>
                    <a:solidFill>
                      <a:srgbClr val="F1F5F9"/>
                    </a:solidFill>
                  </a:tcPr>
                </a:tc>
                <a:tc>
                  <a:txBody>
                    <a:bodyPr/>
                    <a:lstStyle/>
                    <a:p>
                      <a:pPr algn="l"/>
                      <a:r>
                        <a:rPr sz="975" b="1" i="0" u="none">
                          <a:solidFill>
                            <a:srgbClr val="334155"/>
                          </a:solidFill>
                          <a:latin typeface="Inter"/>
                        </a:rPr>
                        <a:t>Basis / Calculation</a:t>
                      </a:r>
                    </a:p>
                  </a:txBody>
                  <a:tcPr marL="63500" marR="63500" marT="25400" marB="25400" anchor="ctr">
                    <a:lnL>
                      <a:noFill/>
                    </a:lnL>
                    <a:lnR>
                      <a:noFill/>
                    </a:lnR>
                    <a:lnT>
                      <a:noFill/>
                    </a:lnT>
                    <a:lnB>
                      <a:noFill/>
                    </a:lnB>
                    <a:solidFill>
                      <a:srgbClr val="F1F5F9"/>
                    </a:solidFill>
                  </a:tcPr>
                </a:tc>
              </a:tr>
              <a:tr h="323850">
                <a:tc>
                  <a:txBody>
                    <a:bodyPr/>
                    <a:lstStyle/>
                    <a:p>
                      <a:pPr algn="l"/>
                      <a:r>
                        <a:rPr sz="975" b="1" i="0" u="none">
                          <a:solidFill>
                            <a:srgbClr val="334155"/>
                          </a:solidFill>
                          <a:latin typeface="Inter"/>
                        </a:rPr>
                        <a:t>Running Costs (12 Mos)</a:t>
                      </a:r>
                    </a:p>
                  </a:txBody>
                  <a:tcPr marL="63500" marR="63500" marT="25400" marB="25400" anchor="ctr">
                    <a:lnL>
                      <a:noFill/>
                    </a:lnL>
                    <a:lnR>
                      <a:noFill/>
                    </a:lnR>
                    <a:lnT>
                      <a:noFill/>
                    </a:lnT>
                    <a:lnB>
                      <a:noFill/>
                    </a:lnB>
                    <a:solidFill>
                      <a:srgbClr val="F7FBFF"/>
                    </a:solidFill>
                  </a:tcPr>
                </a:tc>
                <a:tc>
                  <a:txBody>
                    <a:bodyPr/>
                    <a:lstStyle/>
                    <a:p>
                      <a:pPr algn="l"/>
                      <a:r>
                        <a:rPr sz="975" b="0" i="0" u="none">
                          <a:solidFill>
                            <a:srgbClr val="334155"/>
                          </a:solidFill>
                          <a:latin typeface="Inter"/>
                        </a:rPr>
                        <a:t>161,700</a:t>
                      </a:r>
                    </a:p>
                  </a:txBody>
                  <a:tcPr marL="63500" marR="63500" marT="25400" marB="25400" anchor="ctr">
                    <a:lnL>
                      <a:noFill/>
                    </a:lnL>
                    <a:lnR>
                      <a:noFill/>
                    </a:lnR>
                    <a:lnT>
                      <a:noFill/>
                    </a:lnT>
                    <a:lnB>
                      <a:noFill/>
                    </a:lnB>
                    <a:solidFill>
                      <a:srgbClr val="F7FBFF"/>
                    </a:solidFill>
                  </a:tcPr>
                </a:tc>
                <a:tc>
                  <a:txBody>
                    <a:bodyPr/>
                    <a:lstStyle/>
                    <a:p>
                      <a:pPr algn="l"/>
                      <a:r>
                        <a:rPr sz="975" b="0" i="0" u="none">
                          <a:solidFill>
                            <a:srgbClr val="334155"/>
                          </a:solidFill>
                          <a:latin typeface="Inter"/>
                        </a:rPr>
                        <a:t>PKR 13,476 × 12 months (Slide 11)</a:t>
                      </a:r>
                    </a:p>
                  </a:txBody>
                  <a:tcPr marL="63500" marR="63500" marT="25400" marB="25400" anchor="ctr">
                    <a:lnL>
                      <a:noFill/>
                    </a:lnL>
                    <a:lnR>
                      <a:noFill/>
                    </a:lnR>
                    <a:lnT>
                      <a:noFill/>
                    </a:lnT>
                    <a:lnB>
                      <a:noFill/>
                    </a:lnB>
                    <a:solidFill>
                      <a:srgbClr val="F7FBFF"/>
                    </a:solidFill>
                  </a:tcPr>
                </a:tc>
              </a:tr>
              <a:tr h="323850">
                <a:tc>
                  <a:txBody>
                    <a:bodyPr/>
                    <a:lstStyle/>
                    <a:p>
                      <a:pPr algn="l"/>
                      <a:r>
                        <a:rPr sz="975" b="1" i="0" u="none">
                          <a:solidFill>
                            <a:srgbClr val="334155"/>
                          </a:solidFill>
                          <a:latin typeface="Inter"/>
                        </a:rPr>
                        <a:t>Founder Living Stipends</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1,200,000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PKR 50,000 × 2 founders × 12 months ⚠</a:t>
                      </a:r>
                    </a:p>
                  </a:txBody>
                  <a:tcPr marL="63500" marR="63500" marT="25400" marB="25400" anchor="ctr">
                    <a:lnL>
                      <a:noFill/>
                    </a:lnL>
                    <a:lnR>
                      <a:noFill/>
                    </a:lnR>
                    <a:lnT>
                      <a:noFill/>
                    </a:lnT>
                    <a:lnB>
                      <a:noFill/>
                    </a:lnB>
                    <a:solidFill>
                      <a:srgbClr val="F8FAFC"/>
                    </a:solidFill>
                  </a:tcPr>
                </a:tc>
              </a:tr>
              <a:tr h="323850">
                <a:tc>
                  <a:txBody>
                    <a:bodyPr/>
                    <a:lstStyle/>
                    <a:p>
                      <a:pPr algn="l"/>
                      <a:r>
                        <a:rPr sz="975" b="1" i="0" u="none">
                          <a:solidFill>
                            <a:srgbClr val="334155"/>
                          </a:solidFill>
                          <a:latin typeface="Inter"/>
                        </a:rPr>
                        <a:t>Marketing &amp; Events</a:t>
                      </a:r>
                    </a:p>
                  </a:txBody>
                  <a:tcPr marL="63500" marR="63500" marT="25400" marB="25400" anchor="ctr">
                    <a:lnL>
                      <a:noFill/>
                    </a:lnL>
                    <a:lnR>
                      <a:noFill/>
                    </a:lnR>
                    <a:lnT>
                      <a:noFill/>
                    </a:lnT>
                    <a:lnB>
                      <a:noFill/>
                    </a:lnB>
                    <a:solidFill>
                      <a:srgbClr val="F7FBFF"/>
                    </a:solidFill>
                  </a:tcPr>
                </a:tc>
                <a:tc>
                  <a:txBody>
                    <a:bodyPr/>
                    <a:lstStyle/>
                    <a:p>
                      <a:pPr algn="l"/>
                      <a:r>
                        <a:rPr sz="975" b="0" i="0" u="none">
                          <a:solidFill>
                            <a:srgbClr val="334155"/>
                          </a:solidFill>
                          <a:latin typeface="Inter"/>
                        </a:rPr>
                        <a:t>240,000</a:t>
                      </a:r>
                    </a:p>
                  </a:txBody>
                  <a:tcPr marL="63500" marR="63500" marT="25400" marB="25400" anchor="ctr">
                    <a:lnL>
                      <a:noFill/>
                    </a:lnL>
                    <a:lnR>
                      <a:noFill/>
                    </a:lnR>
                    <a:lnT>
                      <a:noFill/>
                    </a:lnT>
                    <a:lnB>
                      <a:noFill/>
                    </a:lnB>
                    <a:solidFill>
                      <a:srgbClr val="F7FBFF"/>
                    </a:solidFill>
                  </a:tcPr>
                </a:tc>
                <a:tc>
                  <a:txBody>
                    <a:bodyPr/>
                    <a:lstStyle/>
                    <a:p>
                      <a:pPr algn="l"/>
                      <a:r>
                        <a:rPr sz="975" b="0" i="0" u="none">
                          <a:solidFill>
                            <a:srgbClr val="334155"/>
                          </a:solidFill>
                          <a:latin typeface="Inter"/>
                        </a:rPr>
                        <a:t>PKR 20,000 × 12 months ⚠</a:t>
                      </a:r>
                    </a:p>
                  </a:txBody>
                  <a:tcPr marL="63500" marR="63500" marT="25400" marB="25400" anchor="ctr">
                    <a:lnL>
                      <a:noFill/>
                    </a:lnL>
                    <a:lnR>
                      <a:noFill/>
                    </a:lnR>
                    <a:lnT>
                      <a:noFill/>
                    </a:lnT>
                    <a:lnB>
                      <a:noFill/>
                    </a:lnB>
                    <a:solidFill>
                      <a:srgbClr val="F7FBFF"/>
                    </a:solidFill>
                  </a:tcPr>
                </a:tc>
              </a:tr>
              <a:tr h="323850">
                <a:tc>
                  <a:txBody>
                    <a:bodyPr/>
                    <a:lstStyle/>
                    <a:p>
                      <a:pPr algn="l"/>
                      <a:r>
                        <a:rPr sz="975" b="1" i="0" u="none">
                          <a:solidFill>
                            <a:srgbClr val="334155"/>
                          </a:solidFill>
                          <a:latin typeface="Inter"/>
                        </a:rPr>
                        <a:t>Startup One-Time Expenses</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278,400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334155"/>
                          </a:solidFill>
                          <a:latin typeface="Inter"/>
                        </a:rPr>
                        <a:t>Registration, audits &amp; legal (Slide 12)</a:t>
                      </a:r>
                    </a:p>
                  </a:txBody>
                  <a:tcPr marL="63500" marR="63500" marT="25400" marB="25400" anchor="ctr">
                    <a:lnL>
                      <a:noFill/>
                    </a:lnL>
                    <a:lnR>
                      <a:noFill/>
                    </a:lnR>
                    <a:lnT>
                      <a:noFill/>
                    </a:lnT>
                    <a:lnB>
                      <a:noFill/>
                    </a:lnB>
                    <a:solidFill>
                      <a:srgbClr val="F8FAFC"/>
                    </a:solidFill>
                  </a:tcPr>
                </a:tc>
              </a:tr>
              <a:tr h="323850">
                <a:tc>
                  <a:txBody>
                    <a:bodyPr/>
                    <a:lstStyle/>
                    <a:p>
                      <a:pPr algn="l"/>
                      <a:r>
                        <a:rPr sz="975" b="1" i="0" u="none">
                          <a:solidFill>
                            <a:srgbClr val="334155"/>
                          </a:solidFill>
                          <a:latin typeface="Inter"/>
                        </a:rPr>
                        <a:t>Safety Buffer (15%)</a:t>
                      </a:r>
                    </a:p>
                  </a:txBody>
                  <a:tcPr marL="63500" marR="63500" marT="25400" marB="25400" anchor="ctr">
                    <a:lnL>
                      <a:noFill/>
                    </a:lnL>
                    <a:lnR>
                      <a:noFill/>
                    </a:lnR>
                    <a:lnT>
                      <a:noFill/>
                    </a:lnT>
                    <a:lnB>
                      <a:noFill/>
                    </a:lnB>
                    <a:solidFill>
                      <a:srgbClr val="F7FBFF"/>
                    </a:solidFill>
                  </a:tcPr>
                </a:tc>
                <a:tc>
                  <a:txBody>
                    <a:bodyPr/>
                    <a:lstStyle/>
                    <a:p>
                      <a:pPr algn="l"/>
                      <a:r>
                        <a:rPr sz="975" b="0" i="0" u="none">
                          <a:solidFill>
                            <a:srgbClr val="334155"/>
                          </a:solidFill>
                          <a:latin typeface="Inter"/>
                        </a:rPr>
                        <a:t>282,015</a:t>
                      </a:r>
                    </a:p>
                  </a:txBody>
                  <a:tcPr marL="63500" marR="63500" marT="25400" marB="25400" anchor="ctr">
                    <a:lnL>
                      <a:noFill/>
                    </a:lnL>
                    <a:lnR>
                      <a:noFill/>
                    </a:lnR>
                    <a:lnT>
                      <a:noFill/>
                    </a:lnT>
                    <a:lnB>
                      <a:noFill/>
                    </a:lnB>
                    <a:solidFill>
                      <a:srgbClr val="F7FBFF"/>
                    </a:solidFill>
                  </a:tcPr>
                </a:tc>
                <a:tc>
                  <a:txBody>
                    <a:bodyPr/>
                    <a:lstStyle/>
                    <a:p>
                      <a:pPr algn="l"/>
                      <a:r>
                        <a:rPr sz="975" b="0" i="0" u="none">
                          <a:solidFill>
                            <a:srgbClr val="334155"/>
                          </a:solidFill>
                          <a:latin typeface="Inter"/>
                        </a:rPr>
                        <a:t>15% contingency on PKR 1,880,100</a:t>
                      </a:r>
                    </a:p>
                  </a:txBody>
                  <a:tcPr marL="63500" marR="63500" marT="25400" marB="25400" anchor="ctr">
                    <a:lnL>
                      <a:noFill/>
                    </a:lnL>
                    <a:lnR>
                      <a:noFill/>
                    </a:lnR>
                    <a:lnT>
                      <a:noFill/>
                    </a:lnT>
                    <a:lnB>
                      <a:noFill/>
                    </a:lnB>
                    <a:solidFill>
                      <a:srgbClr val="F7FBFF"/>
                    </a:solidFill>
                  </a:tcPr>
                </a:tc>
              </a:tr>
              <a:tr h="323850">
                <a:tc>
                  <a:txBody>
                    <a:bodyPr/>
                    <a:lstStyle/>
                    <a:p>
                      <a:pPr algn="l"/>
                      <a:r>
                        <a:rPr sz="975" b="1" i="0" u="none">
                          <a:solidFill>
                            <a:srgbClr val="0F172A"/>
                          </a:solidFill>
                          <a:latin typeface="Inter"/>
                        </a:rPr>
                        <a:t>Total Capital Requested</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0F172A"/>
                          </a:solidFill>
                          <a:latin typeface="Inter"/>
                        </a:rPr>
                        <a:t>2,162,115</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0F172A"/>
                          </a:solidFill>
                          <a:latin typeface="Inter"/>
                        </a:rPr>
                        <a:t>Rounded up to PKR 2.2M</a:t>
                      </a:r>
                    </a:p>
                  </a:txBody>
                  <a:tcPr marL="63500" marR="63500" marT="25400" marB="25400" anchor="ctr">
                    <a:lnL>
                      <a:noFill/>
                    </a:lnL>
                    <a:lnR>
                      <a:noFill/>
                    </a:lnR>
                    <a:lnT>
                      <a:noFill/>
                    </a:lnT>
                    <a:lnB>
                      <a:noFill/>
                    </a:lnB>
                    <a:solidFill>
                      <a:srgbClr val="F8FAFC"/>
                    </a:solidFill>
                  </a:tcPr>
                </a:tc>
              </a:tr>
            </a:tbl>
          </a:graphicData>
        </a:graphic>
      </p:graphicFrame>
      <p:sp>
        <p:nvSpPr>
          <p:cNvPr id="29" name="TextBox 28"/>
          <p:cNvSpPr txBox="1"/>
          <p:nvPr/>
        </p:nvSpPr>
        <p:spPr>
          <a:xfrm>
            <a:off x="457200" y="6331297"/>
            <a:ext cx="11734800" cy="145702"/>
          </a:xfrm>
          <a:prstGeom prst="rect">
            <a:avLst/>
          </a:prstGeom>
          <a:noFill/>
        </p:spPr>
        <p:txBody>
          <a:bodyPr wrap="none" lIns="0" tIns="0" rIns="0" bIns="0" anchor="t">
            <a:spAutoFit/>
          </a:bodyPr>
          <a:lstStyle/>
          <a:p>
            <a:pPr algn="l">
              <a:lnSpc>
                <a:spcPts val="1072"/>
              </a:lnSpc>
            </a:pPr>
            <a:r>
              <a:rPr sz="825" b="1" i="0" u="none">
                <a:solidFill>
                  <a:srgbClr val="64748B"/>
                </a:solidFill>
                <a:latin typeface="Inter"/>
              </a:rPr>
              <a:t>Sources:</a:t>
            </a:r>
            <a:r>
              <a:rPr sz="825" b="0" i="0" u="none">
                <a:solidFill>
                  <a:srgbClr val="64748B"/>
                </a:solidFill>
                <a:latin typeface="Inter"/>
              </a:rPr>
              <a:t> Aggregated financial requirements derived from Slides 11 &amp; 12 · FX: Mettis (PKR 277/USD)</a:t>
            </a:r>
          </a:p>
        </p:txBody>
      </p:sp>
      <p:sp>
        <p:nvSpPr>
          <p:cNvPr id="30" name="TextBox 29"/>
          <p:cNvSpPr txBox="1"/>
          <p:nvPr/>
        </p:nvSpPr>
        <p:spPr>
          <a:xfrm>
            <a:off x="10934700" y="419100"/>
            <a:ext cx="800100" cy="190500"/>
          </a:xfrm>
          <a:prstGeom prst="rect">
            <a:avLst/>
          </a:prstGeom>
          <a:noFill/>
        </p:spPr>
        <p:txBody>
          <a:bodyPr wrap="square" lIns="0" tIns="0" rIns="0" bIns="0" anchor="t">
            <a:spAutoFit/>
          </a:bodyPr>
          <a:lstStyle/>
          <a:p>
            <a:pPr algn="l"/>
            <a:r>
              <a:rPr sz="1050" b="1" i="0" u="none">
                <a:solidFill>
                  <a:srgbClr val="3B82F6"/>
                </a:solidFill>
                <a:latin typeface="JetBrains Mono"/>
              </a:rPr>
              <a:t>PenflowAI</a:t>
            </a:r>
          </a:p>
        </p:txBody>
      </p:sp>
      <p:sp>
        <p:nvSpPr>
          <p:cNvPr id="31" name="TextBox 30"/>
          <p:cNvSpPr txBox="1"/>
          <p:nvPr/>
        </p:nvSpPr>
        <p:spPr>
          <a:xfrm>
            <a:off x="457200" y="381000"/>
            <a:ext cx="5274468" cy="152400"/>
          </a:xfrm>
          <a:prstGeom prst="rect">
            <a:avLst/>
          </a:prstGeom>
          <a:noFill/>
        </p:spPr>
        <p:txBody>
          <a:bodyPr wrap="none" lIns="0" tIns="0" rIns="0" bIns="0" anchor="t">
            <a:spAutoFit/>
          </a:bodyPr>
          <a:lstStyle/>
          <a:p>
            <a:pPr algn="l"/>
            <a:r>
              <a:rPr sz="975" b="1" i="0" u="none">
                <a:solidFill>
                  <a:srgbClr val="2563EB"/>
                </a:solidFill>
                <a:latin typeface="Inter"/>
              </a:rPr>
              <a:t>CAPITAL REQUIREMENTS</a:t>
            </a:r>
          </a:p>
        </p:txBody>
      </p:sp>
      <p:sp>
        <p:nvSpPr>
          <p:cNvPr id="32" name="TextBox 31"/>
          <p:cNvSpPr txBox="1"/>
          <p:nvPr/>
        </p:nvSpPr>
        <p:spPr>
          <a:xfrm>
            <a:off x="457200" y="571500"/>
            <a:ext cx="5538192" cy="297060"/>
          </a:xfrm>
          <a:prstGeom prst="rect">
            <a:avLst/>
          </a:prstGeom>
          <a:noFill/>
        </p:spPr>
        <p:txBody>
          <a:bodyPr wrap="none" lIns="0" tIns="0" rIns="0" bIns="0" anchor="t">
            <a:spAutoFit/>
          </a:bodyPr>
          <a:lstStyle/>
          <a:p>
            <a:pPr algn="l">
              <a:lnSpc>
                <a:spcPts val="2340"/>
              </a:lnSpc>
            </a:pPr>
            <a:r>
              <a:rPr sz="1950" b="1" i="0" u="none">
                <a:solidFill>
                  <a:srgbClr val="0F172A"/>
                </a:solidFill>
                <a:latin typeface="Inter"/>
              </a:rPr>
              <a:t>The Ask: PKR 2.2 Million (~$7,940)</a:t>
            </a:r>
          </a:p>
        </p:txBody>
      </p:sp>
      <p:sp>
        <p:nvSpPr>
          <p:cNvPr id="33" name="TextBox 32"/>
          <p:cNvSpPr txBox="1"/>
          <p:nvPr/>
        </p:nvSpPr>
        <p:spPr>
          <a:xfrm>
            <a:off x="2201763" y="4254549"/>
            <a:ext cx="7788473" cy="190500"/>
          </a:xfrm>
          <a:prstGeom prst="rect">
            <a:avLst/>
          </a:prstGeom>
          <a:noFill/>
        </p:spPr>
        <p:txBody>
          <a:bodyPr wrap="none" lIns="0" tIns="0" rIns="0" bIns="0" anchor="t">
            <a:spAutoFit/>
          </a:bodyPr>
          <a:lstStyle/>
          <a:p>
            <a:pPr algn="ctr"/>
            <a:r>
              <a:rPr sz="1200" b="1" i="0" u="none">
                <a:solidFill>
                  <a:srgbClr val="60A5FA"/>
                </a:solidFill>
                <a:latin typeface="Inter"/>
              </a:rPr>
              <a:t>Runway Guarantee</a:t>
            </a:r>
          </a:p>
        </p:txBody>
      </p:sp>
      <p:sp>
        <p:nvSpPr>
          <p:cNvPr id="34" name="TextBox 33"/>
          <p:cNvSpPr txBox="1"/>
          <p:nvPr/>
        </p:nvSpPr>
        <p:spPr>
          <a:xfrm>
            <a:off x="2387203" y="4521249"/>
            <a:ext cx="7417593" cy="419100"/>
          </a:xfrm>
          <a:prstGeom prst="rect">
            <a:avLst/>
          </a:prstGeom>
          <a:noFill/>
        </p:spPr>
        <p:txBody>
          <a:bodyPr wrap="none" lIns="0" tIns="0" rIns="0" bIns="0" anchor="t">
            <a:spAutoFit/>
          </a:bodyPr>
          <a:lstStyle/>
          <a:p>
            <a:pPr algn="ctr"/>
            <a:r>
              <a:rPr sz="2700" b="1" i="0" u="none">
                <a:solidFill>
                  <a:srgbClr val="FFFFFF"/>
                </a:solidFill>
                <a:latin typeface="Inter"/>
              </a:rPr>
              <a:t>14 Months</a:t>
            </a:r>
          </a:p>
        </p:txBody>
      </p:sp>
      <p:sp>
        <p:nvSpPr>
          <p:cNvPr id="35" name="TextBox 34"/>
          <p:cNvSpPr txBox="1"/>
          <p:nvPr/>
        </p:nvSpPr>
        <p:spPr>
          <a:xfrm>
            <a:off x="2387203" y="4978449"/>
            <a:ext cx="7417593" cy="152400"/>
          </a:xfrm>
          <a:prstGeom prst="rect">
            <a:avLst/>
          </a:prstGeom>
          <a:noFill/>
        </p:spPr>
        <p:txBody>
          <a:bodyPr wrap="none" lIns="0" tIns="0" rIns="0" bIns="0" anchor="t">
            <a:spAutoFit/>
          </a:bodyPr>
          <a:lstStyle/>
          <a:p>
            <a:pPr algn="ctr"/>
            <a:r>
              <a:rPr sz="975" b="0" i="0" u="none">
                <a:solidFill>
                  <a:srgbClr val="CBD5E1"/>
                </a:solidFill>
                <a:latin typeface="Inter"/>
              </a:rPr>
              <a:t>With zero revenue, this capital lasts ~14 months. Every converted customer extends runway further.</a:t>
            </a:r>
          </a:p>
        </p:txBody>
      </p:sp>
      <p:sp>
        <p:nvSpPr>
          <p:cNvPr id="36" name="TextBox 35"/>
          <p:cNvSpPr txBox="1"/>
          <p:nvPr/>
        </p:nvSpPr>
        <p:spPr>
          <a:xfrm>
            <a:off x="2363390" y="5664249"/>
            <a:ext cx="7465218" cy="152400"/>
          </a:xfrm>
          <a:prstGeom prst="rect">
            <a:avLst/>
          </a:prstGeom>
          <a:noFill/>
        </p:spPr>
        <p:txBody>
          <a:bodyPr wrap="none" lIns="0" tIns="0" rIns="0" bIns="0" anchor="t">
            <a:spAutoFit/>
          </a:bodyPr>
          <a:lstStyle/>
          <a:p>
            <a:pPr algn="ctr"/>
            <a:r>
              <a:rPr sz="975" b="1" i="0" u="none" dirty="0">
                <a:solidFill>
                  <a:srgbClr val="0F172A"/>
                </a:solidFill>
                <a:latin typeface="Inter"/>
              </a:rPr>
              <a:t>Ready for Q&amp;A</a:t>
            </a:r>
          </a:p>
        </p:txBody>
      </p:sp>
      <p:sp>
        <p:nvSpPr>
          <p:cNvPr id="37" name="TextBox 36"/>
          <p:cNvSpPr txBox="1"/>
          <p:nvPr/>
        </p:nvSpPr>
        <p:spPr>
          <a:xfrm>
            <a:off x="2363390" y="5816649"/>
            <a:ext cx="7465218" cy="133350"/>
          </a:xfrm>
          <a:prstGeom prst="rect">
            <a:avLst/>
          </a:prstGeom>
          <a:noFill/>
        </p:spPr>
        <p:txBody>
          <a:bodyPr wrap="none" lIns="0" tIns="0" rIns="0" bIns="0" anchor="t">
            <a:spAutoFit/>
          </a:bodyPr>
          <a:lstStyle/>
          <a:p>
            <a:pPr algn="ctr"/>
            <a:r>
              <a:rPr sz="825" b="0" i="0" u="none">
                <a:solidFill>
                  <a:srgbClr val="64748B"/>
                </a:solidFill>
                <a:latin typeface="Inter"/>
              </a:rPr>
              <a:t>Thank you for your time and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TotalTime>
  <Words>2723</Words>
  <Application>Microsoft Office PowerPoint</Application>
  <PresentationFormat>Widescreen</PresentationFormat>
  <Paragraphs>503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JetBrains Mono</vt:lpstr>
      <vt:lpstr>Arial</vt:lpstr>
      <vt:lpstr>Calibri</vt:lpstr>
      <vt:lpstr>Inter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Muhammad Sannan</dc:creator>
  <cp:keywords/>
  <dc:description>generated using python-pptx</dc:description>
  <cp:lastModifiedBy>Microsoft account</cp:lastModifiedBy>
  <cp:revision>7</cp:revision>
  <dcterms:created xsi:type="dcterms:W3CDTF">2013-01-27T09:14:16Z</dcterms:created>
  <dcterms:modified xsi:type="dcterms:W3CDTF">2026-10-18T16:10:36Z</dcterms:modified>
  <cp:category/>
</cp:coreProperties>
</file>